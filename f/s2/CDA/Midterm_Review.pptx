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67" r:id="rId3"/>
    <p:sldId id="279" r:id="rId4"/>
    <p:sldId id="280" r:id="rId5"/>
    <p:sldId id="281" r:id="rId6"/>
    <p:sldId id="282" r:id="rId7"/>
    <p:sldId id="283" r:id="rId8"/>
    <p:sldId id="284" r:id="rId9"/>
    <p:sldId id="285" r:id="rId10"/>
    <p:sldId id="286" r:id="rId11"/>
    <p:sldId id="287" r:id="rId12"/>
    <p:sldId id="288" r:id="rId13"/>
    <p:sldId id="289" r:id="rId14"/>
    <p:sldId id="29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37" autoAdjust="0"/>
    <p:restoredTop sz="78767"/>
  </p:normalViewPr>
  <p:slideViewPr>
    <p:cSldViewPr snapToGrid="0">
      <p:cViewPr varScale="1">
        <p:scale>
          <a:sx n="99" d="100"/>
          <a:sy n="99" d="100"/>
        </p:scale>
        <p:origin x="1320"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Angell" userId="35821ced-a907-4703-80e5-b71f93c7c3ec" providerId="ADAL" clId="{BF555A91-8CC8-4976-BD6F-A7903E472797}"/>
    <pc:docChg chg="modSld">
      <pc:chgData name="Sarah Angell" userId="35821ced-a907-4703-80e5-b71f93c7c3ec" providerId="ADAL" clId="{BF555A91-8CC8-4976-BD6F-A7903E472797}" dt="2023-10-09T15:37:36.054" v="5" actId="20577"/>
      <pc:docMkLst>
        <pc:docMk/>
      </pc:docMkLst>
      <pc:sldChg chg="modSp mod">
        <pc:chgData name="Sarah Angell" userId="35821ced-a907-4703-80e5-b71f93c7c3ec" providerId="ADAL" clId="{BF555A91-8CC8-4976-BD6F-A7903E472797}" dt="2023-10-09T15:37:36.054" v="5" actId="20577"/>
        <pc:sldMkLst>
          <pc:docMk/>
          <pc:sldMk cId="45430455" sldId="267"/>
        </pc:sldMkLst>
        <pc:spChg chg="mod">
          <ac:chgData name="Sarah Angell" userId="35821ced-a907-4703-80e5-b71f93c7c3ec" providerId="ADAL" clId="{BF555A91-8CC8-4976-BD6F-A7903E472797}" dt="2023-10-09T15:37:36.054" v="5" actId="20577"/>
          <ac:spMkLst>
            <pc:docMk/>
            <pc:sldMk cId="45430455" sldId="267"/>
            <ac:spMk id="3" creationId="{00000000-0000-0000-0000-000000000000}"/>
          </ac:spMkLst>
        </pc:spChg>
      </pc:sldChg>
    </pc:docChg>
  </pc:docChgLst>
  <pc:docChgLst>
    <pc:chgData name="Sarah Angell" userId="35821ced-a907-4703-80e5-b71f93c7c3ec" providerId="ADAL" clId="{F87B429A-8326-4ED3-88E4-C1BA0F04B269}"/>
    <pc:docChg chg="custSel modSld">
      <pc:chgData name="Sarah Angell" userId="35821ced-a907-4703-80e5-b71f93c7c3ec" providerId="ADAL" clId="{F87B429A-8326-4ED3-88E4-C1BA0F04B269}" dt="2021-10-05T18:35:05.015" v="256" actId="20577"/>
      <pc:docMkLst>
        <pc:docMk/>
      </pc:docMkLst>
      <pc:sldChg chg="modSp mod">
        <pc:chgData name="Sarah Angell" userId="35821ced-a907-4703-80e5-b71f93c7c3ec" providerId="ADAL" clId="{F87B429A-8326-4ED3-88E4-C1BA0F04B269}" dt="2021-10-05T18:34:14.125" v="246" actId="5793"/>
        <pc:sldMkLst>
          <pc:docMk/>
          <pc:sldMk cId="45430455" sldId="267"/>
        </pc:sldMkLst>
        <pc:spChg chg="mod">
          <ac:chgData name="Sarah Angell" userId="35821ced-a907-4703-80e5-b71f93c7c3ec" providerId="ADAL" clId="{F87B429A-8326-4ED3-88E4-C1BA0F04B269}" dt="2021-10-05T18:34:14.125" v="246" actId="5793"/>
          <ac:spMkLst>
            <pc:docMk/>
            <pc:sldMk cId="45430455" sldId="267"/>
            <ac:spMk id="3" creationId="{00000000-0000-0000-0000-000000000000}"/>
          </ac:spMkLst>
        </pc:spChg>
      </pc:sldChg>
      <pc:sldChg chg="modSp mod">
        <pc:chgData name="Sarah Angell" userId="35821ced-a907-4703-80e5-b71f93c7c3ec" providerId="ADAL" clId="{F87B429A-8326-4ED3-88E4-C1BA0F04B269}" dt="2021-10-05T18:35:05.015" v="256" actId="20577"/>
        <pc:sldMkLst>
          <pc:docMk/>
          <pc:sldMk cId="2226310096" sldId="275"/>
        </pc:sldMkLst>
        <pc:spChg chg="mod">
          <ac:chgData name="Sarah Angell" userId="35821ced-a907-4703-80e5-b71f93c7c3ec" providerId="ADAL" clId="{F87B429A-8326-4ED3-88E4-C1BA0F04B269}" dt="2021-10-05T18:35:05.015" v="256" actId="20577"/>
          <ac:spMkLst>
            <pc:docMk/>
            <pc:sldMk cId="2226310096" sldId="27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08CD1-4DD9-AE45-B462-0A52996BE242}"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1520F-8905-E34E-8D86-2B65723D3E1E}" type="slidenum">
              <a:rPr lang="en-US" smtClean="0"/>
              <a:t>‹#›</a:t>
            </a:fld>
            <a:endParaRPr lang="en-US"/>
          </a:p>
        </p:txBody>
      </p:sp>
    </p:spTree>
    <p:extLst>
      <p:ext uri="{BB962C8B-B14F-4D97-AF65-F5344CB8AC3E}">
        <p14:creationId xmlns:p14="http://schemas.microsoft.com/office/powerpoint/2010/main" val="842635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Helvetica" pitchFamily="2" charset="0"/>
              </a:rPr>
              <a:t>There will be 9 questions in total. You will just type the right answer in a text box. </a:t>
            </a:r>
            <a:r>
              <a:rPr lang="en-US" b="0" i="0" u="none" strike="noStrike">
                <a:solidFill>
                  <a:srgbClr val="000000"/>
                </a:solidFill>
                <a:effectLst/>
                <a:latin typeface="Helvetica" pitchFamily="2" charset="0"/>
              </a:rPr>
              <a:t>Only 2 questions </a:t>
            </a:r>
            <a:r>
              <a:rPr lang="en-US" b="0" i="0" u="none" strike="noStrike" dirty="0">
                <a:solidFill>
                  <a:srgbClr val="000000"/>
                </a:solidFill>
                <a:effectLst/>
                <a:latin typeface="Helvetica" pitchFamily="2" charset="0"/>
              </a:rPr>
              <a:t>will be multiple </a:t>
            </a:r>
            <a:r>
              <a:rPr lang="en-US" b="0" i="0" u="none" strike="noStrike">
                <a:solidFill>
                  <a:srgbClr val="000000"/>
                </a:solidFill>
                <a:effectLst/>
                <a:latin typeface="Helvetica" pitchFamily="2" charset="0"/>
              </a:rPr>
              <a:t>choice, </a:t>
            </a:r>
            <a:r>
              <a:rPr lang="en-US" b="0" i="0" u="none" strike="noStrike" dirty="0">
                <a:solidFill>
                  <a:srgbClr val="000000"/>
                </a:solidFill>
                <a:effectLst/>
                <a:latin typeface="Helvetica" pitchFamily="2" charset="0"/>
              </a:rPr>
              <a:t>Karnaugh </a:t>
            </a:r>
            <a:r>
              <a:rPr lang="en-US" b="0" i="0" u="none" strike="noStrike">
                <a:solidFill>
                  <a:srgbClr val="000000"/>
                </a:solidFill>
                <a:effectLst/>
                <a:latin typeface="Helvetica" pitchFamily="2" charset="0"/>
              </a:rPr>
              <a:t>map questions.</a:t>
            </a:r>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1</a:t>
            </a:fld>
            <a:endParaRPr lang="en-US"/>
          </a:p>
        </p:txBody>
      </p:sp>
    </p:spTree>
    <p:extLst>
      <p:ext uri="{BB962C8B-B14F-4D97-AF65-F5344CB8AC3E}">
        <p14:creationId xmlns:p14="http://schemas.microsoft.com/office/powerpoint/2010/main" val="426295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2</a:t>
            </a:fld>
            <a:endParaRPr lang="en-US"/>
          </a:p>
        </p:txBody>
      </p:sp>
    </p:spTree>
    <p:extLst>
      <p:ext uri="{BB962C8B-B14F-4D97-AF65-F5344CB8AC3E}">
        <p14:creationId xmlns:p14="http://schemas.microsoft.com/office/powerpoint/2010/main" val="3671921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Place the bits of A into the equation with b as the base. “k” is zero for the least significant bit </a:t>
            </a:r>
            <a:r>
              <a:rPr lang="en-US" dirty="0">
                <a:effectLst/>
                <a:latin typeface="Calibri" panose="020F0502020204030204" pitchFamily="34" charset="0"/>
              </a:rPr>
              <a:t>and increases by 1 until it reaches the most significant bit.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3</a:t>
            </a:fld>
            <a:endParaRPr lang="en-US"/>
          </a:p>
        </p:txBody>
      </p:sp>
    </p:spTree>
    <p:extLst>
      <p:ext uri="{BB962C8B-B14F-4D97-AF65-F5344CB8AC3E}">
        <p14:creationId xmlns:p14="http://schemas.microsoft.com/office/powerpoint/2010/main" val="3358013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4</a:t>
            </a:fld>
            <a:endParaRPr lang="en-US"/>
          </a:p>
        </p:txBody>
      </p:sp>
    </p:spTree>
    <p:extLst>
      <p:ext uri="{BB962C8B-B14F-4D97-AF65-F5344CB8AC3E}">
        <p14:creationId xmlns:p14="http://schemas.microsoft.com/office/powerpoint/2010/main" val="3602149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effectLst/>
                <a:latin typeface="Calibri" panose="020F0502020204030204" pitchFamily="34" charset="0"/>
              </a:rPr>
            </a:br>
            <a:r>
              <a:rPr lang="en-US" dirty="0">
                <a:solidFill>
                  <a:srgbClr val="404040"/>
                </a:solidFill>
                <a:effectLst/>
                <a:latin typeface="Helvetica" pitchFamily="2" charset="0"/>
              </a:rPr>
              <a:t>2’s Complement is the standard representation for signed integers. To convert between positive</a:t>
            </a:r>
            <a:r>
              <a:rPr lang="en-US" dirty="0">
                <a:solidFill>
                  <a:srgbClr val="404040"/>
                </a:solidFill>
                <a:effectLst/>
                <a:latin typeface="Calibri" panose="020F0502020204030204" pitchFamily="34" charset="0"/>
              </a:rPr>
              <a:t> </a:t>
            </a:r>
            <a:r>
              <a:rPr lang="en-US" dirty="0">
                <a:effectLst/>
                <a:latin typeface="Calibri" panose="020F0502020204030204" pitchFamily="34" charset="0"/>
              </a:rPr>
              <a:t>and negative values, we calculate a bitwise inverse and add 1 to the result. The first bit is the sign bit and indicates whether the number is positive or negative. A 1 means the number is negative. A 0 in the most significant position means the number is positive or zero.</a:t>
            </a:r>
          </a:p>
          <a:p>
            <a:br>
              <a:rPr lang="en-US" dirty="0">
                <a:effectLst/>
                <a:latin typeface="Calibri" panose="020F0502020204030204" pitchFamily="34" charset="0"/>
              </a:rPr>
            </a:br>
            <a:r>
              <a:rPr lang="en-US" dirty="0">
                <a:effectLst/>
                <a:latin typeface="Calibri" panose="020F0502020204030204" pitchFamily="34" charset="0"/>
              </a:rPr>
              <a:t>For this question:</a:t>
            </a:r>
          </a:p>
          <a:p>
            <a:br>
              <a:rPr lang="en-US" dirty="0">
                <a:effectLst/>
                <a:latin typeface="Calibri" panose="020F0502020204030204" pitchFamily="34" charset="0"/>
              </a:rPr>
            </a:br>
            <a:endParaRPr lang="en-US" dirty="0">
              <a:effectLst/>
              <a:latin typeface="Calibri" panose="020F0502020204030204" pitchFamily="34" charset="0"/>
            </a:endParaRPr>
          </a:p>
          <a:p>
            <a:r>
              <a:rPr lang="en-US" dirty="0">
                <a:effectLst/>
                <a:latin typeface="Calibri" panose="020F0502020204030204" pitchFamily="34" charset="0"/>
              </a:rPr>
              <a:t>Examine the most significant bit. Since it is 0, this number is positive. Place the bits into the conversion equation with b as the base. “k” is zero for the least significant bit and increases by 1 until it reaches the most significant bit. Since the MSB is 0 there is no need to modify the result. </a:t>
            </a:r>
          </a:p>
          <a:p>
            <a:endParaRPr lang="en-US"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5</a:t>
            </a:fld>
            <a:endParaRPr lang="en-US"/>
          </a:p>
        </p:txBody>
      </p:sp>
    </p:spTree>
    <p:extLst>
      <p:ext uri="{BB962C8B-B14F-4D97-AF65-F5344CB8AC3E}">
        <p14:creationId xmlns:p14="http://schemas.microsoft.com/office/powerpoint/2010/main" val="4076714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Examine the most significant bit. Since it is </a:t>
            </a:r>
            <a:r>
              <a:rPr lang="en-US" dirty="0">
                <a:effectLst/>
                <a:latin typeface="Calibri" panose="020F0502020204030204" pitchFamily="34" charset="0"/>
              </a:rPr>
              <a:t>1, this number is negative. Perform a bitwise inverse and add 1.</a:t>
            </a:r>
          </a:p>
          <a:p>
            <a:endParaRPr lang="en-US" dirty="0">
              <a:effectLst/>
              <a:latin typeface="Calibri" panose="020F0502020204030204" pitchFamily="34" charset="0"/>
            </a:endParaRPr>
          </a:p>
          <a:p>
            <a:r>
              <a:rPr lang="en-US" dirty="0">
                <a:effectLst/>
                <a:latin typeface="Calibri" panose="020F0502020204030204" pitchFamily="34" charset="0"/>
              </a:rPr>
              <a:t>Place the modified bits into the conversion equation with b as the base. “k” is zero for the least significant bit and increases by 1 until it reaches the most significant bit. Since the original MSB was 1, multiply the result by -1.</a:t>
            </a:r>
          </a:p>
          <a:p>
            <a:endParaRPr lang="en-US" dirty="0"/>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6</a:t>
            </a:fld>
            <a:endParaRPr lang="en-US"/>
          </a:p>
        </p:txBody>
      </p:sp>
    </p:spTree>
    <p:extLst>
      <p:ext uri="{BB962C8B-B14F-4D97-AF65-F5344CB8AC3E}">
        <p14:creationId xmlns:p14="http://schemas.microsoft.com/office/powerpoint/2010/main" val="2892847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Convert 49 to binary and expand to 8 bits. Since this number is positive, no modifications are needed.</a:t>
            </a:r>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7</a:t>
            </a:fld>
            <a:endParaRPr lang="en-US"/>
          </a:p>
        </p:txBody>
      </p:sp>
    </p:spTree>
    <p:extLst>
      <p:ext uri="{BB962C8B-B14F-4D97-AF65-F5344CB8AC3E}">
        <p14:creationId xmlns:p14="http://schemas.microsoft.com/office/powerpoint/2010/main" val="2229580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calculate the </a:t>
            </a:r>
            <a:r>
              <a:rPr lang="en-US" dirty="0">
                <a:effectLst/>
                <a:latin typeface="Calibri" panose="020F0502020204030204" pitchFamily="34" charset="0"/>
              </a:rPr>
              <a:t>positive form of -55.</a:t>
            </a:r>
          </a:p>
          <a:p>
            <a:endParaRPr lang="en-US" dirty="0">
              <a:effectLst/>
              <a:latin typeface="Calibri" panose="020F0502020204030204" pitchFamily="34" charset="0"/>
            </a:endParaRPr>
          </a:p>
          <a:p>
            <a:r>
              <a:rPr lang="en-US" dirty="0">
                <a:solidFill>
                  <a:srgbClr val="404040"/>
                </a:solidFill>
                <a:effectLst/>
                <a:latin typeface="Helvetica" pitchFamily="2" charset="0"/>
              </a:rPr>
              <a:t>Second, expand the positive form of </a:t>
            </a:r>
            <a:r>
              <a:rPr lang="en-US" dirty="0">
                <a:effectLst/>
                <a:latin typeface="Calibri" panose="020F0502020204030204" pitchFamily="34" charset="0"/>
              </a:rPr>
              <a:t>-55 to 8 bits.</a:t>
            </a:r>
          </a:p>
          <a:p>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Finally, since the original value is negative, perform a bitwise inverse and add 1.</a:t>
            </a:r>
          </a:p>
          <a:p>
            <a:endParaRPr lang="en-US"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4EF1520F-8905-E34E-8D86-2B65723D3E1E}" type="slidenum">
              <a:rPr lang="en-US" smtClean="0"/>
              <a:t>8</a:t>
            </a:fld>
            <a:endParaRPr lang="en-US"/>
          </a:p>
        </p:txBody>
      </p:sp>
    </p:spTree>
    <p:extLst>
      <p:ext uri="{BB962C8B-B14F-4D97-AF65-F5344CB8AC3E}">
        <p14:creationId xmlns:p14="http://schemas.microsoft.com/office/powerpoint/2010/main" val="116964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Helvetica" pitchFamily="2" charset="0"/>
              </a:rPr>
              <a:t>Review: Binary Subtraction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2’s complement binary numbers are subtracted by adding their negative equivalent. A</a:t>
            </a:r>
            <a:r>
              <a:rPr lang="en-US" dirty="0">
                <a:effectLst/>
                <a:latin typeface="Calibri" panose="020F0502020204030204" pitchFamily="34" charset="0"/>
              </a:rPr>
              <a:t>–B becomes A + -B. No changes are made to A. B must be converted to a negative number: we invert each bit of B and then add 1 to the result.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Calibri" panose="020F0502020204030204" pitchFamily="34" charset="0"/>
              </a:rPr>
              <a:t>Solution:</a:t>
            </a:r>
          </a:p>
          <a:p>
            <a:r>
              <a:rPr lang="en-US" dirty="0"/>
              <a:t>First, </a:t>
            </a:r>
            <a:r>
              <a:rPr lang="en-US" dirty="0">
                <a:effectLst/>
                <a:latin typeface="Calibri" panose="020F0502020204030204" pitchFamily="34" charset="0"/>
              </a:rPr>
              <a:t> Calculate -B in order to calculate A + -B. Perform a bitwise inverse on B and then add 1.</a:t>
            </a:r>
          </a:p>
          <a:p>
            <a:endParaRPr lang="en-US" dirty="0"/>
          </a:p>
          <a:p>
            <a:r>
              <a:rPr lang="en-US" dirty="0">
                <a:effectLst/>
                <a:latin typeface="Calibri" panose="020F0502020204030204" pitchFamily="34" charset="0"/>
              </a:rPr>
              <a:t>Now, add A and –B. Start with the least significant bit.</a:t>
            </a:r>
            <a:br>
              <a:rPr lang="en-US" dirty="0">
                <a:effectLst/>
                <a:latin typeface="Calibri" panose="020F0502020204030204" pitchFamily="34" charset="0"/>
              </a:rPr>
            </a:br>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To check for overflow, compare the carry</a:t>
            </a:r>
            <a:r>
              <a:rPr lang="en-US" dirty="0">
                <a:effectLst/>
                <a:latin typeface="Calibri" panose="020F0502020204030204" pitchFamily="34" charset="0"/>
              </a:rPr>
              <a:t>-in and the carry-out of the most significant bit. Since they are both 1, we determine that no overflow has occurred.</a:t>
            </a:r>
          </a:p>
          <a:p>
            <a:endParaRPr lang="en-US" dirty="0">
              <a:effectLst/>
              <a:latin typeface="Calibri" panose="020F0502020204030204" pitchFamily="34" charset="0"/>
            </a:endParaRPr>
          </a:p>
          <a:p>
            <a:r>
              <a:rPr lang="en-US" dirty="0">
                <a:effectLst/>
                <a:latin typeface="Calibri" panose="020F0502020204030204" pitchFamily="34" charset="0"/>
              </a:rPr>
              <a:t>So, in the exam, there will be 2 text boxes, one for the result of the subtraction, one for overflow which you will type yes or no.</a:t>
            </a:r>
          </a:p>
          <a:p>
            <a:endParaRPr lang="en-US" dirty="0">
              <a:effectLst/>
              <a:latin typeface="Calibri" panose="020F0502020204030204" pitchFamily="34" charset="0"/>
            </a:endParaRPr>
          </a:p>
          <a:p>
            <a:endParaRPr lang="en-US"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9</a:t>
            </a:fld>
            <a:endParaRPr lang="en-US"/>
          </a:p>
        </p:txBody>
      </p:sp>
    </p:spTree>
    <p:extLst>
      <p:ext uri="{BB962C8B-B14F-4D97-AF65-F5344CB8AC3E}">
        <p14:creationId xmlns:p14="http://schemas.microsoft.com/office/powerpoint/2010/main" val="3953841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case, let’s just find the answer. But in the exam will be multiple choice, and you will select the correct answer.</a:t>
            </a:r>
          </a:p>
        </p:txBody>
      </p:sp>
      <p:sp>
        <p:nvSpPr>
          <p:cNvPr id="4" name="Slide Number Placeholder 3"/>
          <p:cNvSpPr>
            <a:spLocks noGrp="1"/>
          </p:cNvSpPr>
          <p:nvPr>
            <p:ph type="sldNum" sz="quarter" idx="5"/>
          </p:nvPr>
        </p:nvSpPr>
        <p:spPr/>
        <p:txBody>
          <a:bodyPr/>
          <a:lstStyle/>
          <a:p>
            <a:fld id="{4EF1520F-8905-E34E-8D86-2B65723D3E1E}" type="slidenum">
              <a:rPr lang="en-US" smtClean="0"/>
              <a:t>10</a:t>
            </a:fld>
            <a:endParaRPr lang="en-US"/>
          </a:p>
        </p:txBody>
      </p:sp>
    </p:spTree>
    <p:extLst>
      <p:ext uri="{BB962C8B-B14F-4D97-AF65-F5344CB8AC3E}">
        <p14:creationId xmlns:p14="http://schemas.microsoft.com/office/powerpoint/2010/main" val="133659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Calibri" panose="020F0502020204030204" pitchFamily="34" charset="0"/>
              </a:rPr>
              <a:t>ALU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Calibri" panose="020F0502020204030204" pitchFamily="34" charset="0"/>
              </a:rPr>
              <a:t>2 binary values (signed)</a:t>
            </a:r>
          </a:p>
          <a:p>
            <a:r>
              <a:rPr lang="en-US" dirty="0">
                <a:effectLst/>
                <a:latin typeface="Calibri" panose="020F0502020204030204" pitchFamily="34" charset="0"/>
              </a:rPr>
              <a:t>Performs arithmetic operations (addition, subtraction)</a:t>
            </a:r>
          </a:p>
          <a:p>
            <a:r>
              <a:rPr lang="en-US" dirty="0">
                <a:effectLst/>
                <a:latin typeface="Calibri" panose="020F0502020204030204" pitchFamily="34" charset="0"/>
              </a:rPr>
              <a:t>Performs logical operations (AND, OR, NOR)</a:t>
            </a:r>
          </a:p>
          <a:p>
            <a:r>
              <a:rPr lang="en-US" dirty="0">
                <a:effectLst/>
                <a:latin typeface="Calibri" panose="020F0502020204030204" pitchFamily="34" charset="0"/>
              </a:rPr>
              <a:t>Performs logical comparisons (Less Than, Equal To)</a:t>
            </a:r>
            <a:br>
              <a:rPr lang="en-US" dirty="0">
                <a:effectLst/>
                <a:latin typeface="Calibri" panose="020F0502020204030204" pitchFamily="34" charset="0"/>
              </a:rPr>
            </a:br>
            <a:endParaRPr lang="en-US" dirty="0">
              <a:effectLst/>
              <a:latin typeface="Calibri" panose="020F0502020204030204" pitchFamily="34" charset="0"/>
            </a:endParaRPr>
          </a:p>
          <a:p>
            <a:pPr>
              <a:buFont typeface="+mj-lt"/>
              <a:buAutoNum type="arabicPeriod"/>
            </a:pPr>
            <a:r>
              <a:rPr lang="en-US" dirty="0">
                <a:effectLst/>
                <a:latin typeface="Calibri" panose="020F0502020204030204" pitchFamily="34" charset="0"/>
              </a:rPr>
              <a:t>The two register inputs are commonly called A and B</a:t>
            </a:r>
          </a:p>
          <a:p>
            <a:pPr>
              <a:buFont typeface="+mj-lt"/>
              <a:buAutoNum type="arabicPeriod"/>
            </a:pPr>
            <a:r>
              <a:rPr lang="en-US" dirty="0">
                <a:effectLst/>
                <a:latin typeface="Calibri" panose="020F0502020204030204" pitchFamily="34" charset="0"/>
              </a:rPr>
              <a:t>A and B must be the same width.</a:t>
            </a:r>
          </a:p>
          <a:p>
            <a:pPr>
              <a:buFont typeface="+mj-lt"/>
              <a:buAutoNum type="arabicPeriod"/>
            </a:pPr>
            <a:r>
              <a:rPr lang="en-US" dirty="0">
                <a:effectLst/>
                <a:latin typeface="Calibri" panose="020F0502020204030204" pitchFamily="34" charset="0"/>
              </a:rPr>
              <a:t>The ALU operation determines which operation’s result will be output</a:t>
            </a:r>
          </a:p>
          <a:p>
            <a:pPr>
              <a:buFont typeface="+mj-lt"/>
              <a:buAutoNum type="arabicPeriod"/>
            </a:pPr>
            <a:r>
              <a:rPr lang="en-US" dirty="0">
                <a:effectLst/>
                <a:latin typeface="Calibri" panose="020F0502020204030204" pitchFamily="34" charset="0"/>
              </a:rPr>
              <a:t>ALU operation is 2-4 bits.</a:t>
            </a:r>
          </a:p>
          <a:p>
            <a:pPr>
              <a:buFont typeface="+mj-lt"/>
              <a:buAutoNum type="arabicPeriod"/>
            </a:pPr>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The ALU has three primary outputs:</a:t>
            </a:r>
            <a:endParaRPr lang="en-US" dirty="0">
              <a:effectLst/>
              <a:latin typeface="Calibri" panose="020F0502020204030204" pitchFamily="34" charset="0"/>
            </a:endParaRPr>
          </a:p>
          <a:p>
            <a:pPr marL="171450" indent="-171450">
              <a:buFont typeface="Arial" panose="020B0604020202020204" pitchFamily="34" charset="0"/>
              <a:buChar char="•"/>
            </a:pPr>
            <a:r>
              <a:rPr lang="en-US" dirty="0">
                <a:effectLst/>
                <a:latin typeface="Calibri" panose="020F0502020204030204" pitchFamily="34" charset="0"/>
              </a:rPr>
              <a:t>The Result must be the same width as A and B. In a 32-bit ALU, Result is 32 bits. In a 16-bit ALU, Result will be 16 bits, etc.</a:t>
            </a:r>
          </a:p>
          <a:p>
            <a:pPr marL="171450" indent="-171450">
              <a:buFont typeface="Arial" panose="020B0604020202020204" pitchFamily="34" charset="0"/>
              <a:buChar char="•"/>
            </a:pPr>
            <a:r>
              <a:rPr lang="en-US" dirty="0">
                <a:effectLst/>
                <a:latin typeface="Calibri" panose="020F0502020204030204" pitchFamily="34" charset="0"/>
              </a:rPr>
              <a:t>Zero is 1-bit. It will be 1, if all of the bits of Result are 0s. It will be 0 if any bit of Result is not 0. Could be used for “Equal to”.</a:t>
            </a:r>
          </a:p>
          <a:p>
            <a:pPr marL="171450" indent="-171450">
              <a:buFont typeface="Arial" panose="020B0604020202020204" pitchFamily="34" charset="0"/>
              <a:buChar char="•"/>
            </a:pPr>
            <a:r>
              <a:rPr lang="en-US" dirty="0">
                <a:effectLst/>
                <a:latin typeface="Calibri" panose="020F0502020204030204" pitchFamily="34" charset="0"/>
              </a:rPr>
              <a:t>Overflow is also a 1-bit signal. It will be 1 if overflow is detected.</a:t>
            </a:r>
          </a:p>
          <a:p>
            <a:pPr marL="0" indent="0">
              <a:buFont typeface="Arial" panose="020B0604020202020204" pitchFamily="34" charset="0"/>
              <a:buNone/>
            </a:pPr>
            <a:r>
              <a:rPr lang="en-US" dirty="0">
                <a:effectLst/>
                <a:latin typeface="Calibri" panose="020F0502020204030204" pitchFamily="34" charset="0"/>
              </a:rPr>
              <a:t>Here is some info about overflow:</a:t>
            </a:r>
          </a:p>
          <a:p>
            <a:pPr algn="l">
              <a:spcBef>
                <a:spcPts val="700"/>
              </a:spcBef>
              <a:buFont typeface="Arial" panose="020B0604020202020204" pitchFamily="34" charset="0"/>
              <a:buChar char="•"/>
            </a:pPr>
            <a:r>
              <a:rPr lang="en-US" b="0" i="0" dirty="0">
                <a:solidFill>
                  <a:srgbClr val="000000"/>
                </a:solidFill>
                <a:effectLst/>
                <a:latin typeface="Times" pitchFamily="2" charset="0"/>
              </a:rPr>
              <a:t>Overflow occurs when the size of the inputs is such that there is a carry which changes the most-significant sign bit.</a:t>
            </a:r>
          </a:p>
          <a:p>
            <a:pPr algn="l">
              <a:spcBef>
                <a:spcPts val="700"/>
              </a:spcBef>
              <a:buFont typeface="Arial" panose="020B0604020202020204" pitchFamily="34" charset="0"/>
              <a:buChar char="•"/>
            </a:pPr>
            <a:r>
              <a:rPr lang="en-US" b="0" i="0" dirty="0">
                <a:solidFill>
                  <a:srgbClr val="000000"/>
                </a:solidFill>
                <a:effectLst/>
                <a:latin typeface="Times" pitchFamily="2" charset="0"/>
              </a:rPr>
              <a:t>The ALU will always output overflow, but makes sense when the operation is add or subtract.</a:t>
            </a:r>
          </a:p>
          <a:p>
            <a:pPr algn="l">
              <a:spcBef>
                <a:spcPts val="700"/>
              </a:spcBef>
              <a:buFont typeface="Arial" panose="020B0604020202020204" pitchFamily="34" charset="0"/>
              <a:buChar char="•"/>
            </a:pPr>
            <a:r>
              <a:rPr lang="en-US" b="0" i="0" dirty="0">
                <a:solidFill>
                  <a:srgbClr val="000000"/>
                </a:solidFill>
                <a:effectLst/>
                <a:latin typeface="Times" pitchFamily="2" charset="0"/>
              </a:rPr>
              <a:t>When we are doing the logical operations (AND and OR), the values on overflow outputs have no meaning.</a:t>
            </a:r>
          </a:p>
          <a:p>
            <a:pPr algn="l">
              <a:spcBef>
                <a:spcPts val="700"/>
              </a:spcBef>
              <a:buFont typeface="Arial" panose="020B0604020202020204" pitchFamily="34" charset="0"/>
              <a:buChar char="•"/>
            </a:pPr>
            <a:r>
              <a:rPr lang="en-US" b="0" i="0" dirty="0">
                <a:solidFill>
                  <a:srgbClr val="000000"/>
                </a:solidFill>
                <a:effectLst/>
                <a:latin typeface="Times" pitchFamily="2" charset="0"/>
              </a:rPr>
              <a:t>As overflow is only </a:t>
            </a:r>
            <a:r>
              <a:rPr lang="en-US" b="0" i="0" dirty="0" err="1">
                <a:solidFill>
                  <a:srgbClr val="000000"/>
                </a:solidFill>
                <a:effectLst/>
                <a:latin typeface="Times" pitchFamily="2" charset="0"/>
              </a:rPr>
              <a:t>Maths</a:t>
            </a:r>
            <a:r>
              <a:rPr lang="en-US" b="0" i="0" dirty="0">
                <a:solidFill>
                  <a:srgbClr val="000000"/>
                </a:solidFill>
                <a:effectLst/>
                <a:latin typeface="Times" pitchFamily="2" charset="0"/>
              </a:rPr>
              <a:t> related, this should be implemented in the ADD/SUBTRACT unit.</a:t>
            </a:r>
          </a:p>
          <a:p>
            <a:pPr algn="l">
              <a:buFont typeface="Arial" panose="020B0604020202020204" pitchFamily="34" charset="0"/>
              <a:buChar char="•"/>
            </a:pPr>
            <a:r>
              <a:rPr lang="en-US" b="0" i="0" dirty="0">
                <a:solidFill>
                  <a:srgbClr val="000000"/>
                </a:solidFill>
                <a:effectLst/>
                <a:latin typeface="Times" pitchFamily="2" charset="0"/>
              </a:rPr>
              <a:t>The logic is as follows: when adding, if the sign of the two inputs is the same, but the result sign is different, then we have an overflow. </a:t>
            </a:r>
          </a:p>
          <a:p>
            <a:pPr marL="0" indent="0">
              <a:buFont typeface="Arial" panose="020B0604020202020204" pitchFamily="34" charset="0"/>
              <a:buNone/>
            </a:pPr>
            <a:endParaRPr lang="en-US" dirty="0">
              <a:effectLst/>
              <a:latin typeface="Calibri" panose="020F0502020204030204" pitchFamily="34" charset="0"/>
            </a:endParaRPr>
          </a:p>
          <a:p>
            <a:r>
              <a:rPr lang="en-US" dirty="0">
                <a:effectLst/>
                <a:latin typeface="Calibri" panose="020F0502020204030204" pitchFamily="34" charset="0"/>
              </a:rPr>
              <a:t>So- for the question here:</a:t>
            </a:r>
          </a:p>
          <a:p>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Since the ALU is shown in isolation, we </a:t>
            </a:r>
            <a:r>
              <a:rPr lang="en-US" dirty="0">
                <a:effectLst/>
                <a:latin typeface="Calibri" panose="020F0502020204030204" pitchFamily="34" charset="0"/>
              </a:rPr>
              <a:t>can give the inputs generic placeholders like A and B, X and Y, or Input 1 and Input 2. The only thing to keep in mind is that our labels should indicate the two inputs are distinct. There are two separate input buses.</a:t>
            </a:r>
          </a:p>
          <a:p>
            <a:br>
              <a:rPr lang="en-US" dirty="0">
                <a:effectLst/>
                <a:latin typeface="Calibri" panose="020F0502020204030204" pitchFamily="34" charset="0"/>
              </a:rPr>
            </a:br>
            <a:r>
              <a:rPr lang="en-US" dirty="0">
                <a:solidFill>
                  <a:srgbClr val="404040"/>
                </a:solidFill>
                <a:effectLst/>
                <a:latin typeface="Helvetica" pitchFamily="2" charset="0"/>
              </a:rPr>
              <a:t>The number of bits used to represent </a:t>
            </a:r>
            <a:r>
              <a:rPr lang="en-US" dirty="0">
                <a:effectLst/>
                <a:latin typeface="Calibri" panose="020F0502020204030204" pitchFamily="34" charset="0"/>
              </a:rPr>
              <a:t>A and B are referred to as the “width” of those buses. The width of the input buses has to match the width of the ALU itself. In this case, we’re told that this is a 32-bit ALU.</a:t>
            </a:r>
          </a:p>
          <a:p>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404040"/>
                </a:solidFill>
                <a:effectLst/>
                <a:latin typeface="Helvetica" pitchFamily="2" charset="0"/>
              </a:rPr>
              <a:t>There are three outputs we want </a:t>
            </a:r>
            <a:r>
              <a:rPr lang="en-US" dirty="0">
                <a:effectLst/>
                <a:latin typeface="Calibri" panose="020F0502020204030204" pitchFamily="34" charset="0"/>
              </a:rPr>
              <a:t>to represent in our ALU diagram. The first is the result. Remember, the ALU will calculate the result of several operations at once, but only one will be sent to the output bus. This result is also the same width as the ALU.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r>
              <a:rPr lang="en-US" dirty="0">
                <a:solidFill>
                  <a:srgbClr val="404040"/>
                </a:solidFill>
                <a:effectLst/>
                <a:latin typeface="Helvetica" pitchFamily="2" charset="0"/>
              </a:rPr>
              <a:t>Our other two outputs are Overflow </a:t>
            </a:r>
            <a:r>
              <a:rPr lang="en-US" dirty="0">
                <a:effectLst/>
                <a:latin typeface="Calibri" panose="020F0502020204030204" pitchFamily="34" charset="0"/>
              </a:rPr>
              <a:t>and Zero. Zero indicates if the result is equal to zero or not. This output only needs 1 bit as it will either be asserted or </a:t>
            </a:r>
            <a:r>
              <a:rPr lang="en-US" dirty="0" err="1">
                <a:effectLst/>
                <a:latin typeface="Calibri" panose="020F0502020204030204" pitchFamily="34" charset="0"/>
              </a:rPr>
              <a:t>deasserted</a:t>
            </a:r>
            <a:r>
              <a:rPr lang="en-US" dirty="0">
                <a:effectLst/>
                <a:latin typeface="Calibri" panose="020F0502020204030204" pitchFamily="34" charset="0"/>
              </a:rPr>
              <a:t>.</a:t>
            </a:r>
          </a:p>
          <a:p>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Calibri" panose="020F0502020204030204" pitchFamily="34" charset="0"/>
              </a:rPr>
              <a:t>Overflow indicates if there was an overflow error in the arithmetic. This output only needs 1 bit as it will either be asserted or </a:t>
            </a:r>
            <a:r>
              <a:rPr lang="en-US" dirty="0" err="1">
                <a:effectLst/>
                <a:latin typeface="Calibri" panose="020F0502020204030204" pitchFamily="34" charset="0"/>
              </a:rPr>
              <a:t>deasserted</a:t>
            </a:r>
            <a:r>
              <a:rPr lang="en-US" dirty="0">
                <a:effectLst/>
                <a:latin typeface="Calibri" panose="020F0502020204030204" pitchFamily="34" charset="0"/>
              </a:rPr>
              <a:t>.</a:t>
            </a:r>
          </a:p>
          <a:p>
            <a:endParaRPr lang="en-US" dirty="0">
              <a:effectLst/>
              <a:latin typeface="Calibri" panose="020F0502020204030204" pitchFamily="34" charset="0"/>
            </a:endParaRPr>
          </a:p>
          <a:p>
            <a:r>
              <a:rPr lang="en-US" dirty="0">
                <a:effectLst/>
                <a:latin typeface="Calibri" panose="020F0502020204030204" pitchFamily="34" charset="0"/>
              </a:rPr>
              <a:t>In the exam, you will have 5 text boxes to place your answers.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Calibri" panose="020F0502020204030204" pitchFamily="34" charset="0"/>
            </a:endParaRPr>
          </a:p>
          <a:p>
            <a:br>
              <a:rPr lang="en-US" dirty="0">
                <a:effectLst/>
                <a:latin typeface="Calibri" panose="020F0502020204030204" pitchFamily="34" charset="0"/>
              </a:rPr>
            </a:br>
            <a:endParaRPr lang="en-US" dirty="0">
              <a:effectLst/>
              <a:latin typeface="Calibri" panose="020F0502020204030204" pitchFamily="34" charset="0"/>
            </a:endParaRPr>
          </a:p>
          <a:p>
            <a:pPr>
              <a:buFont typeface="+mj-lt"/>
              <a:buNone/>
            </a:pPr>
            <a:br>
              <a:rPr lang="en-US" dirty="0">
                <a:effectLst/>
                <a:latin typeface="Calibri" panose="020F0502020204030204" pitchFamily="34" charset="0"/>
              </a:rPr>
            </a:br>
            <a:endParaRPr lang="en-US" dirty="0">
              <a:effectLst/>
              <a:latin typeface="Calibri" panose="020F0502020204030204" pitchFamily="34" charset="0"/>
            </a:endParaRPr>
          </a:p>
          <a:p>
            <a:endParaRPr lang="en-US" dirty="0">
              <a:effectLst/>
              <a:latin typeface="Calibri" panose="020F0502020204030204" pitchFamily="34" charset="0"/>
            </a:endParaRPr>
          </a:p>
          <a:p>
            <a:endParaRPr lang="en-US"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4EF1520F-8905-E34E-8D86-2B65723D3E1E}" type="slidenum">
              <a:rPr lang="en-US" smtClean="0"/>
              <a:t>11</a:t>
            </a:fld>
            <a:endParaRPr lang="en-US"/>
          </a:p>
        </p:txBody>
      </p:sp>
    </p:spTree>
    <p:extLst>
      <p:ext uri="{BB962C8B-B14F-4D97-AF65-F5344CB8AC3E}">
        <p14:creationId xmlns:p14="http://schemas.microsoft.com/office/powerpoint/2010/main" val="4111000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latin typeface="Arial" panose="020B0604020202020204" pitchFamily="34" charset="0"/>
              </a:rPr>
              <a:t>When using Booth's Algorithm:</a:t>
            </a:r>
          </a:p>
          <a:p>
            <a:pPr lvl="1"/>
            <a:r>
              <a:rPr lang="en-US" sz="2000" dirty="0">
                <a:latin typeface="Arial" panose="020B0604020202020204" pitchFamily="34" charset="0"/>
              </a:rPr>
              <a:t>You will need twice as many bits in your </a:t>
            </a:r>
            <a:r>
              <a:rPr lang="en-US" sz="2000" b="1" dirty="0">
                <a:latin typeface="Arial" panose="020B0604020202020204" pitchFamily="34" charset="0"/>
              </a:rPr>
              <a:t>product</a:t>
            </a:r>
            <a:r>
              <a:rPr lang="en-US" sz="2000" dirty="0">
                <a:latin typeface="Arial" panose="020B0604020202020204" pitchFamily="34" charset="0"/>
              </a:rPr>
              <a:t> as you have in your original two </a:t>
            </a:r>
            <a:r>
              <a:rPr lang="en-US" sz="2000" b="1" dirty="0">
                <a:latin typeface="Arial" panose="020B0604020202020204" pitchFamily="34" charset="0"/>
              </a:rPr>
              <a:t>operands</a:t>
            </a:r>
            <a:r>
              <a:rPr lang="en-US" sz="2000" dirty="0">
                <a:latin typeface="Arial" panose="020B0604020202020204" pitchFamily="34" charset="0"/>
              </a:rPr>
              <a:t>.</a:t>
            </a:r>
          </a:p>
          <a:p>
            <a:pPr lvl="1"/>
            <a:r>
              <a:rPr lang="en-US" sz="2000" dirty="0">
                <a:latin typeface="Arial" panose="020B0604020202020204" pitchFamily="34" charset="0"/>
              </a:rPr>
              <a:t>The </a:t>
            </a:r>
            <a:r>
              <a:rPr lang="en-US" sz="2000" b="1" dirty="0">
                <a:latin typeface="Arial" panose="020B0604020202020204" pitchFamily="34" charset="0"/>
              </a:rPr>
              <a:t>leftmost bit</a:t>
            </a:r>
            <a:r>
              <a:rPr lang="en-US" sz="2000" dirty="0">
                <a:latin typeface="Arial" panose="020B0604020202020204" pitchFamily="34" charset="0"/>
              </a:rPr>
              <a:t> of your operands (both your multiplicand and multiplier) is a SIGN bit, and cannot be used as part of the value.</a:t>
            </a:r>
          </a:p>
          <a:p>
            <a:endParaRPr lang="en-US" sz="2400" dirty="0"/>
          </a:p>
          <a:p>
            <a:r>
              <a:rPr lang="en-US" sz="2400" dirty="0"/>
              <a:t>Decide which operand will be the </a:t>
            </a:r>
            <a:r>
              <a:rPr lang="en-US" sz="2400" b="1" dirty="0"/>
              <a:t>multiplier</a:t>
            </a:r>
            <a:r>
              <a:rPr lang="en-US" sz="2400" dirty="0"/>
              <a:t> and which will be the </a:t>
            </a:r>
            <a:r>
              <a:rPr lang="en-US" sz="2400" b="1" dirty="0"/>
              <a:t>multiplicand</a:t>
            </a:r>
          </a:p>
          <a:p>
            <a:r>
              <a:rPr lang="en-US" sz="2400" dirty="0"/>
              <a:t>Convert both operands to </a:t>
            </a:r>
            <a:r>
              <a:rPr lang="en-US" sz="2400" b="1" dirty="0"/>
              <a:t>two's complement</a:t>
            </a:r>
            <a:r>
              <a:rPr lang="en-US" sz="2400" dirty="0"/>
              <a:t> representation using X bits</a:t>
            </a:r>
          </a:p>
          <a:p>
            <a:pPr lvl="1"/>
            <a:r>
              <a:rPr lang="en-US" sz="1900" dirty="0"/>
              <a:t>X must be at least one more bit than is required for the binary representation of the numerically larger operand</a:t>
            </a:r>
          </a:p>
          <a:p>
            <a:r>
              <a:rPr lang="en-US" sz="2400" dirty="0"/>
              <a:t>Begin with a product that consists of the multiplier with an additional X leading zero bits</a:t>
            </a:r>
          </a:p>
          <a:p>
            <a:endParaRPr lang="en-US" sz="2400" dirty="0"/>
          </a:p>
          <a:p>
            <a:r>
              <a:rPr lang="en-US" sz="2800" dirty="0">
                <a:latin typeface="Arial" panose="020B0604020202020204" pitchFamily="34" charset="0"/>
                <a:cs typeface="Courier New" panose="02070309020205020404" pitchFamily="49" charset="0"/>
              </a:rPr>
              <a:t>For our example, let's multiply 2</a:t>
            </a:r>
            <a:r>
              <a:rPr lang="en-US" sz="2800" b="1" dirty="0">
                <a:latin typeface="Arial" panose="020B0604020202020204" pitchFamily="34" charset="0"/>
                <a:cs typeface="Courier New" panose="02070309020205020404" pitchFamily="49" charset="0"/>
              </a:rPr>
              <a:t> x -5</a:t>
            </a:r>
            <a:r>
              <a:rPr lang="en-US" sz="2800" dirty="0">
                <a:latin typeface="Arial" panose="020B0604020202020204" pitchFamily="34" charset="0"/>
                <a:cs typeface="Courier New" panose="02070309020205020404" pitchFamily="49" charset="0"/>
              </a:rPr>
              <a:t> </a:t>
            </a:r>
          </a:p>
          <a:p>
            <a:r>
              <a:rPr lang="en-US" sz="2400" dirty="0">
                <a:latin typeface="Arial" panose="020B0604020202020204" pitchFamily="34" charset="0"/>
                <a:cs typeface="Courier New" panose="02070309020205020404" pitchFamily="49" charset="0"/>
              </a:rPr>
              <a:t>The numerically larger operand (5) would require 3 bits to represent in binary (101).  So we must use AT LEAST 4 bits to represent the operands, to allow for the sign bit</a:t>
            </a:r>
            <a:r>
              <a:rPr lang="en-US" dirty="0">
                <a:latin typeface="Arial" panose="020B0604020202020204" pitchFamily="34" charset="0"/>
                <a:cs typeface="Courier New" panose="02070309020205020404" pitchFamily="49" charset="0"/>
              </a:rPr>
              <a:t>.  </a:t>
            </a:r>
          </a:p>
          <a:p>
            <a:endParaRPr lang="en-US" dirty="0">
              <a:latin typeface="Arial" panose="020B0604020202020204" pitchFamily="34" charset="0"/>
              <a:cs typeface="Courier New" panose="02070309020205020404" pitchFamily="49" charset="0"/>
            </a:endParaRPr>
          </a:p>
          <a:p>
            <a:r>
              <a:rPr lang="en-US" sz="2800" dirty="0"/>
              <a:t>Use the </a:t>
            </a:r>
            <a:r>
              <a:rPr lang="en-US" sz="2800" b="1" dirty="0"/>
              <a:t>LSB</a:t>
            </a:r>
            <a:r>
              <a:rPr lang="en-US" sz="2800" dirty="0"/>
              <a:t> (least significant bit) </a:t>
            </a:r>
            <a:r>
              <a:rPr lang="en-US" sz="2800" dirty="0">
                <a:cs typeface="Times New Roman" panose="02020603050405020304" pitchFamily="18" charset="0"/>
              </a:rPr>
              <a:t>and the </a:t>
            </a:r>
            <a:r>
              <a:rPr lang="en-US" sz="2800" b="1" dirty="0">
                <a:cs typeface="Times New Roman" panose="02020603050405020304" pitchFamily="18" charset="0"/>
              </a:rPr>
              <a:t>previous LSB</a:t>
            </a:r>
            <a:r>
              <a:rPr lang="en-US" sz="2800" dirty="0"/>
              <a:t> to determine the arithmetic action.</a:t>
            </a:r>
          </a:p>
          <a:p>
            <a:pPr lvl="1"/>
            <a:r>
              <a:rPr lang="en-US" sz="2400" dirty="0"/>
              <a:t>If it is the FIRST pass, use </a:t>
            </a:r>
            <a:r>
              <a:rPr lang="en-US" sz="3200" b="1" dirty="0">
                <a:solidFill>
                  <a:srgbClr val="0000FF"/>
                </a:solidFill>
                <a:latin typeface="Courier New" panose="02070309020205020404" pitchFamily="49" charset="0"/>
                <a:cs typeface="Courier New" panose="02070309020205020404" pitchFamily="49" charset="0"/>
              </a:rPr>
              <a:t>0</a:t>
            </a:r>
            <a:r>
              <a:rPr lang="en-US" sz="2400" dirty="0"/>
              <a:t> as the previous LSB.</a:t>
            </a:r>
          </a:p>
          <a:p>
            <a:pPr lvl="1">
              <a:buFont typeface="Wingdings" panose="05000000000000000000" pitchFamily="2" charset="2"/>
              <a:buNone/>
            </a:pPr>
            <a:endParaRPr lang="en-US" dirty="0"/>
          </a:p>
          <a:p>
            <a:r>
              <a:rPr lang="en-US" sz="2800" dirty="0"/>
              <a:t>Possible arithmetic actions:</a:t>
            </a:r>
          </a:p>
          <a:p>
            <a:pPr lvl="1" algn="just"/>
            <a:r>
              <a:rPr lang="en-US" sz="3200" b="1" dirty="0">
                <a:solidFill>
                  <a:srgbClr val="0000FF"/>
                </a:solidFill>
                <a:latin typeface="Courier New" panose="02070309020205020404" pitchFamily="49" charset="0"/>
                <a:cs typeface="Courier New" panose="02070309020205020404" pitchFamily="49" charset="0"/>
              </a:rPr>
              <a:t>00</a:t>
            </a:r>
            <a:r>
              <a:rPr lang="en-US"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sym typeface="Wingdings" panose="05000000000000000000" pitchFamily="2" charset="2"/>
              </a:rPr>
              <a:t></a:t>
            </a:r>
            <a:r>
              <a:rPr lang="en-US" sz="2400" dirty="0">
                <a:latin typeface="Arial" panose="020B0604020202020204" pitchFamily="34" charset="0"/>
                <a:cs typeface="Arial" panose="020B0604020202020204" pitchFamily="34" charset="0"/>
              </a:rPr>
              <a:t>   no arithmetic operation</a:t>
            </a:r>
            <a:endParaRPr lang="en-US" sz="2400" dirty="0">
              <a:cs typeface="Times New Roman" panose="02020603050405020304" pitchFamily="18" charset="0"/>
            </a:endParaRPr>
          </a:p>
          <a:p>
            <a:pPr lvl="1" algn="just"/>
            <a:r>
              <a:rPr lang="en-US" sz="3200" b="1" dirty="0">
                <a:solidFill>
                  <a:srgbClr val="0000FF"/>
                </a:solidFill>
                <a:latin typeface="Courier New" panose="02070309020205020404" pitchFamily="49" charset="0"/>
                <a:cs typeface="Courier New" panose="02070309020205020404" pitchFamily="49" charset="0"/>
              </a:rPr>
              <a:t>01</a:t>
            </a:r>
            <a:r>
              <a:rPr lang="en-US"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sym typeface="Wingdings" panose="05000000000000000000" pitchFamily="2" charset="2"/>
              </a:rPr>
              <a:t></a:t>
            </a:r>
            <a:r>
              <a:rPr lang="en-US" sz="2400" dirty="0">
                <a:latin typeface="Arial" panose="020B0604020202020204" pitchFamily="34" charset="0"/>
                <a:cs typeface="Arial" panose="020B0604020202020204" pitchFamily="34" charset="0"/>
              </a:rPr>
              <a:t>   add multiplicand to left half of product</a:t>
            </a:r>
            <a:endParaRPr lang="en-US" sz="2400" dirty="0">
              <a:cs typeface="Times New Roman" panose="02020603050405020304" pitchFamily="18" charset="0"/>
            </a:endParaRPr>
          </a:p>
          <a:p>
            <a:pPr lvl="1" algn="just"/>
            <a:r>
              <a:rPr lang="en-US" sz="3200" b="1" dirty="0">
                <a:solidFill>
                  <a:srgbClr val="0000FF"/>
                </a:solidFill>
                <a:latin typeface="Courier New" panose="02070309020205020404" pitchFamily="49" charset="0"/>
                <a:cs typeface="Courier New" panose="02070309020205020404" pitchFamily="49" charset="0"/>
              </a:rPr>
              <a:t>10</a:t>
            </a:r>
            <a:r>
              <a:rPr lang="en-US"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sym typeface="Wingdings" panose="05000000000000000000" pitchFamily="2" charset="2"/>
              </a:rPr>
              <a:t></a:t>
            </a:r>
            <a:r>
              <a:rPr lang="en-US" sz="2400" dirty="0">
                <a:latin typeface="Arial" panose="020B0604020202020204" pitchFamily="34" charset="0"/>
                <a:cs typeface="Arial" panose="020B0604020202020204" pitchFamily="34" charset="0"/>
              </a:rPr>
              <a:t>   subtract multiplicand from left half of product</a:t>
            </a:r>
            <a:endParaRPr lang="en-US" sz="2400" dirty="0">
              <a:cs typeface="Times New Roman" panose="02020603050405020304" pitchFamily="18" charset="0"/>
            </a:endParaRPr>
          </a:p>
          <a:p>
            <a:pPr lvl="1" algn="just"/>
            <a:r>
              <a:rPr lang="en-US" sz="3200" b="1" dirty="0">
                <a:solidFill>
                  <a:srgbClr val="0000FF"/>
                </a:solidFill>
                <a:latin typeface="Courier New" panose="02070309020205020404" pitchFamily="49" charset="0"/>
                <a:cs typeface="Courier New" panose="02070309020205020404" pitchFamily="49" charset="0"/>
              </a:rPr>
              <a:t>11</a:t>
            </a:r>
            <a:r>
              <a:rPr lang="en-US"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sym typeface="Wingdings" panose="05000000000000000000" pitchFamily="2" charset="2"/>
              </a:rPr>
              <a:t></a:t>
            </a:r>
            <a:r>
              <a:rPr lang="en-US" sz="2400" dirty="0">
                <a:latin typeface="Arial" panose="020B0604020202020204" pitchFamily="34" charset="0"/>
                <a:cs typeface="Arial" panose="020B0604020202020204" pitchFamily="34" charset="0"/>
              </a:rPr>
              <a:t>   no arithmetic operation</a:t>
            </a:r>
            <a:endParaRPr lang="en-US" sz="2400" dirty="0">
              <a:cs typeface="Times New Roman" panose="02020603050405020304" pitchFamily="18" charset="0"/>
            </a:endParaRPr>
          </a:p>
          <a:p>
            <a:endParaRPr lang="en-US" dirty="0">
              <a:latin typeface="Arial" panose="020B0604020202020204" pitchFamily="34" charset="0"/>
              <a:cs typeface="Courier New" panose="02070309020205020404" pitchFamily="49" charset="0"/>
            </a:endParaRPr>
          </a:p>
          <a:p>
            <a:r>
              <a:rPr lang="en-US" sz="2400" dirty="0"/>
              <a:t>Perform an </a:t>
            </a:r>
            <a:r>
              <a:rPr lang="en-US" sz="2400" b="1" dirty="0"/>
              <a:t>arithmetic right shift</a:t>
            </a:r>
            <a:r>
              <a:rPr lang="en-US" sz="2400" dirty="0"/>
              <a:t> (ASR) on the entire product.</a:t>
            </a:r>
          </a:p>
          <a:p>
            <a:endParaRPr lang="en-US" sz="2800" dirty="0"/>
          </a:p>
          <a:p>
            <a:r>
              <a:rPr lang="en-US" sz="2400" dirty="0"/>
              <a:t>NOTE:  For X-bit operands, Booth's algorithm requires X passes.</a:t>
            </a:r>
          </a:p>
          <a:p>
            <a:endParaRPr lang="en-US" sz="2400" dirty="0"/>
          </a:p>
          <a:p>
            <a:r>
              <a:rPr lang="en-US" sz="2400" dirty="0"/>
              <a:t>Now begin the solution…</a:t>
            </a:r>
          </a:p>
          <a:p>
            <a:endParaRPr lang="en-US" sz="2400" dirty="0"/>
          </a:p>
        </p:txBody>
      </p:sp>
      <p:sp>
        <p:nvSpPr>
          <p:cNvPr id="4" name="Slide Number Placeholder 3"/>
          <p:cNvSpPr>
            <a:spLocks noGrp="1"/>
          </p:cNvSpPr>
          <p:nvPr>
            <p:ph type="sldNum" sz="quarter" idx="5"/>
          </p:nvPr>
        </p:nvSpPr>
        <p:spPr/>
        <p:txBody>
          <a:bodyPr/>
          <a:lstStyle/>
          <a:p>
            <a:fld id="{4EF1520F-8905-E34E-8D86-2B65723D3E1E}" type="slidenum">
              <a:rPr lang="en-US" smtClean="0"/>
              <a:t>12</a:t>
            </a:fld>
            <a:endParaRPr lang="en-US"/>
          </a:p>
        </p:txBody>
      </p:sp>
    </p:spTree>
    <p:extLst>
      <p:ext uri="{BB962C8B-B14F-4D97-AF65-F5344CB8AC3E}">
        <p14:creationId xmlns:p14="http://schemas.microsoft.com/office/powerpoint/2010/main" val="922693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you will type the 0 or 1s for the L output in the boxes.</a:t>
            </a:r>
          </a:p>
          <a:p>
            <a:endParaRPr lang="en-US" dirty="0"/>
          </a:p>
          <a:p>
            <a:endParaRPr lang="en-US" b="0" i="0" dirty="0">
              <a:solidFill>
                <a:srgbClr val="2D3B45"/>
              </a:solidFill>
              <a:effectLst/>
              <a:latin typeface="Lato Extended"/>
            </a:endParaRPr>
          </a:p>
          <a:p>
            <a:endParaRPr lang="en-US" dirty="0"/>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13</a:t>
            </a:fld>
            <a:endParaRPr lang="en-US"/>
          </a:p>
        </p:txBody>
      </p:sp>
    </p:spTree>
    <p:extLst>
      <p:ext uri="{BB962C8B-B14F-4D97-AF65-F5344CB8AC3E}">
        <p14:creationId xmlns:p14="http://schemas.microsoft.com/office/powerpoint/2010/main" val="1568176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D3B45"/>
                </a:solidFill>
                <a:effectLst/>
                <a:latin typeface="Lato Extended"/>
              </a:rPr>
              <a:t>Use a Karnaugh map to reduce. (you will place 0s or 1s inside the cells.)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a:t>
            </a:r>
            <a:r>
              <a:rPr lang="en-US" b="0" i="0" dirty="0">
                <a:solidFill>
                  <a:srgbClr val="2D3B45"/>
                </a:solidFill>
                <a:effectLst/>
                <a:latin typeface="Lato Extended"/>
              </a:rPr>
              <a:t>Identify the </a:t>
            </a:r>
            <a:r>
              <a:rPr lang="en-US" b="0" i="0" dirty="0" err="1">
                <a:solidFill>
                  <a:srgbClr val="2D3B45"/>
                </a:solidFill>
                <a:effectLst/>
                <a:latin typeface="Lato Extended"/>
              </a:rPr>
              <a:t>minterm</a:t>
            </a:r>
            <a:r>
              <a:rPr lang="en-US" b="0" i="0" dirty="0">
                <a:solidFill>
                  <a:srgbClr val="2D3B45"/>
                </a:solidFill>
                <a:effectLst/>
                <a:latin typeface="Lato Extended"/>
              </a:rPr>
              <a:t> expansion for L. (multiple choice, you will select the correct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D3B45"/>
              </a:solidFill>
              <a:effectLst/>
              <a:latin typeface="Lato Extend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D3B45"/>
                </a:solidFill>
                <a:effectLst/>
                <a:latin typeface="Lato Extended"/>
              </a:rPr>
              <a:t>Draw the gate diagram. (multiple choice, you will select the correct one.)</a:t>
            </a:r>
          </a:p>
          <a:p>
            <a:endParaRPr lang="en-US" dirty="0"/>
          </a:p>
        </p:txBody>
      </p:sp>
      <p:sp>
        <p:nvSpPr>
          <p:cNvPr id="4" name="Slide Number Placeholder 3"/>
          <p:cNvSpPr>
            <a:spLocks noGrp="1"/>
          </p:cNvSpPr>
          <p:nvPr>
            <p:ph type="sldNum" sz="quarter" idx="5"/>
          </p:nvPr>
        </p:nvSpPr>
        <p:spPr/>
        <p:txBody>
          <a:bodyPr/>
          <a:lstStyle/>
          <a:p>
            <a:fld id="{4EF1520F-8905-E34E-8D86-2B65723D3E1E}" type="slidenum">
              <a:rPr lang="en-US" smtClean="0"/>
              <a:t>14</a:t>
            </a:fld>
            <a:endParaRPr lang="en-US"/>
          </a:p>
        </p:txBody>
      </p:sp>
    </p:spTree>
    <p:extLst>
      <p:ext uri="{BB962C8B-B14F-4D97-AF65-F5344CB8AC3E}">
        <p14:creationId xmlns:p14="http://schemas.microsoft.com/office/powerpoint/2010/main" val="201010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55B63E-A6A8-4BE5-847E-7E221DE1216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DADA0-E9F1-42BA-A746-6A828666AA76}" type="slidenum">
              <a:rPr lang="en-US" smtClean="0"/>
              <a:pPr/>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7409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55B63E-A6A8-4BE5-847E-7E221DE1216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3477118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5B63E-A6A8-4BE5-847E-7E221DE1216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DADA0-E9F1-42BA-A746-6A828666AA76}" type="slidenum">
              <a:rPr lang="en-US" smtClean="0"/>
              <a:pPr/>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4343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55B63E-A6A8-4BE5-847E-7E221DE12168}"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4103789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55B63E-A6A8-4BE5-847E-7E221DE12168}"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DDADA0-E9F1-42BA-A746-6A828666AA76}" type="slidenum">
              <a:rPr lang="en-US" smtClean="0"/>
              <a:pPr/>
              <a:t>‹#›</a:t>
            </a:fld>
            <a:endParaRPr lang="en-US"/>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2856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55B63E-A6A8-4BE5-847E-7E221DE12168}"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146802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55B63E-A6A8-4BE5-847E-7E221DE12168}"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2802088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55B63E-A6A8-4BE5-847E-7E221DE12168}"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DDADA0-E9F1-42BA-A746-6A828666AA76}" type="slidenum">
              <a:rPr lang="en-US" smtClean="0"/>
              <a:pPr/>
              <a:t>‹#›</a:t>
            </a:fld>
            <a:endParaRPr lang="en-US"/>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897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55B63E-A6A8-4BE5-847E-7E221DE12168}"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593051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55B63E-A6A8-4BE5-847E-7E221DE1216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157584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5B63E-A6A8-4BE5-847E-7E221DE1216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DADA0-E9F1-42BA-A746-6A828666AA76}" type="slidenum">
              <a:rPr lang="en-US" smtClean="0"/>
              <a:pPr/>
              <a:t>‹#›</a:t>
            </a:fld>
            <a:endParaRPr lang="en-US"/>
          </a:p>
        </p:txBody>
      </p:sp>
    </p:spTree>
    <p:extLst>
      <p:ext uri="{BB962C8B-B14F-4D97-AF65-F5344CB8AC3E}">
        <p14:creationId xmlns:p14="http://schemas.microsoft.com/office/powerpoint/2010/main" val="237003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AC55B63E-A6A8-4BE5-847E-7E221DE12168}" type="datetimeFigureOut">
              <a:rPr lang="en-US" smtClean="0"/>
              <a:pPr/>
              <a:t>3/2/26</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ACDDADA0-E9F1-42BA-A746-6A828666AA76}" type="slidenum">
              <a:rPr lang="en-US" smtClean="0"/>
              <a:pPr/>
              <a:t>‹#›</a:t>
            </a:fld>
            <a:endParaRPr lang="en-US"/>
          </a:p>
        </p:txBody>
      </p:sp>
    </p:spTree>
    <p:extLst>
      <p:ext uri="{BB962C8B-B14F-4D97-AF65-F5344CB8AC3E}">
        <p14:creationId xmlns:p14="http://schemas.microsoft.com/office/powerpoint/2010/main" val="2525818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Midterm Review</a:t>
            </a:r>
          </a:p>
        </p:txBody>
      </p:sp>
      <p:sp>
        <p:nvSpPr>
          <p:cNvPr id="3" name="Subtitle 2"/>
          <p:cNvSpPr>
            <a:spLocks noGrp="1"/>
          </p:cNvSpPr>
          <p:nvPr>
            <p:ph type="subTitle" idx="1"/>
          </p:nvPr>
        </p:nvSpPr>
        <p:spPr/>
        <p:txBody>
          <a:bodyPr/>
          <a:lstStyle/>
          <a:p>
            <a:r>
              <a:rPr lang="en-US" dirty="0"/>
              <a:t>Binary Conversions, Combinational Logic Design, Arithmetic Hardware, Binary Arithmetic</a:t>
            </a:r>
          </a:p>
        </p:txBody>
      </p:sp>
    </p:spTree>
    <p:extLst>
      <p:ext uri="{BB962C8B-B14F-4D97-AF65-F5344CB8AC3E}">
        <p14:creationId xmlns:p14="http://schemas.microsoft.com/office/powerpoint/2010/main" val="286361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Notes</a:t>
            </a:r>
          </a:p>
        </p:txBody>
      </p:sp>
      <p:sp>
        <p:nvSpPr>
          <p:cNvPr id="3" name="Content Placeholder 2"/>
          <p:cNvSpPr>
            <a:spLocks noGrp="1"/>
          </p:cNvSpPr>
          <p:nvPr>
            <p:ph idx="1"/>
          </p:nvPr>
        </p:nvSpPr>
        <p:spPr>
          <a:xfrm>
            <a:off x="609600" y="1600199"/>
            <a:ext cx="10972800" cy="5113421"/>
          </a:xfrm>
        </p:spPr>
        <p:txBody>
          <a:bodyPr>
            <a:normAutofit/>
          </a:bodyPr>
          <a:lstStyle/>
          <a:p>
            <a:r>
              <a:rPr lang="en-US" b="0" i="0" dirty="0">
                <a:solidFill>
                  <a:srgbClr val="2D3B45"/>
                </a:solidFill>
                <a:effectLst/>
                <a:latin typeface="Lato Extended"/>
              </a:rPr>
              <a:t>This exam requires the </a:t>
            </a:r>
            <a:r>
              <a:rPr lang="en-US" b="0" i="0" dirty="0" err="1">
                <a:solidFill>
                  <a:srgbClr val="2D3B45"/>
                </a:solidFill>
                <a:effectLst/>
                <a:latin typeface="Lato Extended"/>
              </a:rPr>
              <a:t>Respondus</a:t>
            </a:r>
            <a:r>
              <a:rPr lang="en-US" b="0" i="0" dirty="0">
                <a:solidFill>
                  <a:srgbClr val="2D3B45"/>
                </a:solidFill>
                <a:effectLst/>
                <a:latin typeface="Lato Extended"/>
              </a:rPr>
              <a:t> </a:t>
            </a:r>
            <a:r>
              <a:rPr lang="en-US" b="0" i="0" dirty="0" err="1">
                <a:solidFill>
                  <a:srgbClr val="2D3B45"/>
                </a:solidFill>
                <a:effectLst/>
                <a:latin typeface="Lato Extended"/>
              </a:rPr>
              <a:t>LockDown</a:t>
            </a:r>
            <a:r>
              <a:rPr lang="en-US" b="0" i="0" dirty="0">
                <a:solidFill>
                  <a:srgbClr val="2D3B45"/>
                </a:solidFill>
                <a:effectLst/>
                <a:latin typeface="Lato Extended"/>
              </a:rPr>
              <a:t> Browser. </a:t>
            </a:r>
            <a:r>
              <a:rPr lang="en-US" b="0" i="0">
                <a:solidFill>
                  <a:srgbClr val="2D3B45"/>
                </a:solidFill>
                <a:effectLst/>
                <a:latin typeface="Lato Extended"/>
              </a:rPr>
              <a:t>Your Camera </a:t>
            </a:r>
            <a:r>
              <a:rPr lang="en-US" b="0" i="0" dirty="0">
                <a:solidFill>
                  <a:srgbClr val="2D3B45"/>
                </a:solidFill>
                <a:effectLst/>
                <a:latin typeface="Lato Extended"/>
              </a:rPr>
              <a:t>on.</a:t>
            </a:r>
          </a:p>
          <a:p>
            <a:endParaRPr lang="en-US" dirty="0"/>
          </a:p>
          <a:p>
            <a:r>
              <a:rPr lang="en-US" dirty="0"/>
              <a:t>9 questions</a:t>
            </a:r>
          </a:p>
          <a:p>
            <a:endParaRPr lang="en-US" dirty="0"/>
          </a:p>
          <a:p>
            <a:r>
              <a:rPr lang="en-US" dirty="0"/>
              <a:t>No open notes.</a:t>
            </a:r>
          </a:p>
          <a:p>
            <a:endParaRPr lang="en-US" dirty="0"/>
          </a:p>
          <a:p>
            <a:r>
              <a:rPr lang="en-US" b="0" i="0" dirty="0">
                <a:effectLst/>
                <a:latin typeface="Arial" panose="020B0604020202020204" pitchFamily="34" charset="0"/>
              </a:rPr>
              <a:t>Materials to use</a:t>
            </a:r>
          </a:p>
          <a:p>
            <a:pPr lvl="1"/>
            <a:r>
              <a:rPr lang="en-US" b="0" i="0" dirty="0">
                <a:effectLst/>
                <a:latin typeface="Arial" panose="020B0604020202020204" pitchFamily="34" charset="0"/>
              </a:rPr>
              <a:t>Pen/Pencil</a:t>
            </a:r>
          </a:p>
          <a:p>
            <a:pPr lvl="1"/>
            <a:r>
              <a:rPr lang="en-US" b="0" i="0" dirty="0">
                <a:effectLst/>
                <a:latin typeface="Arial" panose="020B0604020202020204" pitchFamily="34" charset="0"/>
              </a:rPr>
              <a:t>A non-graphing calculator</a:t>
            </a:r>
          </a:p>
          <a:p>
            <a:pPr lvl="1"/>
            <a:r>
              <a:rPr lang="en-US" b="0" i="0" dirty="0">
                <a:effectLst/>
                <a:latin typeface="Arial" panose="020B0604020202020204" pitchFamily="34" charset="0"/>
              </a:rPr>
              <a:t>Scratch paper</a:t>
            </a:r>
            <a:endParaRPr lang="en-US" dirty="0"/>
          </a:p>
        </p:txBody>
      </p:sp>
    </p:spTree>
    <p:extLst>
      <p:ext uri="{BB962C8B-B14F-4D97-AF65-F5344CB8AC3E}">
        <p14:creationId xmlns:p14="http://schemas.microsoft.com/office/powerpoint/2010/main" val="4543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389F2-950E-6BA4-BE39-D4AA8375AB09}"/>
              </a:ext>
            </a:extLst>
          </p:cNvPr>
          <p:cNvSpPr>
            <a:spLocks noGrp="1"/>
          </p:cNvSpPr>
          <p:nvPr>
            <p:ph type="title"/>
          </p:nvPr>
        </p:nvSpPr>
        <p:spPr/>
        <p:txBody>
          <a:bodyPr/>
          <a:lstStyle/>
          <a:p>
            <a:r>
              <a:rPr lang="en-US" dirty="0"/>
              <a:t>Sample Question.1</a:t>
            </a:r>
          </a:p>
        </p:txBody>
      </p:sp>
      <p:sp>
        <p:nvSpPr>
          <p:cNvPr id="3" name="Content Placeholder 2">
            <a:extLst>
              <a:ext uri="{FF2B5EF4-FFF2-40B4-BE49-F238E27FC236}">
                <a16:creationId xmlns:a16="http://schemas.microsoft.com/office/drawing/2014/main" id="{1061CA9C-9472-386C-C67D-3C8A9AEA7F1E}"/>
              </a:ext>
            </a:extLst>
          </p:cNvPr>
          <p:cNvSpPr>
            <a:spLocks noGrp="1"/>
          </p:cNvSpPr>
          <p:nvPr>
            <p:ph idx="1"/>
          </p:nvPr>
        </p:nvSpPr>
        <p:spPr/>
        <p:txBody>
          <a:bodyPr/>
          <a:lstStyle/>
          <a:p>
            <a:r>
              <a:rPr lang="en-US" dirty="0">
                <a:solidFill>
                  <a:srgbClr val="404040"/>
                </a:solidFill>
                <a:effectLst/>
                <a:latin typeface="Helvetica" pitchFamily="2" charset="0"/>
              </a:rPr>
              <a:t>Let A = (1100 1111)</a:t>
            </a:r>
            <a:r>
              <a:rPr lang="en-US" baseline="-25000" dirty="0">
                <a:solidFill>
                  <a:srgbClr val="404040"/>
                </a:solidFill>
                <a:effectLst/>
                <a:latin typeface="Helvetica" pitchFamily="2" charset="0"/>
              </a:rPr>
              <a:t>2</a:t>
            </a:r>
            <a:r>
              <a:rPr lang="en-US" dirty="0">
                <a:solidFill>
                  <a:srgbClr val="404040"/>
                </a:solidFill>
                <a:effectLst/>
                <a:latin typeface="Helvetica" pitchFamily="2" charset="0"/>
              </a:rPr>
              <a:t>. What decimal value does this represent if A is unsigned?</a:t>
            </a:r>
          </a:p>
          <a:p>
            <a:endParaRPr lang="en-US" dirty="0">
              <a:solidFill>
                <a:srgbClr val="404040"/>
              </a:solidFill>
              <a:latin typeface="Helvetica" pitchFamily="2" charset="0"/>
            </a:endParaRPr>
          </a:p>
          <a:p>
            <a:endParaRPr lang="en-US" dirty="0">
              <a:solidFill>
                <a:srgbClr val="404040"/>
              </a:solidFill>
              <a:effectLst/>
              <a:latin typeface="Helvetica" pitchFamily="2" charset="0"/>
            </a:endParaRPr>
          </a:p>
          <a:p>
            <a:r>
              <a:rPr lang="en-US" dirty="0">
                <a:solidFill>
                  <a:srgbClr val="404040"/>
                </a:solidFill>
                <a:effectLst/>
                <a:latin typeface="Helvetica" pitchFamily="2" charset="0"/>
              </a:rPr>
              <a:t>Solution:</a:t>
            </a:r>
            <a:endParaRPr lang="en-US" dirty="0">
              <a:effectLst/>
              <a:latin typeface="Calibri" panose="020F0502020204030204" pitchFamily="34" charset="0"/>
            </a:endParaRPr>
          </a:p>
          <a:p>
            <a:r>
              <a:rPr lang="en-US" dirty="0">
                <a:latin typeface="Calibri" panose="020F0502020204030204" pitchFamily="34" charset="0"/>
              </a:rPr>
              <a:t>A </a:t>
            </a:r>
            <a:r>
              <a:rPr lang="en-US" dirty="0">
                <a:effectLst/>
                <a:latin typeface="Calibri" panose="020F0502020204030204" pitchFamily="34" charset="0"/>
              </a:rPr>
              <a:t>= </a:t>
            </a:r>
            <a:r>
              <a:rPr lang="en-US" dirty="0" err="1">
                <a:effectLst/>
                <a:latin typeface="Calibri" panose="020F0502020204030204" pitchFamily="34" charset="0"/>
              </a:rPr>
              <a:t>a</a:t>
            </a:r>
            <a:r>
              <a:rPr lang="en-US" baseline="-25000" dirty="0" err="1">
                <a:effectLst/>
                <a:latin typeface="Calibri" panose="020F0502020204030204" pitchFamily="34" charset="0"/>
              </a:rPr>
              <a:t>k</a:t>
            </a:r>
            <a:r>
              <a:rPr lang="en-US" dirty="0" err="1">
                <a:effectLst/>
                <a:latin typeface="Calibri" panose="020F0502020204030204" pitchFamily="34" charset="0"/>
              </a:rPr>
              <a:t>b</a:t>
            </a:r>
            <a:r>
              <a:rPr lang="en-US" baseline="30000" dirty="0" err="1">
                <a:effectLst/>
                <a:latin typeface="Calibri" panose="020F0502020204030204" pitchFamily="34" charset="0"/>
              </a:rPr>
              <a:t>k</a:t>
            </a:r>
            <a:r>
              <a:rPr lang="en-US" dirty="0">
                <a:effectLst/>
                <a:latin typeface="Calibri" panose="020F0502020204030204" pitchFamily="34" charset="0"/>
              </a:rPr>
              <a:t>+ a</a:t>
            </a:r>
            <a:r>
              <a:rPr lang="en-US" baseline="-25000" dirty="0">
                <a:effectLst/>
                <a:latin typeface="Calibri" panose="020F0502020204030204" pitchFamily="34" charset="0"/>
              </a:rPr>
              <a:t>k-</a:t>
            </a:r>
            <a:r>
              <a:rPr lang="en-US" baseline="-25000" dirty="0">
                <a:effectLst/>
                <a:latin typeface="Times" pitchFamily="2" charset="0"/>
              </a:rPr>
              <a:t>1</a:t>
            </a:r>
            <a:r>
              <a:rPr lang="en-US" dirty="0">
                <a:effectLst/>
                <a:latin typeface="Calibri" panose="020F0502020204030204" pitchFamily="34" charset="0"/>
              </a:rPr>
              <a:t>b</a:t>
            </a:r>
            <a:r>
              <a:rPr lang="en-US" baseline="30000" dirty="0">
                <a:effectLst/>
                <a:latin typeface="Calibri" panose="020F0502020204030204" pitchFamily="34" charset="0"/>
              </a:rPr>
              <a:t>k-</a:t>
            </a:r>
            <a:r>
              <a:rPr lang="en-US" baseline="30000" dirty="0">
                <a:effectLst/>
                <a:latin typeface="Times" pitchFamily="2" charset="0"/>
              </a:rPr>
              <a:t>1</a:t>
            </a:r>
            <a:r>
              <a:rPr lang="en-US" dirty="0">
                <a:effectLst/>
                <a:latin typeface="Calibri" panose="020F0502020204030204" pitchFamily="34" charset="0"/>
              </a:rPr>
              <a:t>+ …. + a</a:t>
            </a:r>
            <a:r>
              <a:rPr lang="en-US" baseline="-25000" dirty="0">
                <a:effectLst/>
                <a:latin typeface="Times" pitchFamily="2" charset="0"/>
              </a:rPr>
              <a:t>1</a:t>
            </a:r>
            <a:r>
              <a:rPr lang="en-US" dirty="0">
                <a:effectLst/>
                <a:latin typeface="Calibri" panose="020F0502020204030204" pitchFamily="34" charset="0"/>
              </a:rPr>
              <a:t>b</a:t>
            </a:r>
            <a:r>
              <a:rPr lang="en-US" baseline="30000" dirty="0">
                <a:effectLst/>
                <a:latin typeface="Calibri" panose="020F0502020204030204" pitchFamily="34" charset="0"/>
              </a:rPr>
              <a:t>1</a:t>
            </a:r>
            <a:r>
              <a:rPr lang="en-US" dirty="0">
                <a:effectLst/>
                <a:latin typeface="Calibri" panose="020F0502020204030204" pitchFamily="34" charset="0"/>
              </a:rPr>
              <a:t>+ a</a:t>
            </a:r>
            <a:r>
              <a:rPr lang="en-US" baseline="-25000" dirty="0">
                <a:effectLst/>
                <a:latin typeface="Times" pitchFamily="2" charset="0"/>
              </a:rPr>
              <a:t>0</a:t>
            </a:r>
            <a:r>
              <a:rPr lang="en-US" dirty="0">
                <a:effectLst/>
                <a:latin typeface="Times" pitchFamily="2" charset="0"/>
              </a:rPr>
              <a:t>b</a:t>
            </a:r>
            <a:r>
              <a:rPr lang="en-US" baseline="30000" dirty="0">
                <a:effectLst/>
                <a:latin typeface="Times" pitchFamily="2" charset="0"/>
              </a:rPr>
              <a:t>0</a:t>
            </a:r>
            <a:endParaRPr lang="en-US" baseline="-25000" dirty="0">
              <a:effectLst/>
              <a:latin typeface="Calibri" panose="020F0502020204030204" pitchFamily="34" charset="0"/>
            </a:endParaRPr>
          </a:p>
          <a:p>
            <a:pPr marL="0" indent="0">
              <a:buNone/>
            </a:pPr>
            <a:endParaRPr lang="en-US" dirty="0">
              <a:effectLst/>
              <a:latin typeface="Calibri" panose="020F0502020204030204" pitchFamily="34" charset="0"/>
            </a:endParaRPr>
          </a:p>
          <a:p>
            <a:r>
              <a:rPr lang="en-US" dirty="0">
                <a:latin typeface="Calibri" panose="020F0502020204030204" pitchFamily="34" charset="0"/>
              </a:rPr>
              <a:t>A </a:t>
            </a:r>
            <a:r>
              <a:rPr lang="en-US" dirty="0">
                <a:effectLst/>
                <a:latin typeface="Calibri" panose="020F0502020204030204" pitchFamily="34" charset="0"/>
              </a:rPr>
              <a:t>= 1*b</a:t>
            </a:r>
            <a:r>
              <a:rPr lang="en-US" baseline="30000" dirty="0">
                <a:effectLst/>
                <a:latin typeface="Calibri" panose="020F0502020204030204" pitchFamily="34" charset="0"/>
              </a:rPr>
              <a:t>7</a:t>
            </a:r>
            <a:r>
              <a:rPr lang="en-US" dirty="0">
                <a:effectLst/>
                <a:latin typeface="Calibri" panose="020F0502020204030204" pitchFamily="34" charset="0"/>
              </a:rPr>
              <a:t>+ 1*b</a:t>
            </a:r>
            <a:r>
              <a:rPr lang="en-US" baseline="30000" dirty="0">
                <a:effectLst/>
                <a:latin typeface="Calibri" panose="020F0502020204030204" pitchFamily="34" charset="0"/>
              </a:rPr>
              <a:t>6</a:t>
            </a:r>
            <a:r>
              <a:rPr lang="en-US" dirty="0">
                <a:effectLst/>
                <a:latin typeface="Calibri" panose="020F0502020204030204" pitchFamily="34" charset="0"/>
              </a:rPr>
              <a:t>+ 0*b</a:t>
            </a:r>
            <a:r>
              <a:rPr lang="en-US" baseline="30000" dirty="0">
                <a:effectLst/>
                <a:latin typeface="Calibri" panose="020F0502020204030204" pitchFamily="34" charset="0"/>
              </a:rPr>
              <a:t>5</a:t>
            </a:r>
            <a:r>
              <a:rPr lang="en-US" dirty="0">
                <a:effectLst/>
                <a:latin typeface="Calibri" panose="020F0502020204030204" pitchFamily="34" charset="0"/>
              </a:rPr>
              <a:t>+0*b</a:t>
            </a:r>
            <a:r>
              <a:rPr lang="en-US" baseline="30000" dirty="0">
                <a:effectLst/>
                <a:latin typeface="Calibri" panose="020F0502020204030204" pitchFamily="34" charset="0"/>
              </a:rPr>
              <a:t>4</a:t>
            </a:r>
            <a:r>
              <a:rPr lang="en-US" dirty="0">
                <a:effectLst/>
                <a:latin typeface="Calibri" panose="020F0502020204030204" pitchFamily="34" charset="0"/>
              </a:rPr>
              <a:t>+1*b</a:t>
            </a:r>
            <a:r>
              <a:rPr lang="en-US" baseline="30000" dirty="0">
                <a:effectLst/>
                <a:latin typeface="Calibri" panose="020F0502020204030204" pitchFamily="34" charset="0"/>
              </a:rPr>
              <a:t>3</a:t>
            </a:r>
            <a:r>
              <a:rPr lang="en-US" dirty="0">
                <a:effectLst/>
                <a:latin typeface="Calibri" panose="020F0502020204030204" pitchFamily="34" charset="0"/>
              </a:rPr>
              <a:t>+1*b</a:t>
            </a:r>
            <a:r>
              <a:rPr lang="en-US" baseline="30000" dirty="0">
                <a:effectLst/>
                <a:latin typeface="Calibri" panose="020F0502020204030204" pitchFamily="34" charset="0"/>
              </a:rPr>
              <a:t>2</a:t>
            </a:r>
            <a:r>
              <a:rPr lang="en-US" dirty="0">
                <a:effectLst/>
                <a:latin typeface="Calibri" panose="020F0502020204030204" pitchFamily="34" charset="0"/>
              </a:rPr>
              <a:t>+ 1*b+ 1</a:t>
            </a:r>
          </a:p>
          <a:p>
            <a:endParaRPr lang="en-US" dirty="0">
              <a:solidFill>
                <a:srgbClr val="404040"/>
              </a:solidFill>
              <a:effectLst/>
              <a:latin typeface="Helvetica" pitchFamily="2" charset="0"/>
            </a:endParaRPr>
          </a:p>
          <a:p>
            <a:r>
              <a:rPr lang="en-US" dirty="0">
                <a:solidFill>
                  <a:srgbClr val="404040"/>
                </a:solidFill>
                <a:latin typeface="Helvetica" pitchFamily="2" charset="0"/>
              </a:rPr>
              <a:t>A</a:t>
            </a:r>
            <a:r>
              <a:rPr lang="en-US" dirty="0">
                <a:solidFill>
                  <a:srgbClr val="404040"/>
                </a:solidFill>
                <a:effectLst/>
                <a:latin typeface="Helvetica" pitchFamily="2" charset="0"/>
              </a:rPr>
              <a:t> = 128 + 64 + 0 + 0 + 8 + 4 + 2 + 1</a:t>
            </a:r>
          </a:p>
          <a:p>
            <a:r>
              <a:rPr lang="en-US" dirty="0">
                <a:solidFill>
                  <a:srgbClr val="404040"/>
                </a:solidFill>
                <a:latin typeface="Helvetica" pitchFamily="2" charset="0"/>
              </a:rPr>
              <a:t>A</a:t>
            </a:r>
            <a:r>
              <a:rPr lang="en-US" dirty="0">
                <a:solidFill>
                  <a:srgbClr val="404040"/>
                </a:solidFill>
                <a:effectLst/>
                <a:latin typeface="Helvetica" pitchFamily="2" charset="0"/>
              </a:rPr>
              <a:t> = 207</a:t>
            </a:r>
          </a:p>
          <a:p>
            <a:endParaRPr lang="en-US" dirty="0"/>
          </a:p>
        </p:txBody>
      </p:sp>
    </p:spTree>
    <p:extLst>
      <p:ext uri="{BB962C8B-B14F-4D97-AF65-F5344CB8AC3E}">
        <p14:creationId xmlns:p14="http://schemas.microsoft.com/office/powerpoint/2010/main" val="202471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dissolv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dissolve">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dissolve">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B4995-24C3-EBC1-A140-278FB8590DBF}"/>
              </a:ext>
            </a:extLst>
          </p:cNvPr>
          <p:cNvSpPr>
            <a:spLocks noGrp="1"/>
          </p:cNvSpPr>
          <p:nvPr>
            <p:ph type="title"/>
          </p:nvPr>
        </p:nvSpPr>
        <p:spPr/>
        <p:txBody>
          <a:bodyPr/>
          <a:lstStyle/>
          <a:p>
            <a:r>
              <a:rPr lang="en-US" dirty="0"/>
              <a:t>Sample Question.2</a:t>
            </a:r>
          </a:p>
        </p:txBody>
      </p:sp>
      <p:sp>
        <p:nvSpPr>
          <p:cNvPr id="3" name="Content Placeholder 2">
            <a:extLst>
              <a:ext uri="{FF2B5EF4-FFF2-40B4-BE49-F238E27FC236}">
                <a16:creationId xmlns:a16="http://schemas.microsoft.com/office/drawing/2014/main" id="{87A1D139-6D8C-FB2B-0CF6-5D1C0166B5E8}"/>
              </a:ext>
            </a:extLst>
          </p:cNvPr>
          <p:cNvSpPr>
            <a:spLocks noGrp="1"/>
          </p:cNvSpPr>
          <p:nvPr>
            <p:ph idx="1"/>
          </p:nvPr>
        </p:nvSpPr>
        <p:spPr>
          <a:xfrm>
            <a:off x="609600" y="1484289"/>
            <a:ext cx="10972800" cy="4876800"/>
          </a:xfrm>
        </p:spPr>
        <p:txBody>
          <a:bodyPr>
            <a:normAutofit/>
          </a:bodyPr>
          <a:lstStyle/>
          <a:p>
            <a:r>
              <a:rPr lang="en-US" dirty="0"/>
              <a:t>Convert (55)</a:t>
            </a:r>
            <a:r>
              <a:rPr lang="en-US" baseline="-25000" dirty="0"/>
              <a:t>10</a:t>
            </a:r>
            <a:r>
              <a:rPr lang="en-US" dirty="0"/>
              <a:t> to binary (unsigned). </a:t>
            </a:r>
            <a:r>
              <a:rPr lang="en-US" dirty="0">
                <a:effectLst/>
                <a:latin typeface="Calibri" panose="020F0502020204030204" pitchFamily="34" charset="0"/>
              </a:rPr>
              <a:t>Show your answer using 8 bits.</a:t>
            </a:r>
          </a:p>
          <a:p>
            <a:pPr marL="0" indent="0">
              <a:buNone/>
            </a:pPr>
            <a:endParaRPr lang="en-US" dirty="0"/>
          </a:p>
          <a:p>
            <a:r>
              <a:rPr lang="en-US" dirty="0"/>
              <a:t>Solution:</a:t>
            </a:r>
            <a:endParaRPr lang="en-US" dirty="0">
              <a:effectLst/>
              <a:latin typeface="Calibri" panose="020F0502020204030204" pitchFamily="34" charset="0"/>
            </a:endParaRPr>
          </a:p>
          <a:p>
            <a:r>
              <a:rPr lang="en-US" dirty="0">
                <a:solidFill>
                  <a:srgbClr val="404040"/>
                </a:solidFill>
                <a:effectLst/>
                <a:latin typeface="Helvetica" pitchFamily="2" charset="0"/>
              </a:rPr>
              <a:t>55 = 2*27 + 1		</a:t>
            </a:r>
            <a:r>
              <a:rPr lang="en-US" dirty="0">
                <a:effectLst/>
                <a:latin typeface="Calibri" panose="020F0502020204030204" pitchFamily="34" charset="0"/>
                <a:sym typeface="Wingdings" pitchFamily="2" charset="2"/>
              </a:rPr>
              <a:t> </a:t>
            </a:r>
            <a:r>
              <a:rPr lang="en-US" dirty="0">
                <a:effectLst/>
                <a:latin typeface="Calibri" panose="020F0502020204030204" pitchFamily="34" charset="0"/>
              </a:rPr>
              <a:t> the remainder here is the least significant bit.</a:t>
            </a:r>
          </a:p>
          <a:p>
            <a:r>
              <a:rPr lang="en-US" dirty="0">
                <a:solidFill>
                  <a:srgbClr val="404040"/>
                </a:solidFill>
                <a:effectLst/>
                <a:latin typeface="Helvetica" pitchFamily="2" charset="0"/>
              </a:rPr>
              <a:t>27 = 2*13 + 1</a:t>
            </a:r>
          </a:p>
          <a:p>
            <a:r>
              <a:rPr lang="en-US" dirty="0">
                <a:solidFill>
                  <a:srgbClr val="404040"/>
                </a:solidFill>
                <a:effectLst/>
                <a:latin typeface="Helvetica" pitchFamily="2" charset="0"/>
              </a:rPr>
              <a:t>13 = 2*6 + 1</a:t>
            </a:r>
          </a:p>
          <a:p>
            <a:r>
              <a:rPr lang="en-US" dirty="0">
                <a:solidFill>
                  <a:srgbClr val="404040"/>
                </a:solidFill>
                <a:effectLst/>
                <a:latin typeface="Helvetica" pitchFamily="2" charset="0"/>
              </a:rPr>
              <a:t>6 = 2*3 + 0</a:t>
            </a:r>
          </a:p>
          <a:p>
            <a:r>
              <a:rPr lang="en-US" dirty="0">
                <a:solidFill>
                  <a:srgbClr val="404040"/>
                </a:solidFill>
                <a:effectLst/>
                <a:latin typeface="Helvetica" pitchFamily="2" charset="0"/>
              </a:rPr>
              <a:t>3 = 2*1 + 1</a:t>
            </a:r>
          </a:p>
          <a:p>
            <a:r>
              <a:rPr lang="en-US" dirty="0">
                <a:solidFill>
                  <a:srgbClr val="404040"/>
                </a:solidFill>
                <a:effectLst/>
                <a:latin typeface="Helvetica" pitchFamily="2" charset="0"/>
              </a:rPr>
              <a:t>1 = 2*0 + 1			</a:t>
            </a:r>
            <a:r>
              <a:rPr lang="en-US" dirty="0">
                <a:solidFill>
                  <a:srgbClr val="404040"/>
                </a:solidFill>
                <a:latin typeface="Calibri" panose="020F0502020204030204" pitchFamily="34" charset="0"/>
                <a:sym typeface="Wingdings" pitchFamily="2" charset="2"/>
              </a:rPr>
              <a:t> </a:t>
            </a:r>
            <a:r>
              <a:rPr lang="en-US" dirty="0">
                <a:effectLst/>
                <a:latin typeface="Calibri" panose="020F0502020204030204" pitchFamily="34" charset="0"/>
              </a:rPr>
              <a:t> continue until the quotient becomes 0.</a:t>
            </a:r>
            <a:endParaRPr lang="en-US" dirty="0">
              <a:solidFill>
                <a:srgbClr val="404040"/>
              </a:solidFill>
              <a:effectLst/>
              <a:latin typeface="Helvetica" pitchFamily="2" charset="0"/>
            </a:endParaRPr>
          </a:p>
          <a:p>
            <a:endParaRPr lang="en-US" dirty="0">
              <a:effectLst/>
              <a:latin typeface="Calibri" panose="020F0502020204030204" pitchFamily="34" charset="0"/>
            </a:endParaRPr>
          </a:p>
          <a:p>
            <a:r>
              <a:rPr lang="en-US" dirty="0">
                <a:effectLst/>
                <a:latin typeface="Calibri" panose="020F0502020204030204" pitchFamily="34" charset="0"/>
              </a:rPr>
              <a:t>(55)</a:t>
            </a:r>
            <a:r>
              <a:rPr lang="en-US" baseline="-25000" dirty="0">
                <a:effectLst/>
                <a:latin typeface="Calibri" panose="020F0502020204030204" pitchFamily="34" charset="0"/>
              </a:rPr>
              <a:t>10</a:t>
            </a:r>
            <a:r>
              <a:rPr lang="en-US" dirty="0">
                <a:effectLst/>
                <a:latin typeface="Calibri" panose="020F0502020204030204" pitchFamily="34" charset="0"/>
              </a:rPr>
              <a:t>= (0011 0111)</a:t>
            </a:r>
            <a:r>
              <a:rPr lang="en-US" baseline="-25000" dirty="0">
                <a:effectLst/>
                <a:latin typeface="Calibri" panose="020F0502020204030204" pitchFamily="34" charset="0"/>
              </a:rPr>
              <a:t>2</a:t>
            </a:r>
          </a:p>
          <a:p>
            <a:pPr marL="0" indent="0">
              <a:buNone/>
            </a:pPr>
            <a:endParaRPr lang="en-US"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184326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dissolv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AF7A6-F1C2-E866-6B2E-B821F66C3F76}"/>
              </a:ext>
            </a:extLst>
          </p:cNvPr>
          <p:cNvSpPr>
            <a:spLocks noGrp="1"/>
          </p:cNvSpPr>
          <p:nvPr>
            <p:ph type="title"/>
          </p:nvPr>
        </p:nvSpPr>
        <p:spPr/>
        <p:txBody>
          <a:bodyPr/>
          <a:lstStyle/>
          <a:p>
            <a:r>
              <a:rPr lang="en-US" dirty="0"/>
              <a:t>Sample Question.3</a:t>
            </a:r>
          </a:p>
        </p:txBody>
      </p:sp>
      <p:sp>
        <p:nvSpPr>
          <p:cNvPr id="3" name="Content Placeholder 2">
            <a:extLst>
              <a:ext uri="{FF2B5EF4-FFF2-40B4-BE49-F238E27FC236}">
                <a16:creationId xmlns:a16="http://schemas.microsoft.com/office/drawing/2014/main" id="{88D3D430-FD4E-16F2-4720-72810A61438A}"/>
              </a:ext>
            </a:extLst>
          </p:cNvPr>
          <p:cNvSpPr>
            <a:spLocks noGrp="1"/>
          </p:cNvSpPr>
          <p:nvPr>
            <p:ph idx="1"/>
          </p:nvPr>
        </p:nvSpPr>
        <p:spPr/>
        <p:txBody>
          <a:bodyPr/>
          <a:lstStyle/>
          <a:p>
            <a:r>
              <a:rPr lang="en-US" dirty="0">
                <a:solidFill>
                  <a:srgbClr val="404040"/>
                </a:solidFill>
                <a:effectLst/>
                <a:latin typeface="Helvetica" pitchFamily="2" charset="0"/>
              </a:rPr>
              <a:t>Let A = (0100 1111)</a:t>
            </a:r>
            <a:r>
              <a:rPr lang="en-US" baseline="-25000" dirty="0">
                <a:solidFill>
                  <a:srgbClr val="404040"/>
                </a:solidFill>
                <a:effectLst/>
                <a:latin typeface="Helvetica" pitchFamily="2" charset="0"/>
              </a:rPr>
              <a:t>2</a:t>
            </a:r>
            <a:r>
              <a:rPr lang="en-US" dirty="0">
                <a:solidFill>
                  <a:srgbClr val="404040"/>
                </a:solidFill>
                <a:effectLst/>
                <a:latin typeface="Helvetica" pitchFamily="2" charset="0"/>
              </a:rPr>
              <a:t>. What decimal value does this represent if A is represented with the 2’s </a:t>
            </a:r>
            <a:r>
              <a:rPr lang="en-US" dirty="0">
                <a:effectLst/>
                <a:latin typeface="Calibri" panose="020F0502020204030204" pitchFamily="34" charset="0"/>
              </a:rPr>
              <a:t>Complement representation?</a:t>
            </a:r>
          </a:p>
          <a:p>
            <a:endParaRPr lang="en-US" dirty="0"/>
          </a:p>
          <a:p>
            <a:r>
              <a:rPr lang="en-US" dirty="0"/>
              <a:t>Solution:</a:t>
            </a:r>
          </a:p>
          <a:p>
            <a:r>
              <a:rPr lang="en-US" dirty="0">
                <a:latin typeface="Calibri" panose="020F0502020204030204" pitchFamily="34" charset="0"/>
              </a:rPr>
              <a:t>A </a:t>
            </a:r>
            <a:r>
              <a:rPr lang="en-US" dirty="0">
                <a:effectLst/>
                <a:latin typeface="Calibri" panose="020F0502020204030204" pitchFamily="34" charset="0"/>
              </a:rPr>
              <a:t>= </a:t>
            </a:r>
            <a:r>
              <a:rPr lang="en-US" dirty="0" err="1">
                <a:effectLst/>
                <a:latin typeface="Calibri" panose="020F0502020204030204" pitchFamily="34" charset="0"/>
              </a:rPr>
              <a:t>a</a:t>
            </a:r>
            <a:r>
              <a:rPr lang="en-US" baseline="-25000" dirty="0" err="1">
                <a:effectLst/>
                <a:latin typeface="Calibri" panose="020F0502020204030204" pitchFamily="34" charset="0"/>
              </a:rPr>
              <a:t>k</a:t>
            </a:r>
            <a:r>
              <a:rPr lang="en-US" dirty="0" err="1">
                <a:effectLst/>
                <a:latin typeface="Calibri" panose="020F0502020204030204" pitchFamily="34" charset="0"/>
              </a:rPr>
              <a:t>b</a:t>
            </a:r>
            <a:r>
              <a:rPr lang="en-US" baseline="30000" dirty="0" err="1">
                <a:effectLst/>
                <a:latin typeface="Calibri" panose="020F0502020204030204" pitchFamily="34" charset="0"/>
              </a:rPr>
              <a:t>k</a:t>
            </a:r>
            <a:r>
              <a:rPr lang="en-US" baseline="30000" dirty="0">
                <a:effectLst/>
                <a:latin typeface="Calibri" panose="020F0502020204030204" pitchFamily="34" charset="0"/>
              </a:rPr>
              <a:t> </a:t>
            </a:r>
            <a:r>
              <a:rPr lang="en-US" dirty="0">
                <a:effectLst/>
                <a:latin typeface="Calibri" panose="020F0502020204030204" pitchFamily="34" charset="0"/>
              </a:rPr>
              <a:t>+ a</a:t>
            </a:r>
            <a:r>
              <a:rPr lang="en-US" baseline="-25000" dirty="0">
                <a:effectLst/>
                <a:latin typeface="Calibri" panose="020F0502020204030204" pitchFamily="34" charset="0"/>
              </a:rPr>
              <a:t>k-</a:t>
            </a:r>
            <a:r>
              <a:rPr lang="en-US" baseline="-25000" dirty="0">
                <a:effectLst/>
                <a:latin typeface="Times" pitchFamily="2" charset="0"/>
              </a:rPr>
              <a:t>1</a:t>
            </a:r>
            <a:r>
              <a:rPr lang="en-US" dirty="0">
                <a:effectLst/>
                <a:latin typeface="Calibri" panose="020F0502020204030204" pitchFamily="34" charset="0"/>
              </a:rPr>
              <a:t>b</a:t>
            </a:r>
            <a:r>
              <a:rPr lang="en-US" baseline="30000" dirty="0">
                <a:effectLst/>
                <a:latin typeface="Calibri" panose="020F0502020204030204" pitchFamily="34" charset="0"/>
              </a:rPr>
              <a:t>k-</a:t>
            </a:r>
            <a:r>
              <a:rPr lang="en-US" baseline="30000" dirty="0">
                <a:effectLst/>
                <a:latin typeface="Times" pitchFamily="2" charset="0"/>
              </a:rPr>
              <a:t>1</a:t>
            </a:r>
            <a:r>
              <a:rPr lang="en-US" dirty="0">
                <a:effectLst/>
                <a:latin typeface="Calibri" panose="020F0502020204030204" pitchFamily="34" charset="0"/>
              </a:rPr>
              <a:t>+ …. + a</a:t>
            </a:r>
            <a:r>
              <a:rPr lang="en-US" baseline="-25000" dirty="0">
                <a:effectLst/>
                <a:latin typeface="Times" pitchFamily="2" charset="0"/>
              </a:rPr>
              <a:t>1</a:t>
            </a:r>
            <a:r>
              <a:rPr lang="en-US" dirty="0">
                <a:effectLst/>
                <a:latin typeface="Calibri" panose="020F0502020204030204" pitchFamily="34" charset="0"/>
              </a:rPr>
              <a:t>b</a:t>
            </a:r>
            <a:r>
              <a:rPr lang="en-US" baseline="30000" dirty="0">
                <a:effectLst/>
                <a:latin typeface="Calibri" panose="020F0502020204030204" pitchFamily="34" charset="0"/>
              </a:rPr>
              <a:t>1</a:t>
            </a:r>
            <a:r>
              <a:rPr lang="en-US" dirty="0">
                <a:effectLst/>
                <a:latin typeface="Calibri" panose="020F0502020204030204" pitchFamily="34" charset="0"/>
              </a:rPr>
              <a:t>+ a</a:t>
            </a:r>
            <a:r>
              <a:rPr lang="en-US" baseline="-25000" dirty="0">
                <a:effectLst/>
                <a:latin typeface="Times" pitchFamily="2" charset="0"/>
              </a:rPr>
              <a:t>0</a:t>
            </a:r>
            <a:r>
              <a:rPr lang="en-US" dirty="0">
                <a:effectLst/>
                <a:latin typeface="Times" pitchFamily="2" charset="0"/>
              </a:rPr>
              <a:t>b</a:t>
            </a:r>
            <a:r>
              <a:rPr lang="en-US" baseline="30000" dirty="0">
                <a:effectLst/>
                <a:latin typeface="Times" pitchFamily="2" charset="0"/>
              </a:rPr>
              <a:t>0</a:t>
            </a:r>
            <a:endParaRPr lang="en-US" baseline="-25000" dirty="0">
              <a:effectLst/>
              <a:latin typeface="Calibri" panose="020F0502020204030204" pitchFamily="34" charset="0"/>
            </a:endParaRPr>
          </a:p>
          <a:p>
            <a:r>
              <a:rPr lang="en-US" dirty="0">
                <a:latin typeface="Calibri" panose="020F0502020204030204" pitchFamily="34" charset="0"/>
              </a:rPr>
              <a:t>A </a:t>
            </a:r>
            <a:r>
              <a:rPr lang="en-US" dirty="0">
                <a:effectLst/>
                <a:latin typeface="Calibri" panose="020F0502020204030204" pitchFamily="34" charset="0"/>
              </a:rPr>
              <a:t>= 1*b</a:t>
            </a:r>
            <a:r>
              <a:rPr lang="en-US" baseline="30000" dirty="0">
                <a:effectLst/>
                <a:latin typeface="Calibri" panose="020F0502020204030204" pitchFamily="34" charset="0"/>
              </a:rPr>
              <a:t>6 </a:t>
            </a:r>
            <a:r>
              <a:rPr lang="en-US" dirty="0">
                <a:effectLst/>
                <a:latin typeface="Calibri" panose="020F0502020204030204" pitchFamily="34" charset="0"/>
              </a:rPr>
              <a:t>+ 0*b</a:t>
            </a:r>
            <a:r>
              <a:rPr lang="en-US" baseline="30000" dirty="0">
                <a:effectLst/>
                <a:latin typeface="Calibri" panose="020F0502020204030204" pitchFamily="34" charset="0"/>
              </a:rPr>
              <a:t>5 </a:t>
            </a:r>
            <a:r>
              <a:rPr lang="en-US" dirty="0">
                <a:effectLst/>
                <a:latin typeface="Calibri" panose="020F0502020204030204" pitchFamily="34" charset="0"/>
              </a:rPr>
              <a:t>+ 0*b</a:t>
            </a:r>
            <a:r>
              <a:rPr lang="en-US" baseline="30000" dirty="0">
                <a:effectLst/>
                <a:latin typeface="Calibri" panose="020F0502020204030204" pitchFamily="34" charset="0"/>
              </a:rPr>
              <a:t>4 </a:t>
            </a:r>
            <a:r>
              <a:rPr lang="en-US" dirty="0">
                <a:effectLst/>
                <a:latin typeface="Calibri" panose="020F0502020204030204" pitchFamily="34" charset="0"/>
              </a:rPr>
              <a:t>+ 1*b</a:t>
            </a:r>
            <a:r>
              <a:rPr lang="en-US" baseline="30000" dirty="0">
                <a:effectLst/>
                <a:latin typeface="Calibri" panose="020F0502020204030204" pitchFamily="34" charset="0"/>
              </a:rPr>
              <a:t>3</a:t>
            </a:r>
            <a:r>
              <a:rPr lang="en-US" dirty="0">
                <a:effectLst/>
                <a:latin typeface="Calibri" panose="020F0502020204030204" pitchFamily="34" charset="0"/>
              </a:rPr>
              <a:t> + 1*b</a:t>
            </a:r>
            <a:r>
              <a:rPr lang="en-US" baseline="30000" dirty="0">
                <a:effectLst/>
                <a:latin typeface="Calibri" panose="020F0502020204030204" pitchFamily="34" charset="0"/>
              </a:rPr>
              <a:t>2</a:t>
            </a:r>
            <a:r>
              <a:rPr lang="en-US" dirty="0">
                <a:effectLst/>
                <a:latin typeface="Calibri" panose="020F0502020204030204" pitchFamily="34" charset="0"/>
              </a:rPr>
              <a:t> + 1*b+ 1</a:t>
            </a:r>
          </a:p>
          <a:p>
            <a:r>
              <a:rPr lang="en-US" dirty="0">
                <a:solidFill>
                  <a:srgbClr val="404040"/>
                </a:solidFill>
                <a:latin typeface="Helvetica" pitchFamily="2" charset="0"/>
              </a:rPr>
              <a:t>A</a:t>
            </a:r>
            <a:r>
              <a:rPr lang="en-US" dirty="0">
                <a:solidFill>
                  <a:srgbClr val="404040"/>
                </a:solidFill>
                <a:effectLst/>
                <a:latin typeface="Helvetica" pitchFamily="2" charset="0"/>
              </a:rPr>
              <a:t> = 64 + 0 + 0 + 8 + 4 + 2 + 1</a:t>
            </a:r>
          </a:p>
          <a:p>
            <a:r>
              <a:rPr lang="en-US" dirty="0"/>
              <a:t>A = 79</a:t>
            </a:r>
          </a:p>
        </p:txBody>
      </p:sp>
    </p:spTree>
    <p:extLst>
      <p:ext uri="{BB962C8B-B14F-4D97-AF65-F5344CB8AC3E}">
        <p14:creationId xmlns:p14="http://schemas.microsoft.com/office/powerpoint/2010/main" val="370487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EC1-57D8-B7DE-733D-BE214805000F}"/>
              </a:ext>
            </a:extLst>
          </p:cNvPr>
          <p:cNvSpPr>
            <a:spLocks noGrp="1"/>
          </p:cNvSpPr>
          <p:nvPr>
            <p:ph type="title"/>
          </p:nvPr>
        </p:nvSpPr>
        <p:spPr/>
        <p:txBody>
          <a:bodyPr/>
          <a:lstStyle/>
          <a:p>
            <a:r>
              <a:rPr lang="en-US" dirty="0"/>
              <a:t>Sample Question.4</a:t>
            </a:r>
          </a:p>
        </p:txBody>
      </p:sp>
      <p:sp>
        <p:nvSpPr>
          <p:cNvPr id="3" name="Content Placeholder 2">
            <a:extLst>
              <a:ext uri="{FF2B5EF4-FFF2-40B4-BE49-F238E27FC236}">
                <a16:creationId xmlns:a16="http://schemas.microsoft.com/office/drawing/2014/main" id="{9DF9B84D-C7D6-06CF-7835-01F347F4348C}"/>
              </a:ext>
            </a:extLst>
          </p:cNvPr>
          <p:cNvSpPr>
            <a:spLocks noGrp="1"/>
          </p:cNvSpPr>
          <p:nvPr>
            <p:ph idx="1"/>
          </p:nvPr>
        </p:nvSpPr>
        <p:spPr/>
        <p:txBody>
          <a:bodyPr/>
          <a:lstStyle/>
          <a:p>
            <a:r>
              <a:rPr lang="en-US" dirty="0">
                <a:solidFill>
                  <a:srgbClr val="404040"/>
                </a:solidFill>
                <a:effectLst/>
                <a:latin typeface="Helvetica" pitchFamily="2" charset="0"/>
              </a:rPr>
              <a:t>Let A = (1100 1111)</a:t>
            </a:r>
            <a:r>
              <a:rPr lang="en-US" baseline="-25000" dirty="0">
                <a:solidFill>
                  <a:srgbClr val="404040"/>
                </a:solidFill>
                <a:effectLst/>
                <a:latin typeface="Helvetica" pitchFamily="2" charset="0"/>
              </a:rPr>
              <a:t>2</a:t>
            </a:r>
            <a:r>
              <a:rPr lang="en-US" dirty="0">
                <a:solidFill>
                  <a:srgbClr val="404040"/>
                </a:solidFill>
                <a:effectLst/>
                <a:latin typeface="Helvetica" pitchFamily="2" charset="0"/>
              </a:rPr>
              <a:t>. What decimal value does this represent if A is represented with the 2’s Complement representation?</a:t>
            </a:r>
          </a:p>
          <a:p>
            <a:endParaRPr lang="en-US" dirty="0"/>
          </a:p>
          <a:p>
            <a:r>
              <a:rPr lang="en-US" dirty="0"/>
              <a:t>Solution:</a:t>
            </a:r>
          </a:p>
          <a:p>
            <a:r>
              <a:rPr lang="en-US" dirty="0">
                <a:solidFill>
                  <a:srgbClr val="404040"/>
                </a:solidFill>
                <a:effectLst/>
                <a:latin typeface="Helvetica" pitchFamily="2" charset="0"/>
              </a:rPr>
              <a:t>0011 0001</a:t>
            </a:r>
          </a:p>
          <a:p>
            <a:r>
              <a:rPr lang="en-US" dirty="0">
                <a:latin typeface="Calibri" panose="020F0502020204030204" pitchFamily="34" charset="0"/>
              </a:rPr>
              <a:t>n </a:t>
            </a:r>
            <a:r>
              <a:rPr lang="en-US" dirty="0">
                <a:effectLst/>
                <a:latin typeface="Calibri" panose="020F0502020204030204" pitchFamily="34" charset="0"/>
              </a:rPr>
              <a:t>= </a:t>
            </a:r>
            <a:r>
              <a:rPr lang="en-US" dirty="0" err="1">
                <a:effectLst/>
                <a:latin typeface="Calibri" panose="020F0502020204030204" pitchFamily="34" charset="0"/>
              </a:rPr>
              <a:t>a</a:t>
            </a:r>
            <a:r>
              <a:rPr lang="en-US" baseline="-25000" dirty="0" err="1">
                <a:effectLst/>
                <a:latin typeface="Calibri" panose="020F0502020204030204" pitchFamily="34" charset="0"/>
              </a:rPr>
              <a:t>k</a:t>
            </a:r>
            <a:r>
              <a:rPr lang="en-US" dirty="0" err="1">
                <a:effectLst/>
                <a:latin typeface="Calibri" panose="020F0502020204030204" pitchFamily="34" charset="0"/>
              </a:rPr>
              <a:t>b</a:t>
            </a:r>
            <a:r>
              <a:rPr lang="en-US" baseline="30000" dirty="0" err="1">
                <a:effectLst/>
                <a:latin typeface="Calibri" panose="020F0502020204030204" pitchFamily="34" charset="0"/>
              </a:rPr>
              <a:t>k</a:t>
            </a:r>
            <a:r>
              <a:rPr lang="en-US" baseline="30000" dirty="0">
                <a:effectLst/>
                <a:latin typeface="Calibri" panose="020F0502020204030204" pitchFamily="34" charset="0"/>
              </a:rPr>
              <a:t> </a:t>
            </a:r>
            <a:r>
              <a:rPr lang="en-US" dirty="0">
                <a:effectLst/>
                <a:latin typeface="Calibri" panose="020F0502020204030204" pitchFamily="34" charset="0"/>
              </a:rPr>
              <a:t>+ a</a:t>
            </a:r>
            <a:r>
              <a:rPr lang="en-US" baseline="-25000" dirty="0">
                <a:effectLst/>
                <a:latin typeface="Calibri" panose="020F0502020204030204" pitchFamily="34" charset="0"/>
              </a:rPr>
              <a:t>k-</a:t>
            </a:r>
            <a:r>
              <a:rPr lang="en-US" baseline="-25000" dirty="0">
                <a:effectLst/>
                <a:latin typeface="Times" pitchFamily="2" charset="0"/>
              </a:rPr>
              <a:t>1</a:t>
            </a:r>
            <a:r>
              <a:rPr lang="en-US" dirty="0">
                <a:effectLst/>
                <a:latin typeface="Calibri" panose="020F0502020204030204" pitchFamily="34" charset="0"/>
              </a:rPr>
              <a:t>b</a:t>
            </a:r>
            <a:r>
              <a:rPr lang="en-US" baseline="30000" dirty="0">
                <a:effectLst/>
                <a:latin typeface="Calibri" panose="020F0502020204030204" pitchFamily="34" charset="0"/>
              </a:rPr>
              <a:t>k-</a:t>
            </a:r>
            <a:r>
              <a:rPr lang="en-US" baseline="30000" dirty="0">
                <a:effectLst/>
                <a:latin typeface="Times" pitchFamily="2" charset="0"/>
              </a:rPr>
              <a:t>1</a:t>
            </a:r>
            <a:r>
              <a:rPr lang="en-US" dirty="0">
                <a:effectLst/>
                <a:latin typeface="Calibri" panose="020F0502020204030204" pitchFamily="34" charset="0"/>
              </a:rPr>
              <a:t>+ …. + a</a:t>
            </a:r>
            <a:r>
              <a:rPr lang="en-US" baseline="-25000" dirty="0">
                <a:effectLst/>
                <a:latin typeface="Times" pitchFamily="2" charset="0"/>
              </a:rPr>
              <a:t>1</a:t>
            </a:r>
            <a:r>
              <a:rPr lang="en-US" dirty="0">
                <a:effectLst/>
                <a:latin typeface="Calibri" panose="020F0502020204030204" pitchFamily="34" charset="0"/>
              </a:rPr>
              <a:t>b</a:t>
            </a:r>
            <a:r>
              <a:rPr lang="en-US" baseline="30000" dirty="0">
                <a:effectLst/>
                <a:latin typeface="Calibri" panose="020F0502020204030204" pitchFamily="34" charset="0"/>
              </a:rPr>
              <a:t>1</a:t>
            </a:r>
            <a:r>
              <a:rPr lang="en-US" dirty="0">
                <a:effectLst/>
                <a:latin typeface="Calibri" panose="020F0502020204030204" pitchFamily="34" charset="0"/>
              </a:rPr>
              <a:t>+ a</a:t>
            </a:r>
            <a:r>
              <a:rPr lang="en-US" baseline="-25000" dirty="0">
                <a:effectLst/>
                <a:latin typeface="Times" pitchFamily="2" charset="0"/>
              </a:rPr>
              <a:t>0</a:t>
            </a:r>
            <a:r>
              <a:rPr lang="en-US" dirty="0">
                <a:effectLst/>
                <a:latin typeface="Times" pitchFamily="2" charset="0"/>
              </a:rPr>
              <a:t>b</a:t>
            </a:r>
            <a:r>
              <a:rPr lang="en-US" baseline="30000" dirty="0">
                <a:effectLst/>
                <a:latin typeface="Times" pitchFamily="2" charset="0"/>
              </a:rPr>
              <a:t>0</a:t>
            </a:r>
            <a:endParaRPr lang="en-US" baseline="-25000" dirty="0">
              <a:effectLst/>
              <a:latin typeface="Calibri" panose="020F0502020204030204" pitchFamily="34" charset="0"/>
            </a:endParaRPr>
          </a:p>
          <a:p>
            <a:r>
              <a:rPr lang="en-US" dirty="0"/>
              <a:t>n </a:t>
            </a:r>
            <a:r>
              <a:rPr lang="en-US" dirty="0">
                <a:effectLst/>
                <a:latin typeface="Calibri" panose="020F0502020204030204" pitchFamily="34" charset="0"/>
              </a:rPr>
              <a:t>= 0*b</a:t>
            </a:r>
            <a:r>
              <a:rPr lang="en-US" baseline="30000" dirty="0">
                <a:effectLst/>
                <a:latin typeface="Calibri" panose="020F0502020204030204" pitchFamily="34" charset="0"/>
              </a:rPr>
              <a:t>7</a:t>
            </a:r>
            <a:r>
              <a:rPr lang="en-US" dirty="0">
                <a:effectLst/>
                <a:latin typeface="Calibri" panose="020F0502020204030204" pitchFamily="34" charset="0"/>
              </a:rPr>
              <a:t>+ 0*b</a:t>
            </a:r>
            <a:r>
              <a:rPr lang="en-US" baseline="30000" dirty="0">
                <a:effectLst/>
                <a:latin typeface="Calibri" panose="020F0502020204030204" pitchFamily="34" charset="0"/>
              </a:rPr>
              <a:t>6</a:t>
            </a:r>
            <a:r>
              <a:rPr lang="en-US" dirty="0">
                <a:effectLst/>
                <a:latin typeface="Calibri" panose="020F0502020204030204" pitchFamily="34" charset="0"/>
              </a:rPr>
              <a:t>+ 1*b</a:t>
            </a:r>
            <a:r>
              <a:rPr lang="en-US" baseline="30000" dirty="0">
                <a:effectLst/>
                <a:latin typeface="Calibri" panose="020F0502020204030204" pitchFamily="34" charset="0"/>
              </a:rPr>
              <a:t>5</a:t>
            </a:r>
            <a:r>
              <a:rPr lang="en-US" dirty="0">
                <a:effectLst/>
                <a:latin typeface="Calibri" panose="020F0502020204030204" pitchFamily="34" charset="0"/>
              </a:rPr>
              <a:t>+1*b</a:t>
            </a:r>
            <a:r>
              <a:rPr lang="en-US" baseline="30000" dirty="0">
                <a:effectLst/>
                <a:latin typeface="Calibri" panose="020F0502020204030204" pitchFamily="34" charset="0"/>
              </a:rPr>
              <a:t>4</a:t>
            </a:r>
            <a:r>
              <a:rPr lang="en-US" dirty="0">
                <a:effectLst/>
                <a:latin typeface="Calibri" panose="020F0502020204030204" pitchFamily="34" charset="0"/>
              </a:rPr>
              <a:t>+0*b</a:t>
            </a:r>
            <a:r>
              <a:rPr lang="en-US" baseline="30000" dirty="0">
                <a:effectLst/>
                <a:latin typeface="Calibri" panose="020F0502020204030204" pitchFamily="34" charset="0"/>
              </a:rPr>
              <a:t>3</a:t>
            </a:r>
            <a:r>
              <a:rPr lang="en-US" dirty="0">
                <a:effectLst/>
                <a:latin typeface="Calibri" panose="020F0502020204030204" pitchFamily="34" charset="0"/>
              </a:rPr>
              <a:t>+0*b</a:t>
            </a:r>
            <a:r>
              <a:rPr lang="en-US" baseline="30000" dirty="0">
                <a:effectLst/>
                <a:latin typeface="Calibri" panose="020F0502020204030204" pitchFamily="34" charset="0"/>
              </a:rPr>
              <a:t>2</a:t>
            </a:r>
            <a:r>
              <a:rPr lang="en-US" dirty="0">
                <a:effectLst/>
                <a:latin typeface="Calibri" panose="020F0502020204030204" pitchFamily="34" charset="0"/>
              </a:rPr>
              <a:t>+ 0*b+ 1</a:t>
            </a:r>
          </a:p>
          <a:p>
            <a:r>
              <a:rPr lang="en-US" dirty="0">
                <a:solidFill>
                  <a:srgbClr val="404040"/>
                </a:solidFill>
                <a:effectLst/>
                <a:latin typeface="Helvetica" pitchFamily="2" charset="0"/>
              </a:rPr>
              <a:t>n = 32 + 16 + 0 + 0 + 0 + 1</a:t>
            </a:r>
          </a:p>
          <a:p>
            <a:r>
              <a:rPr lang="en-US" dirty="0"/>
              <a:t>n = 49</a:t>
            </a:r>
          </a:p>
          <a:p>
            <a:r>
              <a:rPr lang="en-US" dirty="0"/>
              <a:t>A = -49</a:t>
            </a:r>
          </a:p>
        </p:txBody>
      </p:sp>
    </p:spTree>
    <p:extLst>
      <p:ext uri="{BB962C8B-B14F-4D97-AF65-F5344CB8AC3E}">
        <p14:creationId xmlns:p14="http://schemas.microsoft.com/office/powerpoint/2010/main" val="96968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3D75-271A-F1DC-DA11-220BA8F87D75}"/>
              </a:ext>
            </a:extLst>
          </p:cNvPr>
          <p:cNvSpPr>
            <a:spLocks noGrp="1"/>
          </p:cNvSpPr>
          <p:nvPr>
            <p:ph type="title"/>
          </p:nvPr>
        </p:nvSpPr>
        <p:spPr/>
        <p:txBody>
          <a:bodyPr/>
          <a:lstStyle/>
          <a:p>
            <a:r>
              <a:rPr lang="en-US" dirty="0"/>
              <a:t>Sample Question.5</a:t>
            </a:r>
          </a:p>
        </p:txBody>
      </p:sp>
      <p:sp>
        <p:nvSpPr>
          <p:cNvPr id="3" name="Content Placeholder 2">
            <a:extLst>
              <a:ext uri="{FF2B5EF4-FFF2-40B4-BE49-F238E27FC236}">
                <a16:creationId xmlns:a16="http://schemas.microsoft.com/office/drawing/2014/main" id="{EDD6883D-1791-B1C6-2888-7E53A0D0B67C}"/>
              </a:ext>
            </a:extLst>
          </p:cNvPr>
          <p:cNvSpPr>
            <a:spLocks noGrp="1"/>
          </p:cNvSpPr>
          <p:nvPr>
            <p:ph idx="1"/>
          </p:nvPr>
        </p:nvSpPr>
        <p:spPr/>
        <p:txBody>
          <a:bodyPr>
            <a:normAutofit/>
          </a:bodyPr>
          <a:lstStyle/>
          <a:p>
            <a:r>
              <a:rPr lang="en-US" dirty="0">
                <a:effectLst/>
                <a:latin typeface="Calibri" panose="020F0502020204030204" pitchFamily="34" charset="0"/>
              </a:rPr>
              <a:t>Convert (49)</a:t>
            </a:r>
            <a:r>
              <a:rPr lang="en-US" baseline="-25000" dirty="0">
                <a:effectLst/>
                <a:latin typeface="Calibri" panose="020F0502020204030204" pitchFamily="34" charset="0"/>
              </a:rPr>
              <a:t>10</a:t>
            </a:r>
            <a:r>
              <a:rPr lang="en-US" dirty="0">
                <a:effectLst/>
                <a:latin typeface="Calibri" panose="020F0502020204030204" pitchFamily="34" charset="0"/>
              </a:rPr>
              <a:t> to binary using the 2’s complement representation of signed integers. Show your answer using 8 bits.</a:t>
            </a:r>
          </a:p>
          <a:p>
            <a:endParaRPr lang="en-US" dirty="0"/>
          </a:p>
          <a:p>
            <a:r>
              <a:rPr lang="en-US" dirty="0"/>
              <a:t>Solution:</a:t>
            </a:r>
          </a:p>
          <a:p>
            <a:r>
              <a:rPr lang="en-US" dirty="0">
                <a:effectLst/>
                <a:latin typeface="Calibri" panose="020F0502020204030204" pitchFamily="34" charset="0"/>
              </a:rPr>
              <a:t>49 = 2*24 + 1</a:t>
            </a:r>
          </a:p>
          <a:p>
            <a:r>
              <a:rPr lang="en-US" dirty="0">
                <a:effectLst/>
                <a:latin typeface="Calibri" panose="020F0502020204030204" pitchFamily="34" charset="0"/>
              </a:rPr>
              <a:t>24 = 2*12 + 0</a:t>
            </a:r>
          </a:p>
          <a:p>
            <a:r>
              <a:rPr lang="en-US" dirty="0">
                <a:effectLst/>
                <a:latin typeface="Calibri" panose="020F0502020204030204" pitchFamily="34" charset="0"/>
              </a:rPr>
              <a:t>12 = 2*6 + 0</a:t>
            </a:r>
          </a:p>
          <a:p>
            <a:r>
              <a:rPr lang="en-US" dirty="0">
                <a:effectLst/>
                <a:latin typeface="Calibri" panose="020F0502020204030204" pitchFamily="34" charset="0"/>
              </a:rPr>
              <a:t>6 = 2*3 + 0</a:t>
            </a:r>
          </a:p>
          <a:p>
            <a:r>
              <a:rPr lang="en-US" dirty="0">
                <a:effectLst/>
                <a:latin typeface="Calibri" panose="020F0502020204030204" pitchFamily="34" charset="0"/>
              </a:rPr>
              <a:t>3 = 2*1 + 1</a:t>
            </a:r>
          </a:p>
          <a:p>
            <a:r>
              <a:rPr lang="en-US" dirty="0">
                <a:effectLst/>
                <a:latin typeface="Calibri" panose="020F0502020204030204" pitchFamily="34" charset="0"/>
              </a:rPr>
              <a:t>1 = 2*0 + 1</a:t>
            </a:r>
          </a:p>
          <a:p>
            <a:r>
              <a:rPr lang="en-US" dirty="0">
                <a:effectLst/>
                <a:latin typeface="Calibri" panose="020F0502020204030204" pitchFamily="34" charset="0"/>
              </a:rPr>
              <a:t>(49)</a:t>
            </a:r>
            <a:r>
              <a:rPr lang="en-US" baseline="-25000" dirty="0">
                <a:effectLst/>
                <a:latin typeface="Calibri" panose="020F0502020204030204" pitchFamily="34" charset="0"/>
              </a:rPr>
              <a:t>10</a:t>
            </a:r>
            <a:r>
              <a:rPr lang="en-US" dirty="0">
                <a:effectLst/>
                <a:latin typeface="Calibri" panose="020F0502020204030204" pitchFamily="34" charset="0"/>
              </a:rPr>
              <a:t>= (110001)</a:t>
            </a:r>
            <a:r>
              <a:rPr lang="en-US" baseline="-25000" dirty="0">
                <a:effectLst/>
                <a:latin typeface="Calibri" panose="020F0502020204030204" pitchFamily="34" charset="0"/>
              </a:rPr>
              <a:t>2 </a:t>
            </a:r>
            <a:r>
              <a:rPr lang="en-US" dirty="0">
                <a:effectLst/>
                <a:latin typeface="Calibri" panose="020F0502020204030204" pitchFamily="34" charset="0"/>
              </a:rPr>
              <a:t>= (0011 0001)</a:t>
            </a:r>
            <a:r>
              <a:rPr lang="en-US" baseline="-25000" dirty="0">
                <a:effectLst/>
                <a:latin typeface="Calibri" panose="020F0502020204030204" pitchFamily="34" charset="0"/>
              </a:rPr>
              <a:t>2</a:t>
            </a:r>
            <a:r>
              <a:rPr lang="en-US" dirty="0">
                <a:effectLst/>
                <a:latin typeface="Calibri" panose="020F0502020204030204" pitchFamily="34" charset="0"/>
              </a:rPr>
              <a:t> </a:t>
            </a:r>
          </a:p>
          <a:p>
            <a:endParaRPr lang="en-US"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389177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dissolv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1B5B9-3522-9710-4632-1EBAEEC5A153}"/>
              </a:ext>
            </a:extLst>
          </p:cNvPr>
          <p:cNvSpPr>
            <a:spLocks noGrp="1"/>
          </p:cNvSpPr>
          <p:nvPr>
            <p:ph type="title"/>
          </p:nvPr>
        </p:nvSpPr>
        <p:spPr/>
        <p:txBody>
          <a:bodyPr/>
          <a:lstStyle/>
          <a:p>
            <a:r>
              <a:rPr lang="en-US" dirty="0"/>
              <a:t>Sample Question.6</a:t>
            </a:r>
          </a:p>
        </p:txBody>
      </p:sp>
      <p:sp>
        <p:nvSpPr>
          <p:cNvPr id="3" name="Content Placeholder 2">
            <a:extLst>
              <a:ext uri="{FF2B5EF4-FFF2-40B4-BE49-F238E27FC236}">
                <a16:creationId xmlns:a16="http://schemas.microsoft.com/office/drawing/2014/main" id="{19C88EB3-77AA-E87E-2AA4-83B6FB795B2B}"/>
              </a:ext>
            </a:extLst>
          </p:cNvPr>
          <p:cNvSpPr>
            <a:spLocks noGrp="1"/>
          </p:cNvSpPr>
          <p:nvPr>
            <p:ph idx="1"/>
          </p:nvPr>
        </p:nvSpPr>
        <p:spPr>
          <a:xfrm>
            <a:off x="609600" y="1600200"/>
            <a:ext cx="6563932" cy="4876800"/>
          </a:xfrm>
        </p:spPr>
        <p:txBody>
          <a:bodyPr>
            <a:normAutofit/>
          </a:bodyPr>
          <a:lstStyle/>
          <a:p>
            <a:r>
              <a:rPr lang="en-US" dirty="0">
                <a:latin typeface="Calibri" panose="020F0502020204030204" pitchFamily="34" charset="0"/>
              </a:rPr>
              <a:t>Convert (</a:t>
            </a:r>
            <a:r>
              <a:rPr lang="en-US" dirty="0">
                <a:effectLst/>
                <a:latin typeface="Calibri" panose="020F0502020204030204" pitchFamily="34" charset="0"/>
              </a:rPr>
              <a:t>-55)</a:t>
            </a:r>
            <a:r>
              <a:rPr lang="en-US" baseline="-25000" dirty="0">
                <a:effectLst/>
                <a:latin typeface="Calibri" panose="020F0502020204030204" pitchFamily="34" charset="0"/>
              </a:rPr>
              <a:t>10</a:t>
            </a:r>
            <a:r>
              <a:rPr lang="en-US" dirty="0">
                <a:effectLst/>
                <a:latin typeface="Calibri" panose="020F0502020204030204" pitchFamily="34" charset="0"/>
              </a:rPr>
              <a:t> to binary using the 2’s complement representation of signed integers. Show your answer using 8 bits.</a:t>
            </a:r>
          </a:p>
          <a:p>
            <a:endParaRPr lang="en-US" dirty="0"/>
          </a:p>
          <a:p>
            <a:r>
              <a:rPr lang="en-US" sz="1800" dirty="0"/>
              <a:t>Solution:</a:t>
            </a:r>
            <a:endParaRPr lang="en-US" sz="1800" dirty="0">
              <a:effectLst/>
              <a:latin typeface="Calibri" panose="020F0502020204030204" pitchFamily="34" charset="0"/>
            </a:endParaRPr>
          </a:p>
          <a:p>
            <a:r>
              <a:rPr lang="en-US" sz="1800" dirty="0">
                <a:effectLst/>
                <a:latin typeface="Calibri" panose="020F0502020204030204" pitchFamily="34" charset="0"/>
              </a:rPr>
              <a:t>55 = 2*27 + 1</a:t>
            </a:r>
          </a:p>
          <a:p>
            <a:r>
              <a:rPr lang="en-US" sz="1800" dirty="0">
                <a:effectLst/>
                <a:latin typeface="Calibri" panose="020F0502020204030204" pitchFamily="34" charset="0"/>
              </a:rPr>
              <a:t>27 = 2*13 + 1</a:t>
            </a:r>
          </a:p>
          <a:p>
            <a:r>
              <a:rPr lang="en-US" sz="1800" dirty="0">
                <a:effectLst/>
                <a:latin typeface="Calibri" panose="020F0502020204030204" pitchFamily="34" charset="0"/>
              </a:rPr>
              <a:t>13 = 2*6 + 1</a:t>
            </a:r>
          </a:p>
          <a:p>
            <a:r>
              <a:rPr lang="en-US" sz="1800" dirty="0">
                <a:effectLst/>
                <a:latin typeface="Calibri" panose="020F0502020204030204" pitchFamily="34" charset="0"/>
              </a:rPr>
              <a:t>6 = 2*3 + 0</a:t>
            </a:r>
          </a:p>
          <a:p>
            <a:r>
              <a:rPr lang="en-US" sz="1800" dirty="0">
                <a:effectLst/>
                <a:latin typeface="Calibri" panose="020F0502020204030204" pitchFamily="34" charset="0"/>
              </a:rPr>
              <a:t>3 = 2*1 + 1</a:t>
            </a:r>
          </a:p>
          <a:p>
            <a:r>
              <a:rPr lang="en-US" sz="1800" dirty="0">
                <a:effectLst/>
                <a:latin typeface="Calibri" panose="020F0502020204030204" pitchFamily="34" charset="0"/>
              </a:rPr>
              <a:t>1 = 2*0 + 1</a:t>
            </a:r>
          </a:p>
          <a:p>
            <a:r>
              <a:rPr lang="en-US" sz="1800" dirty="0">
                <a:effectLst/>
                <a:latin typeface="Calibri" panose="020F0502020204030204" pitchFamily="34" charset="0"/>
              </a:rPr>
              <a:t>(55)</a:t>
            </a:r>
            <a:r>
              <a:rPr lang="en-US" sz="1800" baseline="-25000" dirty="0">
                <a:effectLst/>
                <a:latin typeface="Calibri" panose="020F0502020204030204" pitchFamily="34" charset="0"/>
              </a:rPr>
              <a:t>10</a:t>
            </a:r>
            <a:r>
              <a:rPr lang="en-US" sz="1800" dirty="0">
                <a:effectLst/>
                <a:latin typeface="Calibri" panose="020F0502020204030204" pitchFamily="34" charset="0"/>
              </a:rPr>
              <a:t>= (110111)</a:t>
            </a:r>
            <a:r>
              <a:rPr lang="en-US" sz="1800" baseline="-25000" dirty="0">
                <a:effectLst/>
                <a:latin typeface="Calibri" panose="020F0502020204030204" pitchFamily="34" charset="0"/>
              </a:rPr>
              <a:t>2</a:t>
            </a:r>
          </a:p>
          <a:p>
            <a:endParaRPr lang="en-US" dirty="0"/>
          </a:p>
        </p:txBody>
      </p:sp>
      <p:sp>
        <p:nvSpPr>
          <p:cNvPr id="4" name="TextBox 3">
            <a:extLst>
              <a:ext uri="{FF2B5EF4-FFF2-40B4-BE49-F238E27FC236}">
                <a16:creationId xmlns:a16="http://schemas.microsoft.com/office/drawing/2014/main" id="{471D0C37-AF6B-B728-4305-53AA6C204805}"/>
              </a:ext>
            </a:extLst>
          </p:cNvPr>
          <p:cNvSpPr txBox="1"/>
          <p:nvPr/>
        </p:nvSpPr>
        <p:spPr>
          <a:xfrm>
            <a:off x="8126569" y="3374265"/>
            <a:ext cx="2093843" cy="646331"/>
          </a:xfrm>
          <a:prstGeom prst="rect">
            <a:avLst/>
          </a:prstGeom>
          <a:noFill/>
        </p:spPr>
        <p:txBody>
          <a:bodyPr wrap="none" rtlCol="0">
            <a:spAutoFit/>
          </a:bodyPr>
          <a:lstStyle/>
          <a:p>
            <a:r>
              <a:rPr lang="en-US" dirty="0">
                <a:effectLst/>
                <a:latin typeface="Calibri" panose="020F0502020204030204" pitchFamily="34" charset="0"/>
              </a:rPr>
              <a:t>(55)</a:t>
            </a:r>
            <a:r>
              <a:rPr lang="en-US" baseline="-25000" dirty="0">
                <a:effectLst/>
                <a:latin typeface="Calibri" panose="020F0502020204030204" pitchFamily="34" charset="0"/>
              </a:rPr>
              <a:t>10</a:t>
            </a:r>
            <a:r>
              <a:rPr lang="en-US" dirty="0">
                <a:effectLst/>
                <a:latin typeface="Calibri" panose="020F0502020204030204" pitchFamily="34" charset="0"/>
              </a:rPr>
              <a:t>= (110111)</a:t>
            </a:r>
            <a:r>
              <a:rPr lang="en-US" baseline="-25000" dirty="0">
                <a:effectLst/>
                <a:latin typeface="Calibri" panose="020F0502020204030204" pitchFamily="34" charset="0"/>
              </a:rPr>
              <a:t>2</a:t>
            </a:r>
          </a:p>
          <a:p>
            <a:r>
              <a:rPr lang="en-US" dirty="0">
                <a:effectLst/>
                <a:latin typeface="Calibri" panose="020F0502020204030204" pitchFamily="34" charset="0"/>
              </a:rPr>
              <a:t>(55)</a:t>
            </a:r>
            <a:r>
              <a:rPr lang="en-US" baseline="-25000" dirty="0">
                <a:effectLst/>
                <a:latin typeface="Calibri" panose="020F0502020204030204" pitchFamily="34" charset="0"/>
              </a:rPr>
              <a:t>10</a:t>
            </a:r>
            <a:r>
              <a:rPr lang="en-US" dirty="0">
                <a:effectLst/>
                <a:latin typeface="Calibri" panose="020F0502020204030204" pitchFamily="34" charset="0"/>
              </a:rPr>
              <a:t>= (0011 0111)</a:t>
            </a:r>
            <a:r>
              <a:rPr lang="en-US" baseline="-25000" dirty="0">
                <a:effectLst/>
                <a:latin typeface="Calibri" panose="020F0502020204030204" pitchFamily="34" charset="0"/>
              </a:rPr>
              <a:t>2</a:t>
            </a:r>
          </a:p>
        </p:txBody>
      </p:sp>
      <p:sp>
        <p:nvSpPr>
          <p:cNvPr id="5" name="TextBox 4">
            <a:extLst>
              <a:ext uri="{FF2B5EF4-FFF2-40B4-BE49-F238E27FC236}">
                <a16:creationId xmlns:a16="http://schemas.microsoft.com/office/drawing/2014/main" id="{681F4D4C-E64F-C189-C837-6C2631AE35C6}"/>
              </a:ext>
            </a:extLst>
          </p:cNvPr>
          <p:cNvSpPr txBox="1"/>
          <p:nvPr/>
        </p:nvSpPr>
        <p:spPr>
          <a:xfrm>
            <a:off x="8091302" y="4765183"/>
            <a:ext cx="2164375" cy="369332"/>
          </a:xfrm>
          <a:prstGeom prst="rect">
            <a:avLst/>
          </a:prstGeom>
          <a:noFill/>
        </p:spPr>
        <p:txBody>
          <a:bodyPr wrap="none" rtlCol="0">
            <a:spAutoFit/>
          </a:bodyPr>
          <a:lstStyle/>
          <a:p>
            <a:r>
              <a:rPr lang="en-US" dirty="0">
                <a:effectLst/>
                <a:latin typeface="Calibri" panose="020F0502020204030204" pitchFamily="34" charset="0"/>
              </a:rPr>
              <a:t>(-55)</a:t>
            </a:r>
            <a:r>
              <a:rPr lang="en-US" baseline="-25000" dirty="0">
                <a:effectLst/>
                <a:latin typeface="Calibri" panose="020F0502020204030204" pitchFamily="34" charset="0"/>
              </a:rPr>
              <a:t>10</a:t>
            </a:r>
            <a:r>
              <a:rPr lang="en-US" dirty="0">
                <a:effectLst/>
                <a:latin typeface="Calibri" panose="020F0502020204030204" pitchFamily="34" charset="0"/>
              </a:rPr>
              <a:t>= (1100 1001)</a:t>
            </a:r>
            <a:r>
              <a:rPr lang="en-US" baseline="-25000" dirty="0">
                <a:effectLst/>
                <a:latin typeface="Calibri" panose="020F0502020204030204" pitchFamily="34" charset="0"/>
              </a:rPr>
              <a:t>2</a:t>
            </a:r>
          </a:p>
        </p:txBody>
      </p:sp>
    </p:spTree>
    <p:extLst>
      <p:ext uri="{BB962C8B-B14F-4D97-AF65-F5344CB8AC3E}">
        <p14:creationId xmlns:p14="http://schemas.microsoft.com/office/powerpoint/2010/main" val="273540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dissolv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dissolv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ssolve">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80B8D-122E-6010-4EE9-E1E37A21E89C}"/>
              </a:ext>
            </a:extLst>
          </p:cNvPr>
          <p:cNvSpPr>
            <a:spLocks noGrp="1"/>
          </p:cNvSpPr>
          <p:nvPr>
            <p:ph type="title"/>
          </p:nvPr>
        </p:nvSpPr>
        <p:spPr/>
        <p:txBody>
          <a:bodyPr/>
          <a:lstStyle/>
          <a:p>
            <a:r>
              <a:rPr lang="en-US" dirty="0"/>
              <a:t>Sample Question.7</a:t>
            </a:r>
          </a:p>
        </p:txBody>
      </p:sp>
      <p:sp>
        <p:nvSpPr>
          <p:cNvPr id="3" name="Content Placeholder 2">
            <a:extLst>
              <a:ext uri="{FF2B5EF4-FFF2-40B4-BE49-F238E27FC236}">
                <a16:creationId xmlns:a16="http://schemas.microsoft.com/office/drawing/2014/main" id="{21332356-DBE4-6559-14C1-4BE77ACBBCAE}"/>
              </a:ext>
            </a:extLst>
          </p:cNvPr>
          <p:cNvSpPr>
            <a:spLocks noGrp="1"/>
          </p:cNvSpPr>
          <p:nvPr>
            <p:ph idx="1"/>
          </p:nvPr>
        </p:nvSpPr>
        <p:spPr>
          <a:xfrm>
            <a:off x="609600" y="1600200"/>
            <a:ext cx="4786648" cy="4876800"/>
          </a:xfrm>
        </p:spPr>
        <p:txBody>
          <a:bodyPr/>
          <a:lstStyle/>
          <a:p>
            <a:r>
              <a:rPr lang="en-US" dirty="0">
                <a:solidFill>
                  <a:srgbClr val="404040"/>
                </a:solidFill>
                <a:effectLst/>
                <a:latin typeface="Helvetica" pitchFamily="2" charset="0"/>
              </a:rPr>
              <a:t>Suppose A = 0101 and B = 0001. Calculate A</a:t>
            </a:r>
            <a:r>
              <a:rPr lang="en-US" dirty="0">
                <a:effectLst/>
                <a:latin typeface="Calibri" panose="020F0502020204030204" pitchFamily="34" charset="0"/>
              </a:rPr>
              <a:t>-B and show your answer using 4 bits. State whether or not overflow has occurred.</a:t>
            </a:r>
          </a:p>
          <a:p>
            <a:endParaRPr lang="en-US" dirty="0"/>
          </a:p>
          <a:p>
            <a:r>
              <a:rPr lang="en-US" sz="1800" dirty="0"/>
              <a:t>Solution:</a:t>
            </a:r>
          </a:p>
          <a:p>
            <a:r>
              <a:rPr lang="en-US" sz="1800" dirty="0"/>
              <a:t>-B </a:t>
            </a:r>
            <a:r>
              <a:rPr lang="en-US" sz="1800" dirty="0">
                <a:sym typeface="Wingdings" pitchFamily="2" charset="2"/>
              </a:rPr>
              <a:t> 1110 (bitwise inverse) + 1  1111</a:t>
            </a:r>
          </a:p>
          <a:p>
            <a:endParaRPr lang="en-US" dirty="0"/>
          </a:p>
        </p:txBody>
      </p:sp>
      <p:pic>
        <p:nvPicPr>
          <p:cNvPr id="5" name="Picture 4" descr="A line with numbers on it&#10;&#10;Description automatically generated">
            <a:extLst>
              <a:ext uri="{FF2B5EF4-FFF2-40B4-BE49-F238E27FC236}">
                <a16:creationId xmlns:a16="http://schemas.microsoft.com/office/drawing/2014/main" id="{2B0D0C49-5DCD-6F62-873D-878BBC9625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9821" y="1691444"/>
            <a:ext cx="3130446" cy="1344769"/>
          </a:xfrm>
          <a:prstGeom prst="rect">
            <a:avLst/>
          </a:prstGeom>
        </p:spPr>
      </p:pic>
      <p:pic>
        <p:nvPicPr>
          <p:cNvPr id="7" name="Picture 6" descr="A line with numbers and symbols&#10;&#10;Description automatically generated">
            <a:extLst>
              <a:ext uri="{FF2B5EF4-FFF2-40B4-BE49-F238E27FC236}">
                <a16:creationId xmlns:a16="http://schemas.microsoft.com/office/drawing/2014/main" id="{ECB6DA12-318A-6914-8D3E-1FF806163F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09945" y="1629183"/>
            <a:ext cx="3230540" cy="1407030"/>
          </a:xfrm>
          <a:prstGeom prst="rect">
            <a:avLst/>
          </a:prstGeom>
        </p:spPr>
      </p:pic>
      <p:pic>
        <p:nvPicPr>
          <p:cNvPr id="9" name="Picture 8" descr="A line with numbers on it&#10;&#10;Description automatically generated">
            <a:extLst>
              <a:ext uri="{FF2B5EF4-FFF2-40B4-BE49-F238E27FC236}">
                <a16:creationId xmlns:a16="http://schemas.microsoft.com/office/drawing/2014/main" id="{72A52D89-9692-0836-1FE3-F75899F9BD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9727" y="4039633"/>
            <a:ext cx="3230540" cy="1413361"/>
          </a:xfrm>
          <a:prstGeom prst="rect">
            <a:avLst/>
          </a:prstGeom>
        </p:spPr>
      </p:pic>
      <p:pic>
        <p:nvPicPr>
          <p:cNvPr id="11" name="Picture 10">
            <a:extLst>
              <a:ext uri="{FF2B5EF4-FFF2-40B4-BE49-F238E27FC236}">
                <a16:creationId xmlns:a16="http://schemas.microsoft.com/office/drawing/2014/main" id="{706FB713-61AD-B930-B22A-EBD8F96F95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09945" y="4040667"/>
            <a:ext cx="3230540" cy="1411294"/>
          </a:xfrm>
          <a:prstGeom prst="rect">
            <a:avLst/>
          </a:prstGeom>
        </p:spPr>
      </p:pic>
      <p:sp>
        <p:nvSpPr>
          <p:cNvPr id="4" name="TextBox 3">
            <a:extLst>
              <a:ext uri="{FF2B5EF4-FFF2-40B4-BE49-F238E27FC236}">
                <a16:creationId xmlns:a16="http://schemas.microsoft.com/office/drawing/2014/main" id="{CFCA21EF-86D8-CD9A-4D52-78508325CB20}"/>
              </a:ext>
            </a:extLst>
          </p:cNvPr>
          <p:cNvSpPr txBox="1"/>
          <p:nvPr/>
        </p:nvSpPr>
        <p:spPr>
          <a:xfrm>
            <a:off x="9061554" y="5810084"/>
            <a:ext cx="3130446" cy="646331"/>
          </a:xfrm>
          <a:prstGeom prst="rect">
            <a:avLst/>
          </a:prstGeom>
          <a:noFill/>
        </p:spPr>
        <p:txBody>
          <a:bodyPr wrap="square" rtlCol="0">
            <a:spAutoFit/>
          </a:bodyPr>
          <a:lstStyle/>
          <a:p>
            <a:r>
              <a:rPr lang="en-US" dirty="0"/>
              <a:t>Result: 0100</a:t>
            </a:r>
          </a:p>
          <a:p>
            <a:r>
              <a:rPr lang="en-US" dirty="0"/>
              <a:t>Overflow: No</a:t>
            </a:r>
          </a:p>
        </p:txBody>
      </p:sp>
    </p:spTree>
    <p:extLst>
      <p:ext uri="{BB962C8B-B14F-4D97-AF65-F5344CB8AC3E}">
        <p14:creationId xmlns:p14="http://schemas.microsoft.com/office/powerpoint/2010/main" val="296570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checkerboard(across)">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E8800-FC1E-0E3F-8EF5-A765B25C98B7}"/>
              </a:ext>
            </a:extLst>
          </p:cNvPr>
          <p:cNvSpPr>
            <a:spLocks noGrp="1"/>
          </p:cNvSpPr>
          <p:nvPr>
            <p:ph type="title"/>
          </p:nvPr>
        </p:nvSpPr>
        <p:spPr/>
        <p:txBody>
          <a:bodyPr/>
          <a:lstStyle/>
          <a:p>
            <a:r>
              <a:rPr lang="en-US" dirty="0"/>
              <a:t>Sample Question.8</a:t>
            </a:r>
          </a:p>
        </p:txBody>
      </p:sp>
      <p:sp>
        <p:nvSpPr>
          <p:cNvPr id="3" name="Content Placeholder 2">
            <a:extLst>
              <a:ext uri="{FF2B5EF4-FFF2-40B4-BE49-F238E27FC236}">
                <a16:creationId xmlns:a16="http://schemas.microsoft.com/office/drawing/2014/main" id="{CC307F9D-4BCA-C717-D35A-185E3DDA9E75}"/>
              </a:ext>
            </a:extLst>
          </p:cNvPr>
          <p:cNvSpPr>
            <a:spLocks noGrp="1"/>
          </p:cNvSpPr>
          <p:nvPr>
            <p:ph idx="1"/>
          </p:nvPr>
        </p:nvSpPr>
        <p:spPr/>
        <p:txBody>
          <a:bodyPr/>
          <a:lstStyle/>
          <a:p>
            <a:r>
              <a:rPr lang="en-US" b="0" i="0" dirty="0">
                <a:solidFill>
                  <a:srgbClr val="2D3B45"/>
                </a:solidFill>
                <a:effectLst/>
                <a:latin typeface="Lato Extended"/>
              </a:rPr>
              <a:t>Consider the following Karnaugh map. Which of the following equations represents a most simplified sum-of-products equation for F?</a:t>
            </a:r>
            <a:endParaRPr lang="en-US" dirty="0"/>
          </a:p>
        </p:txBody>
      </p:sp>
      <p:pic>
        <p:nvPicPr>
          <p:cNvPr id="7" name="Picture 6" descr="A grid with letters and numbers&#10;&#10;Description automatically generated">
            <a:extLst>
              <a:ext uri="{FF2B5EF4-FFF2-40B4-BE49-F238E27FC236}">
                <a16:creationId xmlns:a16="http://schemas.microsoft.com/office/drawing/2014/main" id="{FF6B501B-A29E-A490-4FF0-E4FD1AD96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009" y="2616199"/>
            <a:ext cx="2226435" cy="2187375"/>
          </a:xfrm>
          <a:prstGeom prst="rect">
            <a:avLst/>
          </a:prstGeom>
        </p:spPr>
      </p:pic>
      <p:pic>
        <p:nvPicPr>
          <p:cNvPr id="9" name="Picture 8" descr="A grid with numbers and letters&#10;&#10;Description automatically generated">
            <a:extLst>
              <a:ext uri="{FF2B5EF4-FFF2-40B4-BE49-F238E27FC236}">
                <a16:creationId xmlns:a16="http://schemas.microsoft.com/office/drawing/2014/main" id="{E98AF5BD-91B2-6FD1-28AB-9C17AE3D1E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5473" y="2616199"/>
            <a:ext cx="2324085" cy="2187374"/>
          </a:xfrm>
          <a:prstGeom prst="rect">
            <a:avLst/>
          </a:prstGeom>
        </p:spPr>
      </p:pic>
      <p:sp>
        <p:nvSpPr>
          <p:cNvPr id="10" name="TextBox 9">
            <a:extLst>
              <a:ext uri="{FF2B5EF4-FFF2-40B4-BE49-F238E27FC236}">
                <a16:creationId xmlns:a16="http://schemas.microsoft.com/office/drawing/2014/main" id="{C00A6A2E-904E-A157-2CBF-16ED5B99E053}"/>
              </a:ext>
            </a:extLst>
          </p:cNvPr>
          <p:cNvSpPr txBox="1"/>
          <p:nvPr/>
        </p:nvSpPr>
        <p:spPr>
          <a:xfrm>
            <a:off x="6773492" y="5086288"/>
            <a:ext cx="2228046" cy="369332"/>
          </a:xfrm>
          <a:prstGeom prst="rect">
            <a:avLst/>
          </a:prstGeom>
          <a:noFill/>
        </p:spPr>
        <p:txBody>
          <a:bodyPr wrap="none" rtlCol="0">
            <a:spAutoFit/>
          </a:bodyPr>
          <a:lstStyle/>
          <a:p>
            <a:r>
              <a:rPr lang="en-US" dirty="0"/>
              <a:t>F = </a:t>
            </a:r>
            <a:r>
              <a:rPr lang="en-US" dirty="0">
                <a:effectLst/>
                <a:latin typeface="Calibri" panose="020F0502020204030204" pitchFamily="34" charset="0"/>
              </a:rPr>
              <a:t>AC’ + AB’ + A’BC</a:t>
            </a:r>
            <a:r>
              <a:rPr lang="en-US" dirty="0"/>
              <a:t>  </a:t>
            </a:r>
          </a:p>
        </p:txBody>
      </p:sp>
    </p:spTree>
    <p:extLst>
      <p:ext uri="{BB962C8B-B14F-4D97-AF65-F5344CB8AC3E}">
        <p14:creationId xmlns:p14="http://schemas.microsoft.com/office/powerpoint/2010/main" val="380248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745F-C26D-AE13-CF75-D8EB68D90337}"/>
              </a:ext>
            </a:extLst>
          </p:cNvPr>
          <p:cNvSpPr>
            <a:spLocks noGrp="1"/>
          </p:cNvSpPr>
          <p:nvPr>
            <p:ph type="title"/>
          </p:nvPr>
        </p:nvSpPr>
        <p:spPr/>
        <p:txBody>
          <a:bodyPr/>
          <a:lstStyle/>
          <a:p>
            <a:r>
              <a:rPr lang="en-US" dirty="0"/>
              <a:t>Sample Question.9</a:t>
            </a:r>
          </a:p>
        </p:txBody>
      </p:sp>
      <p:sp>
        <p:nvSpPr>
          <p:cNvPr id="3" name="Content Placeholder 2">
            <a:extLst>
              <a:ext uri="{FF2B5EF4-FFF2-40B4-BE49-F238E27FC236}">
                <a16:creationId xmlns:a16="http://schemas.microsoft.com/office/drawing/2014/main" id="{18F1D6E1-7094-85FB-B49C-ADF06B778C0B}"/>
              </a:ext>
            </a:extLst>
          </p:cNvPr>
          <p:cNvSpPr>
            <a:spLocks noGrp="1"/>
          </p:cNvSpPr>
          <p:nvPr>
            <p:ph idx="1"/>
          </p:nvPr>
        </p:nvSpPr>
        <p:spPr/>
        <p:txBody>
          <a:bodyPr/>
          <a:lstStyle/>
          <a:p>
            <a:r>
              <a:rPr lang="en-US" dirty="0">
                <a:solidFill>
                  <a:srgbClr val="404040"/>
                </a:solidFill>
                <a:effectLst/>
                <a:latin typeface="Helvetica" pitchFamily="2" charset="0"/>
              </a:rPr>
              <a:t>Label the inputs and outputs of the following 32-bit Arithmetic Logic Unit. Identify how many </a:t>
            </a:r>
            <a:r>
              <a:rPr lang="en-US" dirty="0">
                <a:effectLst/>
                <a:latin typeface="Calibri" panose="020F0502020204030204" pitchFamily="34" charset="0"/>
              </a:rPr>
              <a:t>bits would be used to represent each value.</a:t>
            </a:r>
          </a:p>
          <a:p>
            <a:endParaRPr lang="en-US" dirty="0"/>
          </a:p>
        </p:txBody>
      </p:sp>
      <p:pic>
        <p:nvPicPr>
          <p:cNvPr id="5" name="Picture 4" descr="A diagram of a hexagon with arrows&#10;&#10;Description automatically generated">
            <a:extLst>
              <a:ext uri="{FF2B5EF4-FFF2-40B4-BE49-F238E27FC236}">
                <a16:creationId xmlns:a16="http://schemas.microsoft.com/office/drawing/2014/main" id="{67CA3BEB-F04C-5619-E97E-3EF196ACA9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467722"/>
            <a:ext cx="4723058" cy="2409077"/>
          </a:xfrm>
          <a:prstGeom prst="rect">
            <a:avLst/>
          </a:prstGeom>
        </p:spPr>
      </p:pic>
      <p:pic>
        <p:nvPicPr>
          <p:cNvPr id="7" name="Picture 6" descr="A diagram of a computer&#10;&#10;Description automatically generated">
            <a:extLst>
              <a:ext uri="{FF2B5EF4-FFF2-40B4-BE49-F238E27FC236}">
                <a16:creationId xmlns:a16="http://schemas.microsoft.com/office/drawing/2014/main" id="{613F4FDF-2698-16A8-5F87-B660F1B41D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5042" y="2531221"/>
            <a:ext cx="4637358" cy="2345578"/>
          </a:xfrm>
          <a:prstGeom prst="rect">
            <a:avLst/>
          </a:prstGeom>
        </p:spPr>
      </p:pic>
    </p:spTree>
    <p:extLst>
      <p:ext uri="{BB962C8B-B14F-4D97-AF65-F5344CB8AC3E}">
        <p14:creationId xmlns:p14="http://schemas.microsoft.com/office/powerpoint/2010/main" val="56636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4A4F-6FB6-C30A-EE5A-CD51B10A19B9}"/>
              </a:ext>
            </a:extLst>
          </p:cNvPr>
          <p:cNvSpPr>
            <a:spLocks noGrp="1"/>
          </p:cNvSpPr>
          <p:nvPr>
            <p:ph type="title"/>
          </p:nvPr>
        </p:nvSpPr>
        <p:spPr/>
        <p:txBody>
          <a:bodyPr/>
          <a:lstStyle/>
          <a:p>
            <a:r>
              <a:rPr lang="en-US" dirty="0"/>
              <a:t>Sample Question.10</a:t>
            </a:r>
          </a:p>
        </p:txBody>
      </p:sp>
      <p:sp>
        <p:nvSpPr>
          <p:cNvPr id="3" name="Content Placeholder 2">
            <a:extLst>
              <a:ext uri="{FF2B5EF4-FFF2-40B4-BE49-F238E27FC236}">
                <a16:creationId xmlns:a16="http://schemas.microsoft.com/office/drawing/2014/main" id="{5405923E-868D-EEF1-0CD9-C4303FC7C07A}"/>
              </a:ext>
            </a:extLst>
          </p:cNvPr>
          <p:cNvSpPr>
            <a:spLocks noGrp="1"/>
          </p:cNvSpPr>
          <p:nvPr>
            <p:ph idx="1"/>
          </p:nvPr>
        </p:nvSpPr>
        <p:spPr>
          <a:xfrm>
            <a:off x="609600" y="1600200"/>
            <a:ext cx="5486400" cy="3023315"/>
          </a:xfrm>
        </p:spPr>
        <p:txBody>
          <a:bodyPr/>
          <a:lstStyle/>
          <a:p>
            <a:r>
              <a:rPr lang="en-US" dirty="0">
                <a:latin typeface="Arial" panose="020B0604020202020204" pitchFamily="34" charset="0"/>
                <a:cs typeface="Courier New" panose="02070309020205020404" pitchFamily="49" charset="0"/>
              </a:rPr>
              <a:t>M</a:t>
            </a:r>
            <a:r>
              <a:rPr lang="en-US" sz="2400" dirty="0">
                <a:latin typeface="Arial" panose="020B0604020202020204" pitchFamily="34" charset="0"/>
                <a:cs typeface="Courier New" panose="02070309020205020404" pitchFamily="49" charset="0"/>
              </a:rPr>
              <a:t>ultiply 2</a:t>
            </a:r>
            <a:r>
              <a:rPr lang="en-US" sz="2400" b="1" dirty="0">
                <a:latin typeface="Arial" panose="020B0604020202020204" pitchFamily="34" charset="0"/>
                <a:cs typeface="Courier New" panose="02070309020205020404" pitchFamily="49" charset="0"/>
              </a:rPr>
              <a:t> x -5</a:t>
            </a:r>
            <a:r>
              <a:rPr lang="en-US" sz="2400" dirty="0">
                <a:latin typeface="Arial" panose="020B0604020202020204" pitchFamily="34" charset="0"/>
                <a:cs typeface="Courier New" panose="02070309020205020404" pitchFamily="49" charset="0"/>
              </a:rPr>
              <a:t> using Booth’s algorithm. Use 4-bit for multiplicand (2) and multiplier (-5).</a:t>
            </a:r>
          </a:p>
          <a:p>
            <a:endParaRPr lang="en-US" dirty="0">
              <a:latin typeface="Arial" panose="020B0604020202020204" pitchFamily="34" charset="0"/>
              <a:cs typeface="Courier New" panose="02070309020205020404" pitchFamily="49" charset="0"/>
            </a:endParaRPr>
          </a:p>
          <a:p>
            <a:r>
              <a:rPr lang="en-US" dirty="0"/>
              <a:t>Multiplier: 1011</a:t>
            </a:r>
          </a:p>
          <a:p>
            <a:r>
              <a:rPr lang="en-US" dirty="0"/>
              <a:t>Multiplicand: 0010</a:t>
            </a:r>
          </a:p>
          <a:p>
            <a:r>
              <a:rPr lang="en-US" dirty="0"/>
              <a:t>-Multiplicand: ?</a:t>
            </a:r>
          </a:p>
        </p:txBody>
      </p:sp>
      <p:pic>
        <p:nvPicPr>
          <p:cNvPr id="5" name="Picture 4" descr="A screenshot of a document&#10;&#10;Description automatically generated">
            <a:extLst>
              <a:ext uri="{FF2B5EF4-FFF2-40B4-BE49-F238E27FC236}">
                <a16:creationId xmlns:a16="http://schemas.microsoft.com/office/drawing/2014/main" id="{BDA437C7-E4A6-882D-AC61-7F5B9A690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557" y="1223492"/>
            <a:ext cx="4838573" cy="5364945"/>
          </a:xfrm>
          <a:prstGeom prst="rect">
            <a:avLst/>
          </a:prstGeom>
        </p:spPr>
      </p:pic>
      <p:sp>
        <p:nvSpPr>
          <p:cNvPr id="6" name="Rectangle 5">
            <a:extLst>
              <a:ext uri="{FF2B5EF4-FFF2-40B4-BE49-F238E27FC236}">
                <a16:creationId xmlns:a16="http://schemas.microsoft.com/office/drawing/2014/main" id="{5D419421-32BE-6621-32D6-99AC59C132C3}"/>
              </a:ext>
            </a:extLst>
          </p:cNvPr>
          <p:cNvSpPr/>
          <p:nvPr/>
        </p:nvSpPr>
        <p:spPr>
          <a:xfrm>
            <a:off x="7456869" y="1700011"/>
            <a:ext cx="772731" cy="1545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FFA85B5-57BB-5DC1-2B5A-1F3D68BB1A7D}"/>
              </a:ext>
            </a:extLst>
          </p:cNvPr>
          <p:cNvSpPr txBox="1"/>
          <p:nvPr/>
        </p:nvSpPr>
        <p:spPr>
          <a:xfrm>
            <a:off x="7386255" y="1592618"/>
            <a:ext cx="1257588" cy="369332"/>
          </a:xfrm>
          <a:prstGeom prst="rect">
            <a:avLst/>
          </a:prstGeom>
          <a:noFill/>
        </p:spPr>
        <p:txBody>
          <a:bodyPr wrap="none" rtlCol="0">
            <a:spAutoFit/>
          </a:bodyPr>
          <a:lstStyle/>
          <a:p>
            <a:r>
              <a:rPr lang="en-US" dirty="0"/>
              <a:t>0000 1011</a:t>
            </a:r>
          </a:p>
        </p:txBody>
      </p:sp>
      <p:sp>
        <p:nvSpPr>
          <p:cNvPr id="8" name="TextBox 7">
            <a:extLst>
              <a:ext uri="{FF2B5EF4-FFF2-40B4-BE49-F238E27FC236}">
                <a16:creationId xmlns:a16="http://schemas.microsoft.com/office/drawing/2014/main" id="{6A401B35-124B-DCEE-1D61-A95236206F3A}"/>
              </a:ext>
            </a:extLst>
          </p:cNvPr>
          <p:cNvSpPr txBox="1"/>
          <p:nvPr/>
        </p:nvSpPr>
        <p:spPr>
          <a:xfrm>
            <a:off x="706721" y="5257800"/>
            <a:ext cx="2285626" cy="369332"/>
          </a:xfrm>
          <a:prstGeom prst="rect">
            <a:avLst/>
          </a:prstGeom>
          <a:noFill/>
        </p:spPr>
        <p:txBody>
          <a:bodyPr wrap="none" rtlCol="0">
            <a:spAutoFit/>
          </a:bodyPr>
          <a:lstStyle/>
          <a:p>
            <a:r>
              <a:rPr lang="en-US" dirty="0"/>
              <a:t>-Multiplicand =  1110</a:t>
            </a:r>
          </a:p>
        </p:txBody>
      </p:sp>
      <p:sp>
        <p:nvSpPr>
          <p:cNvPr id="9" name="TextBox 8">
            <a:extLst>
              <a:ext uri="{FF2B5EF4-FFF2-40B4-BE49-F238E27FC236}">
                <a16:creationId xmlns:a16="http://schemas.microsoft.com/office/drawing/2014/main" id="{AA074527-0B84-C7D1-6141-05658298A487}"/>
              </a:ext>
            </a:extLst>
          </p:cNvPr>
          <p:cNvSpPr txBox="1"/>
          <p:nvPr/>
        </p:nvSpPr>
        <p:spPr>
          <a:xfrm>
            <a:off x="837127" y="4888468"/>
            <a:ext cx="1082348" cy="369332"/>
          </a:xfrm>
          <a:prstGeom prst="rect">
            <a:avLst/>
          </a:prstGeom>
          <a:noFill/>
        </p:spPr>
        <p:txBody>
          <a:bodyPr wrap="none" rtlCol="0">
            <a:spAutoFit/>
          </a:bodyPr>
          <a:lstStyle/>
          <a:p>
            <a:r>
              <a:rPr lang="en-US" dirty="0"/>
              <a:t>Solution:</a:t>
            </a:r>
          </a:p>
        </p:txBody>
      </p:sp>
      <p:sp>
        <p:nvSpPr>
          <p:cNvPr id="10" name="TextBox 9">
            <a:extLst>
              <a:ext uri="{FF2B5EF4-FFF2-40B4-BE49-F238E27FC236}">
                <a16:creationId xmlns:a16="http://schemas.microsoft.com/office/drawing/2014/main" id="{9EC36259-85F8-4343-E3A2-48D405AA0B4E}"/>
              </a:ext>
            </a:extLst>
          </p:cNvPr>
          <p:cNvSpPr txBox="1"/>
          <p:nvPr/>
        </p:nvSpPr>
        <p:spPr>
          <a:xfrm>
            <a:off x="7455057" y="1988781"/>
            <a:ext cx="1223348" cy="369332"/>
          </a:xfrm>
          <a:prstGeom prst="rect">
            <a:avLst/>
          </a:prstGeom>
          <a:noFill/>
        </p:spPr>
        <p:txBody>
          <a:bodyPr wrap="none" rtlCol="0">
            <a:spAutoFit/>
          </a:bodyPr>
          <a:lstStyle/>
          <a:p>
            <a:r>
              <a:rPr lang="en-US" dirty="0"/>
              <a:t>1110 1011</a:t>
            </a:r>
          </a:p>
        </p:txBody>
      </p:sp>
      <p:sp>
        <p:nvSpPr>
          <p:cNvPr id="11" name="TextBox 10">
            <a:extLst>
              <a:ext uri="{FF2B5EF4-FFF2-40B4-BE49-F238E27FC236}">
                <a16:creationId xmlns:a16="http://schemas.microsoft.com/office/drawing/2014/main" id="{8474BE70-8229-C22A-E6FC-A167B86F5661}"/>
              </a:ext>
            </a:extLst>
          </p:cNvPr>
          <p:cNvSpPr txBox="1"/>
          <p:nvPr/>
        </p:nvSpPr>
        <p:spPr>
          <a:xfrm>
            <a:off x="7455057" y="2544650"/>
            <a:ext cx="1223348" cy="369332"/>
          </a:xfrm>
          <a:prstGeom prst="rect">
            <a:avLst/>
          </a:prstGeom>
          <a:noFill/>
        </p:spPr>
        <p:txBody>
          <a:bodyPr wrap="none" rtlCol="0">
            <a:spAutoFit/>
          </a:bodyPr>
          <a:lstStyle/>
          <a:p>
            <a:r>
              <a:rPr lang="en-US" dirty="0"/>
              <a:t>1111 0101</a:t>
            </a:r>
          </a:p>
        </p:txBody>
      </p:sp>
      <p:sp>
        <p:nvSpPr>
          <p:cNvPr id="12" name="TextBox 11">
            <a:extLst>
              <a:ext uri="{FF2B5EF4-FFF2-40B4-BE49-F238E27FC236}">
                <a16:creationId xmlns:a16="http://schemas.microsoft.com/office/drawing/2014/main" id="{E5A6A0B8-AE0B-F3E7-6524-1A1EA8CCB72A}"/>
              </a:ext>
            </a:extLst>
          </p:cNvPr>
          <p:cNvSpPr txBox="1"/>
          <p:nvPr/>
        </p:nvSpPr>
        <p:spPr>
          <a:xfrm>
            <a:off x="7455057" y="3134498"/>
            <a:ext cx="1223348" cy="369332"/>
          </a:xfrm>
          <a:prstGeom prst="rect">
            <a:avLst/>
          </a:prstGeom>
          <a:noFill/>
        </p:spPr>
        <p:txBody>
          <a:bodyPr wrap="none" rtlCol="0">
            <a:spAutoFit/>
          </a:bodyPr>
          <a:lstStyle/>
          <a:p>
            <a:r>
              <a:rPr lang="en-US" dirty="0"/>
              <a:t>1111 0101</a:t>
            </a:r>
          </a:p>
        </p:txBody>
      </p:sp>
      <p:sp>
        <p:nvSpPr>
          <p:cNvPr id="13" name="TextBox 12">
            <a:extLst>
              <a:ext uri="{FF2B5EF4-FFF2-40B4-BE49-F238E27FC236}">
                <a16:creationId xmlns:a16="http://schemas.microsoft.com/office/drawing/2014/main" id="{90124B8C-1323-916A-F42B-422BD526A50B}"/>
              </a:ext>
            </a:extLst>
          </p:cNvPr>
          <p:cNvSpPr txBox="1"/>
          <p:nvPr/>
        </p:nvSpPr>
        <p:spPr>
          <a:xfrm>
            <a:off x="7455057" y="3686886"/>
            <a:ext cx="1223348" cy="369332"/>
          </a:xfrm>
          <a:prstGeom prst="rect">
            <a:avLst/>
          </a:prstGeom>
          <a:noFill/>
        </p:spPr>
        <p:txBody>
          <a:bodyPr wrap="none" rtlCol="0">
            <a:spAutoFit/>
          </a:bodyPr>
          <a:lstStyle/>
          <a:p>
            <a:r>
              <a:rPr lang="en-US" dirty="0"/>
              <a:t>1111 1010</a:t>
            </a:r>
          </a:p>
        </p:txBody>
      </p:sp>
      <p:sp>
        <p:nvSpPr>
          <p:cNvPr id="14" name="Rectangle 13">
            <a:extLst>
              <a:ext uri="{FF2B5EF4-FFF2-40B4-BE49-F238E27FC236}">
                <a16:creationId xmlns:a16="http://schemas.microsoft.com/office/drawing/2014/main" id="{A8B7A339-6773-40DC-B24B-CBF5A943D618}"/>
              </a:ext>
            </a:extLst>
          </p:cNvPr>
          <p:cNvSpPr/>
          <p:nvPr/>
        </p:nvSpPr>
        <p:spPr>
          <a:xfrm>
            <a:off x="10161431" y="4378817"/>
            <a:ext cx="695459" cy="2446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E83B26B-14E6-A4C4-B47A-232BF2E2283B}"/>
              </a:ext>
            </a:extLst>
          </p:cNvPr>
          <p:cNvSpPr txBox="1"/>
          <p:nvPr/>
        </p:nvSpPr>
        <p:spPr>
          <a:xfrm>
            <a:off x="10093216" y="4316500"/>
            <a:ext cx="503664" cy="307777"/>
          </a:xfrm>
          <a:prstGeom prst="rect">
            <a:avLst/>
          </a:prstGeom>
          <a:noFill/>
        </p:spPr>
        <p:txBody>
          <a:bodyPr wrap="none" rtlCol="0">
            <a:spAutoFit/>
          </a:bodyPr>
          <a:lstStyle/>
          <a:p>
            <a:r>
              <a:rPr lang="en-US" sz="1400" dirty="0"/>
              <a:t>Add</a:t>
            </a:r>
          </a:p>
        </p:txBody>
      </p:sp>
      <p:sp>
        <p:nvSpPr>
          <p:cNvPr id="16" name="TextBox 15">
            <a:extLst>
              <a:ext uri="{FF2B5EF4-FFF2-40B4-BE49-F238E27FC236}">
                <a16:creationId xmlns:a16="http://schemas.microsoft.com/office/drawing/2014/main" id="{FBE78C8A-D857-30BF-7D17-F7310A5E8E40}"/>
              </a:ext>
            </a:extLst>
          </p:cNvPr>
          <p:cNvSpPr txBox="1"/>
          <p:nvPr/>
        </p:nvSpPr>
        <p:spPr>
          <a:xfrm>
            <a:off x="7521533" y="4285722"/>
            <a:ext cx="1274708" cy="369332"/>
          </a:xfrm>
          <a:prstGeom prst="rect">
            <a:avLst/>
          </a:prstGeom>
          <a:noFill/>
        </p:spPr>
        <p:txBody>
          <a:bodyPr wrap="none" rtlCol="0">
            <a:spAutoFit/>
          </a:bodyPr>
          <a:lstStyle/>
          <a:p>
            <a:r>
              <a:rPr lang="en-US" dirty="0"/>
              <a:t>0001 1010</a:t>
            </a:r>
          </a:p>
        </p:txBody>
      </p:sp>
      <p:sp>
        <p:nvSpPr>
          <p:cNvPr id="17" name="TextBox 16">
            <a:extLst>
              <a:ext uri="{FF2B5EF4-FFF2-40B4-BE49-F238E27FC236}">
                <a16:creationId xmlns:a16="http://schemas.microsoft.com/office/drawing/2014/main" id="{37E75F8C-D4DC-8D38-FCC3-9C01AA8904DB}"/>
              </a:ext>
            </a:extLst>
          </p:cNvPr>
          <p:cNvSpPr txBox="1"/>
          <p:nvPr/>
        </p:nvSpPr>
        <p:spPr>
          <a:xfrm>
            <a:off x="7521533" y="4838110"/>
            <a:ext cx="1257588" cy="369332"/>
          </a:xfrm>
          <a:prstGeom prst="rect">
            <a:avLst/>
          </a:prstGeom>
          <a:noFill/>
        </p:spPr>
        <p:txBody>
          <a:bodyPr wrap="none" rtlCol="0">
            <a:spAutoFit/>
          </a:bodyPr>
          <a:lstStyle/>
          <a:p>
            <a:r>
              <a:rPr lang="en-US" dirty="0"/>
              <a:t>0000 1101</a:t>
            </a:r>
          </a:p>
        </p:txBody>
      </p:sp>
      <p:sp>
        <p:nvSpPr>
          <p:cNvPr id="18" name="TextBox 17">
            <a:extLst>
              <a:ext uri="{FF2B5EF4-FFF2-40B4-BE49-F238E27FC236}">
                <a16:creationId xmlns:a16="http://schemas.microsoft.com/office/drawing/2014/main" id="{953D8831-D804-D908-4638-121BC21C8FDF}"/>
              </a:ext>
            </a:extLst>
          </p:cNvPr>
          <p:cNvSpPr txBox="1"/>
          <p:nvPr/>
        </p:nvSpPr>
        <p:spPr>
          <a:xfrm>
            <a:off x="7538653" y="5358438"/>
            <a:ext cx="1223348" cy="369332"/>
          </a:xfrm>
          <a:prstGeom prst="rect">
            <a:avLst/>
          </a:prstGeom>
          <a:noFill/>
        </p:spPr>
        <p:txBody>
          <a:bodyPr wrap="none" rtlCol="0">
            <a:spAutoFit/>
          </a:bodyPr>
          <a:lstStyle/>
          <a:p>
            <a:r>
              <a:rPr lang="en-US" dirty="0"/>
              <a:t>1110 1101</a:t>
            </a:r>
          </a:p>
        </p:txBody>
      </p:sp>
      <p:sp>
        <p:nvSpPr>
          <p:cNvPr id="19" name="TextBox 18">
            <a:extLst>
              <a:ext uri="{FF2B5EF4-FFF2-40B4-BE49-F238E27FC236}">
                <a16:creationId xmlns:a16="http://schemas.microsoft.com/office/drawing/2014/main" id="{EFD796AC-9861-16D9-0C9A-FC26CC637F62}"/>
              </a:ext>
            </a:extLst>
          </p:cNvPr>
          <p:cNvSpPr txBox="1"/>
          <p:nvPr/>
        </p:nvSpPr>
        <p:spPr>
          <a:xfrm>
            <a:off x="7521533" y="5955268"/>
            <a:ext cx="1206228" cy="369332"/>
          </a:xfrm>
          <a:prstGeom prst="rect">
            <a:avLst/>
          </a:prstGeom>
          <a:noFill/>
        </p:spPr>
        <p:txBody>
          <a:bodyPr wrap="none" rtlCol="0">
            <a:spAutoFit/>
          </a:bodyPr>
          <a:lstStyle/>
          <a:p>
            <a:r>
              <a:rPr lang="en-US" dirty="0"/>
              <a:t>1111 0110</a:t>
            </a:r>
          </a:p>
        </p:txBody>
      </p:sp>
      <p:sp>
        <p:nvSpPr>
          <p:cNvPr id="20" name="TextBox 19">
            <a:extLst>
              <a:ext uri="{FF2B5EF4-FFF2-40B4-BE49-F238E27FC236}">
                <a16:creationId xmlns:a16="http://schemas.microsoft.com/office/drawing/2014/main" id="{290A1322-8D5E-9795-B3BE-057796354B9C}"/>
              </a:ext>
            </a:extLst>
          </p:cNvPr>
          <p:cNvSpPr txBox="1"/>
          <p:nvPr/>
        </p:nvSpPr>
        <p:spPr>
          <a:xfrm>
            <a:off x="6941214" y="4316500"/>
            <a:ext cx="532518" cy="307777"/>
          </a:xfrm>
          <a:prstGeom prst="rect">
            <a:avLst/>
          </a:prstGeom>
          <a:noFill/>
        </p:spPr>
        <p:txBody>
          <a:bodyPr wrap="none" rtlCol="0">
            <a:spAutoFit/>
          </a:bodyPr>
          <a:lstStyle/>
          <a:p>
            <a:r>
              <a:rPr lang="en-US" sz="1400" b="1" dirty="0"/>
              <a:t>3.01</a:t>
            </a:r>
          </a:p>
        </p:txBody>
      </p:sp>
      <p:sp>
        <p:nvSpPr>
          <p:cNvPr id="22" name="TextBox 21">
            <a:extLst>
              <a:ext uri="{FF2B5EF4-FFF2-40B4-BE49-F238E27FC236}">
                <a16:creationId xmlns:a16="http://schemas.microsoft.com/office/drawing/2014/main" id="{95081B89-6C3A-AD9A-BFA3-113BCC8201F8}"/>
              </a:ext>
            </a:extLst>
          </p:cNvPr>
          <p:cNvSpPr txBox="1"/>
          <p:nvPr/>
        </p:nvSpPr>
        <p:spPr>
          <a:xfrm>
            <a:off x="9479430" y="4848896"/>
            <a:ext cx="428816" cy="369332"/>
          </a:xfrm>
          <a:prstGeom prst="rect">
            <a:avLst/>
          </a:prstGeom>
          <a:noFill/>
        </p:spPr>
        <p:txBody>
          <a:bodyPr wrap="square" rtlCol="0">
            <a:spAutoFit/>
          </a:bodyPr>
          <a:lstStyle/>
          <a:p>
            <a:r>
              <a:rPr lang="en-US" b="1" dirty="0"/>
              <a:t>0</a:t>
            </a:r>
          </a:p>
        </p:txBody>
      </p:sp>
      <p:sp>
        <p:nvSpPr>
          <p:cNvPr id="23" name="TextBox 22">
            <a:extLst>
              <a:ext uri="{FF2B5EF4-FFF2-40B4-BE49-F238E27FC236}">
                <a16:creationId xmlns:a16="http://schemas.microsoft.com/office/drawing/2014/main" id="{8C67D640-9C87-95DE-AC20-B781F96514B1}"/>
              </a:ext>
            </a:extLst>
          </p:cNvPr>
          <p:cNvSpPr txBox="1"/>
          <p:nvPr/>
        </p:nvSpPr>
        <p:spPr>
          <a:xfrm>
            <a:off x="10074942" y="5326731"/>
            <a:ext cx="1043876" cy="307777"/>
          </a:xfrm>
          <a:prstGeom prst="rect">
            <a:avLst/>
          </a:prstGeom>
          <a:noFill/>
        </p:spPr>
        <p:txBody>
          <a:bodyPr wrap="square" rtlCol="0">
            <a:spAutoFit/>
          </a:bodyPr>
          <a:lstStyle/>
          <a:p>
            <a:r>
              <a:rPr lang="en-US" sz="1400" dirty="0"/>
              <a:t>Subtract</a:t>
            </a:r>
          </a:p>
        </p:txBody>
      </p:sp>
      <p:sp>
        <p:nvSpPr>
          <p:cNvPr id="24" name="Rectangle 23">
            <a:extLst>
              <a:ext uri="{FF2B5EF4-FFF2-40B4-BE49-F238E27FC236}">
                <a16:creationId xmlns:a16="http://schemas.microsoft.com/office/drawing/2014/main" id="{00275CEC-1196-ED54-538D-CBA6B83B4B6A}"/>
              </a:ext>
            </a:extLst>
          </p:cNvPr>
          <p:cNvSpPr/>
          <p:nvPr/>
        </p:nvSpPr>
        <p:spPr>
          <a:xfrm>
            <a:off x="10161431" y="5568862"/>
            <a:ext cx="695459" cy="1846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12482C78-538A-9FE0-90D3-CD8F6E43F809}"/>
              </a:ext>
            </a:extLst>
          </p:cNvPr>
          <p:cNvSpPr txBox="1"/>
          <p:nvPr/>
        </p:nvSpPr>
        <p:spPr>
          <a:xfrm>
            <a:off x="3456793" y="6072251"/>
            <a:ext cx="2424062" cy="369332"/>
          </a:xfrm>
          <a:prstGeom prst="rect">
            <a:avLst/>
          </a:prstGeom>
          <a:noFill/>
        </p:spPr>
        <p:txBody>
          <a:bodyPr wrap="none" rtlCol="0">
            <a:spAutoFit/>
          </a:bodyPr>
          <a:lstStyle/>
          <a:p>
            <a:r>
              <a:rPr lang="en-US" dirty="0"/>
              <a:t>(0000 1001)</a:t>
            </a:r>
            <a:r>
              <a:rPr lang="en-US" baseline="-25000" dirty="0"/>
              <a:t>2</a:t>
            </a:r>
            <a:r>
              <a:rPr lang="en-US" dirty="0"/>
              <a:t> + 1 = 10</a:t>
            </a:r>
          </a:p>
        </p:txBody>
      </p:sp>
    </p:spTree>
    <p:extLst>
      <p:ext uri="{BB962C8B-B14F-4D97-AF65-F5344CB8AC3E}">
        <p14:creationId xmlns:p14="http://schemas.microsoft.com/office/powerpoint/2010/main" val="182404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ssolv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dissolv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6" grpId="0"/>
      <p:bldP spid="17" grpId="0"/>
      <p:bldP spid="18" grpId="0"/>
      <p:bldP spid="19"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D9B0-4494-4C14-ACA2-0C38687AFB34}"/>
              </a:ext>
            </a:extLst>
          </p:cNvPr>
          <p:cNvSpPr>
            <a:spLocks noGrp="1"/>
          </p:cNvSpPr>
          <p:nvPr>
            <p:ph type="title"/>
          </p:nvPr>
        </p:nvSpPr>
        <p:spPr/>
        <p:txBody>
          <a:bodyPr/>
          <a:lstStyle/>
          <a:p>
            <a:r>
              <a:rPr lang="en-US" dirty="0"/>
              <a:t>Sample Question.11</a:t>
            </a:r>
          </a:p>
        </p:txBody>
      </p:sp>
      <p:sp>
        <p:nvSpPr>
          <p:cNvPr id="3" name="Content Placeholder 2">
            <a:extLst>
              <a:ext uri="{FF2B5EF4-FFF2-40B4-BE49-F238E27FC236}">
                <a16:creationId xmlns:a16="http://schemas.microsoft.com/office/drawing/2014/main" id="{1363F73B-12A9-7748-EAE4-771DAAE62CB8}"/>
              </a:ext>
            </a:extLst>
          </p:cNvPr>
          <p:cNvSpPr>
            <a:spLocks noGrp="1"/>
          </p:cNvSpPr>
          <p:nvPr>
            <p:ph idx="1"/>
          </p:nvPr>
        </p:nvSpPr>
        <p:spPr>
          <a:xfrm>
            <a:off x="609599" y="1447800"/>
            <a:ext cx="7001815" cy="4876800"/>
          </a:xfrm>
        </p:spPr>
        <p:txBody>
          <a:bodyPr>
            <a:normAutofit/>
          </a:bodyPr>
          <a:lstStyle/>
          <a:p>
            <a:pPr algn="l"/>
            <a:r>
              <a:rPr lang="en-US" sz="1400" b="0" i="0" dirty="0">
                <a:solidFill>
                  <a:srgbClr val="2D3B45"/>
                </a:solidFill>
                <a:effectLst/>
                <a:latin typeface="Lato Extended"/>
              </a:rPr>
              <a:t>Automatic Light with Motion Detection</a:t>
            </a:r>
          </a:p>
          <a:p>
            <a:pPr algn="l"/>
            <a:r>
              <a:rPr lang="en-US" sz="1400" b="0" i="0" dirty="0">
                <a:solidFill>
                  <a:srgbClr val="2D3B45"/>
                </a:solidFill>
                <a:effectLst/>
                <a:latin typeface="Lato Extended"/>
              </a:rPr>
              <a:t>Consider the design of an automatic outdoor light for a house.  This light will be on if there is not enough light to see by otherwise or if motion is detected near the light.  This requires two sensors: a motion sensor and a daylight sensor.  The light can also be turned on and off by a light switch.</a:t>
            </a:r>
          </a:p>
          <a:p>
            <a:pPr algn="l"/>
            <a:r>
              <a:rPr lang="en-US" sz="1400" b="0" i="0" dirty="0">
                <a:solidFill>
                  <a:srgbClr val="2D3B45"/>
                </a:solidFill>
                <a:effectLst/>
                <a:latin typeface="Lato Extended"/>
              </a:rPr>
              <a:t>The basic operation of the light and the inputs and outputs of the controller are shown below.</a:t>
            </a:r>
          </a:p>
          <a:p>
            <a:pPr algn="l"/>
            <a:r>
              <a:rPr lang="en-US" sz="1400" b="0" i="0" dirty="0">
                <a:solidFill>
                  <a:srgbClr val="2D3B45"/>
                </a:solidFill>
                <a:effectLst/>
                <a:latin typeface="Lato Extended"/>
              </a:rPr>
              <a:t>The inputs and outputs are:</a:t>
            </a:r>
            <a:br>
              <a:rPr lang="en-US" sz="1400" b="0" i="0" dirty="0">
                <a:solidFill>
                  <a:srgbClr val="2D3B45"/>
                </a:solidFill>
                <a:effectLst/>
                <a:latin typeface="Lato Extended"/>
              </a:rPr>
            </a:br>
            <a:r>
              <a:rPr lang="en-US" sz="1400" b="0" i="0" dirty="0">
                <a:solidFill>
                  <a:srgbClr val="2D3B45"/>
                </a:solidFill>
                <a:effectLst/>
                <a:latin typeface="Lato Extended"/>
              </a:rPr>
              <a:t>                L = Light (1 = On, 0 = Off)</a:t>
            </a:r>
            <a:br>
              <a:rPr lang="en-US" sz="1400" b="0" i="0" dirty="0">
                <a:solidFill>
                  <a:srgbClr val="2D3B45"/>
                </a:solidFill>
                <a:effectLst/>
                <a:latin typeface="Lato Extended"/>
              </a:rPr>
            </a:br>
            <a:r>
              <a:rPr lang="en-US" sz="1400" b="0" i="0" dirty="0">
                <a:solidFill>
                  <a:srgbClr val="2D3B45"/>
                </a:solidFill>
                <a:effectLst/>
                <a:latin typeface="Lato Extended"/>
              </a:rPr>
              <a:t>                D = Daylight Sensor (1 = do not need light, 0 = dark, light is required)</a:t>
            </a:r>
            <a:br>
              <a:rPr lang="en-US" sz="1400" b="0" i="0" dirty="0">
                <a:solidFill>
                  <a:srgbClr val="2D3B45"/>
                </a:solidFill>
                <a:effectLst/>
                <a:latin typeface="Lato Extended"/>
              </a:rPr>
            </a:br>
            <a:r>
              <a:rPr lang="en-US" sz="1400" b="0" i="0" dirty="0">
                <a:solidFill>
                  <a:srgbClr val="2D3B45"/>
                </a:solidFill>
                <a:effectLst/>
                <a:latin typeface="Lato Extended"/>
              </a:rPr>
              <a:t>                M = Motion Detector (1 = Motion Detected, 0 = No Motion Detected)</a:t>
            </a:r>
            <a:br>
              <a:rPr lang="en-US" sz="1400" b="0" i="0" dirty="0">
                <a:solidFill>
                  <a:srgbClr val="2D3B45"/>
                </a:solidFill>
                <a:effectLst/>
                <a:latin typeface="Lato Extended"/>
              </a:rPr>
            </a:br>
            <a:r>
              <a:rPr lang="en-US" sz="1400" b="0" i="0" dirty="0">
                <a:solidFill>
                  <a:srgbClr val="2D3B45"/>
                </a:solidFill>
                <a:effectLst/>
                <a:latin typeface="Lato Extended"/>
              </a:rPr>
              <a:t>                S = Active switch (1 = light is on manually, 0 = light is off, rely on sensors)</a:t>
            </a:r>
          </a:p>
          <a:p>
            <a:pPr algn="l"/>
            <a:r>
              <a:rPr lang="en-US" sz="1400" b="0" i="0" dirty="0">
                <a:solidFill>
                  <a:srgbClr val="2D3B45"/>
                </a:solidFill>
                <a:effectLst/>
                <a:latin typeface="Lato Extended"/>
              </a:rPr>
              <a:t>The basic operation of the alarm can be described as:</a:t>
            </a:r>
            <a:br>
              <a:rPr lang="en-US" sz="1400" b="0" i="0" dirty="0">
                <a:solidFill>
                  <a:srgbClr val="2D3B45"/>
                </a:solidFill>
                <a:effectLst/>
                <a:latin typeface="Lato Extended"/>
              </a:rPr>
            </a:br>
            <a:r>
              <a:rPr lang="en-US" sz="1400" b="0" i="0" dirty="0">
                <a:solidFill>
                  <a:srgbClr val="2D3B45"/>
                </a:solidFill>
                <a:effectLst/>
                <a:latin typeface="Lato Extended"/>
              </a:rPr>
              <a:t>                If active switch is off, check daylight sensor and motion detector.</a:t>
            </a:r>
            <a:br>
              <a:rPr lang="en-US" sz="1400" b="0" i="0" dirty="0">
                <a:solidFill>
                  <a:srgbClr val="2D3B45"/>
                </a:solidFill>
                <a:effectLst/>
                <a:latin typeface="Lato Extended"/>
              </a:rPr>
            </a:br>
            <a:r>
              <a:rPr lang="en-US" sz="1400" b="0" i="0" dirty="0">
                <a:solidFill>
                  <a:srgbClr val="2D3B45"/>
                </a:solidFill>
                <a:effectLst/>
                <a:latin typeface="Lato Extended"/>
              </a:rPr>
              <a:t>                If daylight sensor is “dark” (W=0) or motion detector detects motion (M=1), turn on lights (L=1).</a:t>
            </a:r>
          </a:p>
          <a:p>
            <a:endParaRPr lang="en-US" sz="1400" dirty="0"/>
          </a:p>
        </p:txBody>
      </p:sp>
      <p:pic>
        <p:nvPicPr>
          <p:cNvPr id="5" name="Picture 4" descr="A white rectangular grid with black text&#10;&#10;Description automatically generated with medium confidence">
            <a:extLst>
              <a:ext uri="{FF2B5EF4-FFF2-40B4-BE49-F238E27FC236}">
                <a16:creationId xmlns:a16="http://schemas.microsoft.com/office/drawing/2014/main" id="{6DAF932A-D7BD-9354-0BE6-A621B994BC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1414" y="1524000"/>
            <a:ext cx="4229547" cy="3690029"/>
          </a:xfrm>
          <a:prstGeom prst="rect">
            <a:avLst/>
          </a:prstGeom>
        </p:spPr>
      </p:pic>
    </p:spTree>
    <p:extLst>
      <p:ext uri="{BB962C8B-B14F-4D97-AF65-F5344CB8AC3E}">
        <p14:creationId xmlns:p14="http://schemas.microsoft.com/office/powerpoint/2010/main" val="7209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C7685-7DA8-40EB-CDAE-F7140E87DEC9}"/>
              </a:ext>
            </a:extLst>
          </p:cNvPr>
          <p:cNvSpPr>
            <a:spLocks noGrp="1"/>
          </p:cNvSpPr>
          <p:nvPr>
            <p:ph type="title"/>
          </p:nvPr>
        </p:nvSpPr>
        <p:spPr/>
        <p:txBody>
          <a:bodyPr/>
          <a:lstStyle/>
          <a:p>
            <a:r>
              <a:rPr lang="en-US" dirty="0"/>
              <a:t>Sample Question.11 (Cont’d)</a:t>
            </a:r>
          </a:p>
        </p:txBody>
      </p:sp>
      <p:pic>
        <p:nvPicPr>
          <p:cNvPr id="6" name="Content Placeholder 5" descr="A green and orange lines&#10;&#10;Description automatically generated">
            <a:extLst>
              <a:ext uri="{FF2B5EF4-FFF2-40B4-BE49-F238E27FC236}">
                <a16:creationId xmlns:a16="http://schemas.microsoft.com/office/drawing/2014/main" id="{5AA15CFE-4CA0-F875-D56D-09B4421BEB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47935" y="1918952"/>
            <a:ext cx="5568302" cy="1510048"/>
          </a:xfrm>
        </p:spPr>
      </p:pic>
      <p:pic>
        <p:nvPicPr>
          <p:cNvPr id="4" name="Picture 3" descr="A white rectangular grid with black text&#10;&#10;Description automatically generated with medium confidence">
            <a:extLst>
              <a:ext uri="{FF2B5EF4-FFF2-40B4-BE49-F238E27FC236}">
                <a16:creationId xmlns:a16="http://schemas.microsoft.com/office/drawing/2014/main" id="{6422B023-5AC5-B211-990F-4A6D96551C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763" y="1600200"/>
            <a:ext cx="4584879" cy="4000035"/>
          </a:xfrm>
          <a:prstGeom prst="rect">
            <a:avLst/>
          </a:prstGeom>
        </p:spPr>
      </p:pic>
      <p:sp>
        <p:nvSpPr>
          <p:cNvPr id="7" name="TextBox 6">
            <a:extLst>
              <a:ext uri="{FF2B5EF4-FFF2-40B4-BE49-F238E27FC236}">
                <a16:creationId xmlns:a16="http://schemas.microsoft.com/office/drawing/2014/main" id="{C3E3EE77-9AFD-2F9C-ACC6-9910089CE23B}"/>
              </a:ext>
            </a:extLst>
          </p:cNvPr>
          <p:cNvSpPr txBox="1"/>
          <p:nvPr/>
        </p:nvSpPr>
        <p:spPr>
          <a:xfrm>
            <a:off x="7687143" y="3823952"/>
            <a:ext cx="1689886" cy="369332"/>
          </a:xfrm>
          <a:prstGeom prst="rect">
            <a:avLst/>
          </a:prstGeom>
          <a:noFill/>
        </p:spPr>
        <p:txBody>
          <a:bodyPr wrap="none" rtlCol="0">
            <a:spAutoFit/>
          </a:bodyPr>
          <a:lstStyle/>
          <a:p>
            <a:r>
              <a:rPr lang="en-US" b="0" i="0" dirty="0">
                <a:solidFill>
                  <a:srgbClr val="2D3B45"/>
                </a:solidFill>
                <a:effectLst/>
                <a:latin typeface="Lato Extended"/>
              </a:rPr>
              <a:t>L = S + M + D'</a:t>
            </a:r>
            <a:endParaRPr lang="en-US" dirty="0"/>
          </a:p>
        </p:txBody>
      </p:sp>
      <p:pic>
        <p:nvPicPr>
          <p:cNvPr id="1026" name="Picture 2" descr="Gate Diagram for Automatic Light Design">
            <a:extLst>
              <a:ext uri="{FF2B5EF4-FFF2-40B4-BE49-F238E27FC236}">
                <a16:creationId xmlns:a16="http://schemas.microsoft.com/office/drawing/2014/main" id="{D7DB18AB-E55B-ADE7-2ECA-27A9B6A9EA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9970" y="4405111"/>
            <a:ext cx="3605380" cy="2127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74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checkerboard(across)">
                                      <p:cBhvr>
                                        <p:cTn id="2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TotalTime>
  <Words>2360</Words>
  <Application>Microsoft Macintosh PowerPoint</Application>
  <PresentationFormat>Widescreen</PresentationFormat>
  <Paragraphs>236</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vt:lpstr>
      <vt:lpstr>Arial</vt:lpstr>
      <vt:lpstr>Calibri</vt:lpstr>
      <vt:lpstr>Courier New</vt:lpstr>
      <vt:lpstr>Helvetica</vt:lpstr>
      <vt:lpstr>Lato Extended</vt:lpstr>
      <vt:lpstr>Times</vt:lpstr>
      <vt:lpstr>Times New Roman</vt:lpstr>
      <vt:lpstr>Wingdings</vt:lpstr>
      <vt:lpstr>Clarity</vt:lpstr>
      <vt:lpstr>Midterm Review</vt:lpstr>
      <vt:lpstr>Notes</vt:lpstr>
      <vt:lpstr>Sample Question.1</vt:lpstr>
      <vt:lpstr>Sample Question.2</vt:lpstr>
      <vt:lpstr>Sample Question.3</vt:lpstr>
      <vt:lpstr>Sample Question.4</vt:lpstr>
      <vt:lpstr>Sample Question.5</vt:lpstr>
      <vt:lpstr>Sample Question.6</vt:lpstr>
      <vt:lpstr>Sample Question.7</vt:lpstr>
      <vt:lpstr>Sample Question.8</vt:lpstr>
      <vt:lpstr>Sample Question.9</vt:lpstr>
      <vt:lpstr>Sample Question.10</vt:lpstr>
      <vt:lpstr>Sample Question.11</vt:lpstr>
      <vt:lpstr>Sample Question.11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 1 Review</dc:title>
  <dc:creator>Sarah Angell</dc:creator>
  <cp:lastModifiedBy>Mesut Ozdag</cp:lastModifiedBy>
  <cp:revision>53</cp:revision>
  <dcterms:created xsi:type="dcterms:W3CDTF">2013-09-13T16:57:03Z</dcterms:created>
  <dcterms:modified xsi:type="dcterms:W3CDTF">2026-03-02T15:38:26Z</dcterms:modified>
</cp:coreProperties>
</file>