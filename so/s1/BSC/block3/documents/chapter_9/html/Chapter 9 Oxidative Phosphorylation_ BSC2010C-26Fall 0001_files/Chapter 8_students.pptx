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8"/>
  </p:notesMasterIdLst>
  <p:sldIdLst>
    <p:sldId id="297" r:id="rId2"/>
    <p:sldId id="315" r:id="rId3"/>
    <p:sldId id="322" r:id="rId4"/>
    <p:sldId id="316" r:id="rId5"/>
    <p:sldId id="319" r:id="rId6"/>
    <p:sldId id="320" r:id="rId7"/>
    <p:sldId id="305" r:id="rId8"/>
    <p:sldId id="323" r:id="rId9"/>
    <p:sldId id="324" r:id="rId10"/>
    <p:sldId id="298" r:id="rId11"/>
    <p:sldId id="299" r:id="rId12"/>
    <p:sldId id="280" r:id="rId13"/>
    <p:sldId id="325" r:id="rId14"/>
    <p:sldId id="326" r:id="rId15"/>
    <p:sldId id="283" r:id="rId16"/>
    <p:sldId id="300" r:id="rId17"/>
    <p:sldId id="309" r:id="rId18"/>
    <p:sldId id="310" r:id="rId19"/>
    <p:sldId id="282" r:id="rId20"/>
    <p:sldId id="284" r:id="rId21"/>
    <p:sldId id="286" r:id="rId22"/>
    <p:sldId id="287" r:id="rId23"/>
    <p:sldId id="288" r:id="rId24"/>
    <p:sldId id="289" r:id="rId25"/>
    <p:sldId id="321" r:id="rId26"/>
    <p:sldId id="327" r:id="rId27"/>
    <p:sldId id="330" r:id="rId28"/>
    <p:sldId id="290" r:id="rId29"/>
    <p:sldId id="291" r:id="rId30"/>
    <p:sldId id="292" r:id="rId31"/>
    <p:sldId id="293" r:id="rId32"/>
    <p:sldId id="294" r:id="rId33"/>
    <p:sldId id="295" r:id="rId34"/>
    <p:sldId id="331" r:id="rId35"/>
    <p:sldId id="296" r:id="rId36"/>
    <p:sldId id="317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0402" autoAdjust="0"/>
  </p:normalViewPr>
  <p:slideViewPr>
    <p:cSldViewPr>
      <p:cViewPr varScale="1">
        <p:scale>
          <a:sx n="86" d="100"/>
          <a:sy n="86" d="100"/>
        </p:scale>
        <p:origin x="1728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4FFF26-3D70-4E35-84AD-CE2203F74E2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6027AA-6CDB-4F17-BAA9-F4F462CED7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59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6027AA-6CDB-4F17-BAA9-F4F462CED76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440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6027AA-6CDB-4F17-BAA9-F4F462CED76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1319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6027AA-6CDB-4F17-BAA9-F4F462CED76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252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6027AA-6CDB-4F17-BAA9-F4F462CED76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8948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6027AA-6CDB-4F17-BAA9-F4F462CED76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3853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6027AA-6CDB-4F17-BAA9-F4F462CED76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740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A362D-1DBE-4D96-B277-674AE2C61AD9}" type="datetimeFigureOut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2/18/2026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9D906C-748A-473C-89D6-100258CFD687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6434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A362D-1DBE-4D96-B277-674AE2C61AD9}" type="datetimeFigureOut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2/18/2026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D906C-748A-473C-89D6-100258CFD687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1141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A362D-1DBE-4D96-B277-674AE2C61AD9}" type="datetimeFigureOut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2/18/2026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D906C-748A-473C-89D6-100258CFD687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7060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A362D-1DBE-4D96-B277-674AE2C61AD9}" type="datetimeFigureOut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2/18/2026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D906C-748A-473C-89D6-100258CFD687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00238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A362D-1DBE-4D96-B277-674AE2C61AD9}" type="datetimeFigureOut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2/18/2026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D906C-748A-473C-89D6-100258CFD687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6935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A362D-1DBE-4D96-B277-674AE2C61AD9}" type="datetimeFigureOut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2/18/2026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D906C-748A-473C-89D6-100258CFD687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7648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A362D-1DBE-4D96-B277-674AE2C61AD9}" type="datetimeFigureOut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2/18/2026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D906C-748A-473C-89D6-100258CFD687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2320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A362D-1DBE-4D96-B277-674AE2C61AD9}" type="datetimeFigureOut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2/18/2026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D906C-748A-473C-89D6-100258CFD687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3232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A362D-1DBE-4D96-B277-674AE2C61AD9}" type="datetimeFigureOut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2/18/2026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D906C-748A-473C-89D6-100258CFD687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8170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A362D-1DBE-4D96-B277-674AE2C61AD9}" type="datetimeFigureOut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2/18/2026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D906C-748A-473C-89D6-100258CFD687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7313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A362D-1DBE-4D96-B277-674AE2C61AD9}" type="datetimeFigureOut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2/18/2026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D906C-748A-473C-89D6-100258CFD687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6852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20BA362D-1DBE-4D96-B277-674AE2C61AD9}" type="datetimeFigureOut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2/18/2026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AF9D906C-748A-473C-89D6-100258CFD687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7346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ZJdZ4cbvyCg?feature=oembed" TargetMode="Externa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 Introduction to Metabolism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8</a:t>
            </a:r>
          </a:p>
        </p:txBody>
      </p:sp>
    </p:spTree>
    <p:extLst>
      <p:ext uri="{BB962C8B-B14F-4D97-AF65-F5344CB8AC3E}">
        <p14:creationId xmlns:p14="http://schemas.microsoft.com/office/powerpoint/2010/main" val="2217961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685800"/>
            <a:ext cx="8229600" cy="1600200"/>
          </a:xfrm>
        </p:spPr>
        <p:txBody>
          <a:bodyPr/>
          <a:lstStyle/>
          <a:p>
            <a:r>
              <a:rPr lang="en-US" dirty="0"/>
              <a:t>Converting energy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13E399E-DCF6-654B-034E-86322ED1AB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183687"/>
            <a:ext cx="6805612" cy="2409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Online Media 3" title="Slinky Treadmill Stayin' Alive">
            <a:hlinkClick r:id="" action="ppaction://media"/>
            <a:extLst>
              <a:ext uri="{FF2B5EF4-FFF2-40B4-BE49-F238E27FC236}">
                <a16:creationId xmlns:a16="http://schemas.microsoft.com/office/drawing/2014/main" id="{8E429917-2A9C-13C3-6B27-77FFA381E13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1948790" y="3733800"/>
            <a:ext cx="5246419" cy="2963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009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C9948-C810-31DC-E55F-E78867018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7320" y="610447"/>
            <a:ext cx="6309360" cy="989753"/>
          </a:xfrm>
        </p:spPr>
        <p:txBody>
          <a:bodyPr/>
          <a:lstStyle/>
          <a:p>
            <a:r>
              <a:rPr lang="en-US" dirty="0"/>
              <a:t>Chemical Energy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49365-6F11-E8D2-05C7-44FF57B25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Chemical Energy | Definition, Reactions &amp; Examples Video">
            <a:extLst>
              <a:ext uri="{FF2B5EF4-FFF2-40B4-BE49-F238E27FC236}">
                <a16:creationId xmlns:a16="http://schemas.microsoft.com/office/drawing/2014/main" id="{126D9848-9931-5140-7114-D04EE0480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057400"/>
            <a:ext cx="7010400" cy="394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2735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66800"/>
          </a:xfrm>
        </p:spPr>
        <p:txBody>
          <a:bodyPr/>
          <a:lstStyle/>
          <a:p>
            <a:r>
              <a:rPr lang="en-US" sz="4400" dirty="0"/>
              <a:t>ATP:  Energy currency of cells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4648200" cy="4525963"/>
          </a:xfrm>
        </p:spPr>
        <p:txBody>
          <a:bodyPr>
            <a:normAutofit fontScale="92500"/>
          </a:bodyPr>
          <a:lstStyle/>
          <a:p>
            <a:r>
              <a:rPr lang="en-US" dirty="0">
                <a:solidFill>
                  <a:schemeClr val="tx2"/>
                </a:solidFill>
              </a:rPr>
              <a:t>Adenosine Triphosphate (ATP)</a:t>
            </a:r>
          </a:p>
          <a:p>
            <a:endParaRPr lang="en-US" sz="1800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Hydrolysis of ATP releases energy</a:t>
            </a:r>
          </a:p>
          <a:p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Bond between 2</a:t>
            </a:r>
            <a:r>
              <a:rPr lang="en-US" baseline="30000" dirty="0">
                <a:solidFill>
                  <a:schemeClr val="tx2"/>
                </a:solidFill>
              </a:rPr>
              <a:t>nd</a:t>
            </a:r>
            <a:r>
              <a:rPr lang="en-US" dirty="0">
                <a:solidFill>
                  <a:schemeClr val="tx2"/>
                </a:solidFill>
              </a:rPr>
              <a:t> and 3</a:t>
            </a:r>
            <a:r>
              <a:rPr lang="en-US" baseline="30000" dirty="0">
                <a:solidFill>
                  <a:schemeClr val="tx2"/>
                </a:solidFill>
              </a:rPr>
              <a:t>rd</a:t>
            </a:r>
            <a:r>
              <a:rPr lang="en-US" dirty="0">
                <a:solidFill>
                  <a:schemeClr val="tx2"/>
                </a:solidFill>
              </a:rPr>
              <a:t> phosphate is hydrolyzed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Energy released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Adenosine Diphosphate (ADP)</a:t>
            </a:r>
          </a:p>
          <a:p>
            <a:pPr lvl="1"/>
            <a:endParaRPr lang="en-US" sz="1800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Released energy fuels cellular reactions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82" t="23071" r="16545" b="29407"/>
          <a:stretch/>
        </p:blipFill>
        <p:spPr bwMode="auto">
          <a:xfrm>
            <a:off x="4888324" y="1447800"/>
            <a:ext cx="3972232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9057" y="3621414"/>
            <a:ext cx="3638933" cy="2051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64866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r>
              <a:rPr lang="en-US" dirty="0"/>
              <a:t>What is ATP?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" y="1066800"/>
            <a:ext cx="8229600" cy="4525963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A molecule made up of one </a:t>
            </a:r>
            <a:r>
              <a:rPr lang="en-US" sz="2000" dirty="0">
                <a:solidFill>
                  <a:srgbClr val="0070C0"/>
                </a:solidFill>
              </a:rPr>
              <a:t>adenosine</a:t>
            </a:r>
            <a:r>
              <a:rPr lang="en-US" sz="2000" dirty="0">
                <a:solidFill>
                  <a:schemeClr val="tx1"/>
                </a:solidFill>
              </a:rPr>
              <a:t> (DNA/RNA nitrogenous base), </a:t>
            </a:r>
            <a:r>
              <a:rPr lang="en-US" sz="2000" dirty="0">
                <a:solidFill>
                  <a:srgbClr val="FF0000"/>
                </a:solidFill>
              </a:rPr>
              <a:t>ribose sugar </a:t>
            </a:r>
            <a:r>
              <a:rPr lang="en-US" sz="2000" dirty="0">
                <a:solidFill>
                  <a:schemeClr val="tx1"/>
                </a:solidFill>
              </a:rPr>
              <a:t>(the sugar in RNA) and </a:t>
            </a:r>
            <a:r>
              <a:rPr lang="en-US" sz="2000" dirty="0">
                <a:solidFill>
                  <a:srgbClr val="00B050"/>
                </a:solidFill>
              </a:rPr>
              <a:t>three phosphate functional groups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Phosphate groups are unstable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Removing the last one releases energy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Hydrolysis reaction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Makes ADP + energy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Reaction is reversible</a:t>
            </a:r>
          </a:p>
          <a:p>
            <a:r>
              <a:rPr lang="en-US" sz="2000" dirty="0">
                <a:solidFill>
                  <a:schemeClr val="tx1"/>
                </a:solidFill>
              </a:rPr>
              <a:t>ATP + H</a:t>
            </a:r>
            <a:r>
              <a:rPr lang="en-US" sz="2000" baseline="-25000" dirty="0">
                <a:solidFill>
                  <a:schemeClr val="tx1"/>
                </a:solidFill>
              </a:rPr>
              <a:t>2</a:t>
            </a:r>
            <a:r>
              <a:rPr lang="en-US" sz="2000" dirty="0">
                <a:solidFill>
                  <a:schemeClr val="tx1"/>
                </a:solidFill>
              </a:rPr>
              <a:t>O	       ADP + P</a:t>
            </a:r>
            <a:r>
              <a:rPr lang="en-US" sz="2000" baseline="-25000" dirty="0">
                <a:solidFill>
                  <a:schemeClr val="tx1"/>
                </a:solidFill>
              </a:rPr>
              <a:t>i</a:t>
            </a:r>
            <a:r>
              <a:rPr lang="en-US" sz="2000" dirty="0">
                <a:solidFill>
                  <a:schemeClr val="tx1"/>
                </a:solidFill>
              </a:rPr>
              <a:t> + energy</a:t>
            </a:r>
            <a:endParaRPr lang="en-US" sz="900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sz="400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5181600" y="2895600"/>
            <a:ext cx="3810000" cy="2286000"/>
            <a:chOff x="2133600" y="2362200"/>
            <a:chExt cx="3733800" cy="2057400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62200" y="2514600"/>
              <a:ext cx="3363357" cy="1905000"/>
            </a:xfrm>
            <a:prstGeom prst="rect">
              <a:avLst/>
            </a:prstGeom>
          </p:spPr>
        </p:pic>
        <p:sp>
          <p:nvSpPr>
            <p:cNvPr id="5" name="Oval 4"/>
            <p:cNvSpPr/>
            <p:nvPr/>
          </p:nvSpPr>
          <p:spPr>
            <a:xfrm>
              <a:off x="4572000" y="2362200"/>
              <a:ext cx="1295400" cy="1371600"/>
            </a:xfrm>
            <a:prstGeom prst="ellipse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4267200" y="3657600"/>
              <a:ext cx="990600" cy="7620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2133600" y="3048000"/>
              <a:ext cx="2362200" cy="914400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Straight Arrow Connector 9"/>
          <p:cNvCxnSpPr/>
          <p:nvPr/>
        </p:nvCxnSpPr>
        <p:spPr>
          <a:xfrm>
            <a:off x="1752600" y="4953000"/>
            <a:ext cx="609600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1218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14712" y="1600200"/>
            <a:ext cx="2314575" cy="15430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4114800"/>
            <a:ext cx="2590800" cy="1609725"/>
          </a:xfrm>
          <a:prstGeom prst="rect">
            <a:avLst/>
          </a:prstGeom>
        </p:spPr>
      </p:pic>
      <p:sp>
        <p:nvSpPr>
          <p:cNvPr id="6" name="Curved Left Arrow 5"/>
          <p:cNvSpPr/>
          <p:nvPr/>
        </p:nvSpPr>
        <p:spPr>
          <a:xfrm>
            <a:off x="6096000" y="2133600"/>
            <a:ext cx="1219200" cy="2667000"/>
          </a:xfrm>
          <a:prstGeom prst="curvedLef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67600" y="2971800"/>
            <a:ext cx="108108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</a:t>
            </a:r>
            <a:r>
              <a:rPr lang="en-US" baseline="-25000" dirty="0"/>
              <a:t>2</a:t>
            </a:r>
            <a:r>
              <a:rPr lang="en-US" dirty="0"/>
              <a:t>O in</a:t>
            </a:r>
          </a:p>
          <a:p>
            <a:r>
              <a:rPr lang="en-US" sz="1200" dirty="0"/>
              <a:t>(hydrolysis)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913102"/>
            <a:ext cx="128919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</a:t>
            </a:r>
            <a:r>
              <a:rPr lang="en-US" baseline="-25000" dirty="0"/>
              <a:t>2</a:t>
            </a:r>
            <a:r>
              <a:rPr lang="en-US" dirty="0"/>
              <a:t>O out</a:t>
            </a:r>
          </a:p>
          <a:p>
            <a:r>
              <a:rPr lang="en-US" sz="1200" dirty="0"/>
              <a:t>(Condensation)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2026812" y="1905000"/>
            <a:ext cx="1249788" cy="26702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67686" y="5254097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+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9580" y="4062412"/>
            <a:ext cx="910662" cy="7381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20000" y="4833149"/>
            <a:ext cx="1485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Energy out</a:t>
            </a:r>
          </a:p>
        </p:txBody>
      </p:sp>
      <p:sp>
        <p:nvSpPr>
          <p:cNvPr id="14" name="Curved Right Arrow 13"/>
          <p:cNvSpPr/>
          <p:nvPr/>
        </p:nvSpPr>
        <p:spPr>
          <a:xfrm rot="18830034">
            <a:off x="7075221" y="3908241"/>
            <a:ext cx="533400" cy="1108179"/>
          </a:xfrm>
          <a:prstGeom prst="curved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7243888">
            <a:off x="1290295" y="3861735"/>
            <a:ext cx="902286" cy="93886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212" y="3886200"/>
            <a:ext cx="914479" cy="7437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55538" y="4794637"/>
            <a:ext cx="1485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Energy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556" y="734818"/>
            <a:ext cx="1157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ATP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07212" y="5724525"/>
            <a:ext cx="11743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ADP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62537" y="842201"/>
            <a:ext cx="666750" cy="46672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38737" y="5864735"/>
            <a:ext cx="590550" cy="39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319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66800"/>
          </a:xfrm>
        </p:spPr>
        <p:txBody>
          <a:bodyPr/>
          <a:lstStyle/>
          <a:p>
            <a:r>
              <a:rPr lang="en-US" dirty="0"/>
              <a:t>Metabolism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1054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A cell is a chemical factory</a:t>
            </a:r>
          </a:p>
          <a:p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All the reactions that a cell (or organism) makes to sustain life are called </a:t>
            </a:r>
            <a:r>
              <a:rPr lang="en-US" u="sng" dirty="0">
                <a:solidFill>
                  <a:schemeClr val="tx2"/>
                </a:solidFill>
              </a:rPr>
              <a:t>metabolism</a:t>
            </a:r>
          </a:p>
          <a:p>
            <a:endParaRPr lang="en-US" u="sng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Cells use the bonds in carbon and other molecules for energy</a:t>
            </a:r>
          </a:p>
          <a:p>
            <a:endParaRPr lang="en-US" dirty="0">
              <a:solidFill>
                <a:schemeClr val="tx2"/>
              </a:solidFill>
            </a:endParaRPr>
          </a:p>
          <a:p>
            <a:pPr lvl="1"/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7042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9648A-047B-B325-E67C-F94B7BB8E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Metabolism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1A950-823D-BA7F-8D23-9960C4B0C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419600" cy="45259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How cells obtain carbon depends on type of cell</a:t>
            </a:r>
          </a:p>
          <a:p>
            <a:r>
              <a:rPr lang="en-US" sz="2600" dirty="0">
                <a:solidFill>
                  <a:schemeClr val="tx2"/>
                </a:solidFill>
              </a:rPr>
              <a:t>Autotrophs 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“auto” – self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“</a:t>
            </a:r>
            <a:r>
              <a:rPr lang="en-US" sz="1800" dirty="0" err="1">
                <a:solidFill>
                  <a:schemeClr val="tx2"/>
                </a:solidFill>
              </a:rPr>
              <a:t>troph</a:t>
            </a:r>
            <a:r>
              <a:rPr lang="en-US" sz="1800" dirty="0">
                <a:solidFill>
                  <a:schemeClr val="tx2"/>
                </a:solidFill>
              </a:rPr>
              <a:t>” – feed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Plants, algae, some bacteria</a:t>
            </a:r>
          </a:p>
          <a:p>
            <a:r>
              <a:rPr lang="en-US" sz="2600" dirty="0">
                <a:solidFill>
                  <a:schemeClr val="tx2"/>
                </a:solidFill>
              </a:rPr>
              <a:t>Heterotrophs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“hetero” – other, different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“</a:t>
            </a:r>
            <a:r>
              <a:rPr lang="en-US" sz="1800" dirty="0" err="1">
                <a:solidFill>
                  <a:schemeClr val="tx2"/>
                </a:solidFill>
              </a:rPr>
              <a:t>troph</a:t>
            </a:r>
            <a:r>
              <a:rPr lang="en-US" sz="1800" dirty="0">
                <a:solidFill>
                  <a:schemeClr val="tx2"/>
                </a:solidFill>
              </a:rPr>
              <a:t>” – feed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Eukaryotes </a:t>
            </a:r>
          </a:p>
          <a:p>
            <a:pPr lvl="2"/>
            <a:r>
              <a:rPr lang="en-US" sz="1800" dirty="0">
                <a:solidFill>
                  <a:schemeClr val="tx2"/>
                </a:solidFill>
              </a:rPr>
              <a:t>animals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Most bacteria</a:t>
            </a:r>
          </a:p>
          <a:p>
            <a:endParaRPr lang="en-US" dirty="0"/>
          </a:p>
        </p:txBody>
      </p:sp>
      <p:pic>
        <p:nvPicPr>
          <p:cNvPr id="3074" name="Picture 2" descr="What Is an Autotroph? Definition and Examples">
            <a:extLst>
              <a:ext uri="{FF2B5EF4-FFF2-40B4-BE49-F238E27FC236}">
                <a16:creationId xmlns:a16="http://schemas.microsoft.com/office/drawing/2014/main" id="{32F22197-58C6-DB8E-82C8-54A97F02D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7700" y="1752600"/>
            <a:ext cx="4648200" cy="464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650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D5157-6CF3-9BBF-8EA2-CE6B9D5A3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Autotrophs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7AF6F-2CA0-E4ED-1B68-98FCA1E4D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Chemosynthesis – Definition, Process, Equation, and Examples">
            <a:extLst>
              <a:ext uri="{FF2B5EF4-FFF2-40B4-BE49-F238E27FC236}">
                <a16:creationId xmlns:a16="http://schemas.microsoft.com/office/drawing/2014/main" id="{BDEADB77-C2A7-165D-9669-BAEB7ACDC8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1143000"/>
            <a:ext cx="8572500" cy="527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5515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</p:spPr>
        <p:txBody>
          <a:bodyPr/>
          <a:lstStyle/>
          <a:p>
            <a:r>
              <a:rPr lang="en-US" dirty="0"/>
              <a:t>Metabolism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6388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Photoautotrophs</a:t>
            </a:r>
          </a:p>
          <a:p>
            <a:pPr lvl="1"/>
            <a:r>
              <a:rPr lang="en-US" dirty="0">
                <a:solidFill>
                  <a:schemeClr val="tx2"/>
                </a:solidFill>
              </a:rPr>
              <a:t>Convert sunlight energy into G3P (a precursor to glucose)</a:t>
            </a:r>
          </a:p>
          <a:p>
            <a:r>
              <a:rPr lang="en-US" dirty="0">
                <a:solidFill>
                  <a:schemeClr val="tx2"/>
                </a:solidFill>
              </a:rPr>
              <a:t>Heterotrophs</a:t>
            </a:r>
          </a:p>
          <a:p>
            <a:pPr lvl="1"/>
            <a:r>
              <a:rPr lang="en-US" dirty="0">
                <a:solidFill>
                  <a:schemeClr val="tx2"/>
                </a:solidFill>
              </a:rPr>
              <a:t>Hydrolyze ingested polymers of organic molecules into monomers</a:t>
            </a:r>
          </a:p>
          <a:p>
            <a:pPr lvl="2"/>
            <a:r>
              <a:rPr lang="en-US" dirty="0">
                <a:solidFill>
                  <a:schemeClr val="tx2"/>
                </a:solidFill>
              </a:rPr>
              <a:t>Dinner of steak and potatoes</a:t>
            </a:r>
          </a:p>
          <a:p>
            <a:pPr lvl="2"/>
            <a:r>
              <a:rPr lang="en-US" dirty="0">
                <a:solidFill>
                  <a:schemeClr val="tx2"/>
                </a:solidFill>
              </a:rPr>
              <a:t>Steak protein is hydrolyzed into individual amino acids</a:t>
            </a:r>
          </a:p>
          <a:p>
            <a:pPr lvl="2"/>
            <a:r>
              <a:rPr lang="en-US" dirty="0">
                <a:solidFill>
                  <a:schemeClr val="tx2"/>
                </a:solidFill>
              </a:rPr>
              <a:t>Steak fat is hydrolyzed into different types of lipids.</a:t>
            </a:r>
          </a:p>
          <a:p>
            <a:pPr lvl="2"/>
            <a:r>
              <a:rPr lang="en-US" dirty="0">
                <a:solidFill>
                  <a:schemeClr val="tx2"/>
                </a:solidFill>
              </a:rPr>
              <a:t>Potato carbohydrate is hydrolyzed to glucose monomers</a:t>
            </a:r>
          </a:p>
          <a:p>
            <a:pPr lvl="2"/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Monomers can be further broken down to obtain energy or used to build new macromolecules.</a:t>
            </a:r>
          </a:p>
          <a:p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The </a:t>
            </a:r>
            <a:r>
              <a:rPr lang="en-US" b="1" u="sng" dirty="0">
                <a:solidFill>
                  <a:schemeClr val="tx2"/>
                </a:solidFill>
              </a:rPr>
              <a:t>chemical energy in the bonds of polymers &amp; monomers </a:t>
            </a:r>
            <a:r>
              <a:rPr lang="en-US" dirty="0">
                <a:solidFill>
                  <a:schemeClr val="tx2"/>
                </a:solidFill>
              </a:rPr>
              <a:t>can be converted into ATP </a:t>
            </a:r>
          </a:p>
        </p:txBody>
      </p:sp>
    </p:spTree>
    <p:extLst>
      <p:ext uri="{BB962C8B-B14F-4D97-AF65-F5344CB8AC3E}">
        <p14:creationId xmlns:p14="http://schemas.microsoft.com/office/powerpoint/2010/main" val="2650869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Metabolism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A </a:t>
            </a:r>
            <a:r>
              <a:rPr lang="en-US" u="sng" dirty="0">
                <a:solidFill>
                  <a:schemeClr val="tx2"/>
                </a:solidFill>
              </a:rPr>
              <a:t>metabolic pathway</a:t>
            </a:r>
            <a:r>
              <a:rPr lang="en-US" dirty="0">
                <a:solidFill>
                  <a:schemeClr val="tx2"/>
                </a:solidFill>
              </a:rPr>
              <a:t> begins with a specific molecule (reactant) which is altered in a series of steps to result in a product(s)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5" y="3158331"/>
            <a:ext cx="7600950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4876800"/>
            <a:ext cx="6324600" cy="16717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3400" y="4167921"/>
            <a:ext cx="167640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dirty="0"/>
              <a:t>Reactant</a:t>
            </a:r>
          </a:p>
        </p:txBody>
      </p:sp>
    </p:spTree>
    <p:extLst>
      <p:ext uri="{BB962C8B-B14F-4D97-AF65-F5344CB8AC3E}">
        <p14:creationId xmlns:p14="http://schemas.microsoft.com/office/powerpoint/2010/main" val="2415914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Cells and Energy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4102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How do cells use energy? Some examples…</a:t>
            </a:r>
          </a:p>
          <a:p>
            <a:pPr lvl="1"/>
            <a:r>
              <a:rPr lang="en-US" dirty="0">
                <a:solidFill>
                  <a:schemeClr val="tx2"/>
                </a:solidFill>
              </a:rPr>
              <a:t>Building proteins, carbohydrates, nucleic acids needed for life</a:t>
            </a:r>
          </a:p>
          <a:p>
            <a:pPr lvl="1"/>
            <a:r>
              <a:rPr lang="en-US" dirty="0">
                <a:solidFill>
                  <a:schemeClr val="tx2"/>
                </a:solidFill>
              </a:rPr>
              <a:t>Transporting material into and out of the cell</a:t>
            </a:r>
          </a:p>
          <a:p>
            <a:pPr lvl="1"/>
            <a:r>
              <a:rPr lang="en-US" dirty="0">
                <a:solidFill>
                  <a:schemeClr val="tx2"/>
                </a:solidFill>
              </a:rPr>
              <a:t>Muscle cells require energy to move</a:t>
            </a:r>
          </a:p>
          <a:p>
            <a:pPr lvl="1"/>
            <a:r>
              <a:rPr lang="en-US" dirty="0">
                <a:solidFill>
                  <a:schemeClr val="tx2"/>
                </a:solidFill>
              </a:rPr>
              <a:t>Ciliated/Flagellated cells, need energy to fuel cilia/flagella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122" name="Picture 2" descr="Forming Macromolecules">
            <a:extLst>
              <a:ext uri="{FF2B5EF4-FFF2-40B4-BE49-F238E27FC236}">
                <a16:creationId xmlns:a16="http://schemas.microsoft.com/office/drawing/2014/main" id="{7EC3B6E3-E4C8-BEBF-22E0-1EC11F9C3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023839"/>
            <a:ext cx="2133600" cy="1593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4F4DB047-64D4-61E5-13A1-CF777E6852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402"/>
          <a:stretch>
            <a:fillRect/>
          </a:stretch>
        </p:blipFill>
        <p:spPr bwMode="auto">
          <a:xfrm>
            <a:off x="7436643" y="2866864"/>
            <a:ext cx="1650380" cy="348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Muscle contraction, at the molecular level, muscle contraction is... |  Download Scientific Diagram">
            <a:extLst>
              <a:ext uri="{FF2B5EF4-FFF2-40B4-BE49-F238E27FC236}">
                <a16:creationId xmlns:a16="http://schemas.microsoft.com/office/drawing/2014/main" id="{95D04C72-EDE0-86B2-D86B-A8538EA4BE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2861288"/>
            <a:ext cx="2133600" cy="3680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Cilia And Flagella - Definition, Structure, Functions and FAQs -  GeeksforGeeks">
            <a:extLst>
              <a:ext uri="{FF2B5EF4-FFF2-40B4-BE49-F238E27FC236}">
                <a16:creationId xmlns:a16="http://schemas.microsoft.com/office/drawing/2014/main" id="{8E2B4786-FB19-2231-2BB6-350A12499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717733"/>
            <a:ext cx="4201513" cy="2100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71451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EBD6F-A5D0-AEA5-C40A-B7A595198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Cells and Energy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D7184-0D9C-D814-CFF3-3FF75C47D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Gibbs Free Energy (G)</a:t>
            </a:r>
          </a:p>
          <a:p>
            <a:pPr lvl="1"/>
            <a:r>
              <a:rPr lang="en-US" sz="2000" dirty="0">
                <a:solidFill>
                  <a:schemeClr val="tx2"/>
                </a:solidFill>
              </a:rPr>
              <a:t>The amount of free energy available to the cell to do work</a:t>
            </a:r>
          </a:p>
          <a:p>
            <a:pPr lvl="1"/>
            <a:r>
              <a:rPr lang="en-US" sz="2000" dirty="0">
                <a:solidFill>
                  <a:schemeClr val="tx2"/>
                </a:solidFill>
              </a:rPr>
              <a:t>Energy created from breaking chemical bonds</a:t>
            </a:r>
          </a:p>
          <a:p>
            <a:pPr lvl="1"/>
            <a:endParaRPr lang="en-US" sz="2000" dirty="0">
              <a:solidFill>
                <a:schemeClr val="tx2"/>
              </a:solidFill>
            </a:endParaRPr>
          </a:p>
          <a:p>
            <a:pPr lvl="1"/>
            <a:r>
              <a:rPr lang="el-GR" sz="2000" b="1" dirty="0">
                <a:solidFill>
                  <a:schemeClr val="tx2"/>
                </a:solidFill>
              </a:rPr>
              <a:t>Δ</a:t>
            </a:r>
            <a:r>
              <a:rPr lang="en-US" sz="2000" b="1" dirty="0">
                <a:solidFill>
                  <a:schemeClr val="tx2"/>
                </a:solidFill>
              </a:rPr>
              <a:t>G</a:t>
            </a:r>
            <a:r>
              <a:rPr lang="en-US" sz="2000" dirty="0">
                <a:solidFill>
                  <a:schemeClr val="tx2"/>
                </a:solidFill>
              </a:rPr>
              <a:t> = change in free energy</a:t>
            </a:r>
          </a:p>
          <a:p>
            <a:pPr marL="914400" lvl="2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    = G of products - G of reactants</a:t>
            </a:r>
          </a:p>
          <a:p>
            <a:pPr marL="914400" lvl="2" indent="0">
              <a:buNone/>
            </a:pPr>
            <a:endParaRPr lang="en-US" sz="2000" dirty="0">
              <a:solidFill>
                <a:schemeClr val="tx2"/>
              </a:solidFill>
            </a:endParaRPr>
          </a:p>
          <a:p>
            <a:pPr lvl="1"/>
            <a:r>
              <a:rPr lang="en-US" sz="2000" dirty="0">
                <a:solidFill>
                  <a:schemeClr val="tx2"/>
                </a:solidFill>
              </a:rPr>
              <a:t>Determines whether a reaction is spontaneous or requires energy</a:t>
            </a:r>
          </a:p>
          <a:p>
            <a:pPr marL="0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69342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A5F47-B9D9-02D4-54BE-2B73CE8A5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685800"/>
            <a:ext cx="8229600" cy="1600200"/>
          </a:xfrm>
        </p:spPr>
        <p:txBody>
          <a:bodyPr/>
          <a:lstStyle/>
          <a:p>
            <a:r>
              <a:rPr lang="en-US" dirty="0"/>
              <a:t>Gibbs Free Energy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C835A-66DF-98F6-8A47-5B40FD434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4525963"/>
          </a:xfrm>
        </p:spPr>
        <p:txBody>
          <a:bodyPr/>
          <a:lstStyle/>
          <a:p>
            <a:pPr lvl="1"/>
            <a:r>
              <a:rPr lang="en-US" sz="2000" dirty="0">
                <a:solidFill>
                  <a:schemeClr val="tx2"/>
                </a:solidFill>
              </a:rPr>
              <a:t>-</a:t>
            </a:r>
            <a:r>
              <a:rPr lang="el-GR" sz="2000" dirty="0">
                <a:solidFill>
                  <a:schemeClr val="tx2"/>
                </a:solidFill>
              </a:rPr>
              <a:t> Δ</a:t>
            </a:r>
            <a:r>
              <a:rPr lang="en-US" sz="2000" dirty="0">
                <a:solidFill>
                  <a:schemeClr val="tx2"/>
                </a:solidFill>
              </a:rPr>
              <a:t>G reactions occur spontaneously</a:t>
            </a:r>
          </a:p>
          <a:p>
            <a:pPr lvl="2"/>
            <a:r>
              <a:rPr lang="en-US" sz="2000" dirty="0">
                <a:solidFill>
                  <a:schemeClr val="tx2"/>
                </a:solidFill>
              </a:rPr>
              <a:t>Gives off energy</a:t>
            </a:r>
          </a:p>
          <a:p>
            <a:pPr lvl="2"/>
            <a:endParaRPr lang="en-US" sz="2000" dirty="0">
              <a:solidFill>
                <a:schemeClr val="tx2"/>
              </a:solidFill>
            </a:endParaRPr>
          </a:p>
          <a:p>
            <a:pPr lvl="1"/>
            <a:r>
              <a:rPr lang="en-US" sz="2000" dirty="0">
                <a:solidFill>
                  <a:schemeClr val="tx2"/>
                </a:solidFill>
              </a:rPr>
              <a:t>+</a:t>
            </a:r>
            <a:r>
              <a:rPr lang="el-GR" sz="2000" dirty="0">
                <a:solidFill>
                  <a:schemeClr val="tx2"/>
                </a:solidFill>
              </a:rPr>
              <a:t> Δ</a:t>
            </a:r>
            <a:r>
              <a:rPr lang="en-US" sz="2000" dirty="0">
                <a:solidFill>
                  <a:schemeClr val="tx2"/>
                </a:solidFill>
              </a:rPr>
              <a:t>G reactions require energy input</a:t>
            </a:r>
          </a:p>
          <a:p>
            <a:pPr lvl="1"/>
            <a:endParaRPr lang="en-US" sz="2000" dirty="0">
              <a:solidFill>
                <a:schemeClr val="tx2"/>
              </a:solidFill>
            </a:endParaRPr>
          </a:p>
          <a:p>
            <a:pPr lvl="1"/>
            <a:r>
              <a:rPr lang="en-US" sz="2000" dirty="0">
                <a:solidFill>
                  <a:schemeClr val="tx2"/>
                </a:solidFill>
              </a:rPr>
              <a:t>Every reaction has a specific </a:t>
            </a:r>
            <a:r>
              <a:rPr lang="el-GR" sz="2000" dirty="0">
                <a:solidFill>
                  <a:schemeClr val="tx2"/>
                </a:solidFill>
              </a:rPr>
              <a:t>Δ</a:t>
            </a:r>
            <a:r>
              <a:rPr lang="en-US" sz="2000" dirty="0">
                <a:solidFill>
                  <a:schemeClr val="tx2"/>
                </a:solidFill>
              </a:rPr>
              <a:t>G</a:t>
            </a:r>
          </a:p>
          <a:p>
            <a:pPr lvl="2"/>
            <a:r>
              <a:rPr lang="el-GR" sz="2000" dirty="0">
                <a:solidFill>
                  <a:schemeClr val="tx2"/>
                </a:solidFill>
              </a:rPr>
              <a:t>Δ</a:t>
            </a:r>
            <a:r>
              <a:rPr lang="en-US" sz="2000" dirty="0">
                <a:solidFill>
                  <a:schemeClr val="tx2"/>
                </a:solidFill>
              </a:rPr>
              <a:t>G </a:t>
            </a:r>
            <a:r>
              <a:rPr lang="en-US" sz="2000" u="sng" dirty="0">
                <a:solidFill>
                  <a:schemeClr val="tx2"/>
                </a:solidFill>
              </a:rPr>
              <a:t>never</a:t>
            </a:r>
            <a:r>
              <a:rPr lang="en-US" sz="2000" dirty="0">
                <a:solidFill>
                  <a:schemeClr val="tx2"/>
                </a:solidFill>
              </a:rPr>
              <a:t> changes!!</a:t>
            </a:r>
          </a:p>
          <a:p>
            <a:endParaRPr lang="en-US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516619EE-806A-7A78-2F33-D55B3E64D4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11"/>
          <a:stretch>
            <a:fillRect/>
          </a:stretch>
        </p:blipFill>
        <p:spPr bwMode="auto">
          <a:xfrm>
            <a:off x="1052512" y="3679438"/>
            <a:ext cx="7038975" cy="3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57BB6D0-0D9F-66B1-86D8-24D4064A232D}"/>
              </a:ext>
            </a:extLst>
          </p:cNvPr>
          <p:cNvSpPr txBox="1"/>
          <p:nvPr/>
        </p:nvSpPr>
        <p:spPr>
          <a:xfrm>
            <a:off x="4419600" y="5804643"/>
            <a:ext cx="53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30 kJ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900626-74E4-F1D7-8D04-7B4429824993}"/>
              </a:ext>
            </a:extLst>
          </p:cNvPr>
          <p:cNvSpPr txBox="1"/>
          <p:nvPr/>
        </p:nvSpPr>
        <p:spPr>
          <a:xfrm>
            <a:off x="1447800" y="4343400"/>
            <a:ext cx="53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100kJ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5D1CE1-3BAE-FC2F-05FA-10A194A91053}"/>
              </a:ext>
            </a:extLst>
          </p:cNvPr>
          <p:cNvSpPr txBox="1"/>
          <p:nvPr/>
        </p:nvSpPr>
        <p:spPr>
          <a:xfrm>
            <a:off x="2355056" y="5685483"/>
            <a:ext cx="53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-70 kJ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52F816-1B57-F4AA-5485-D20EB923AF9F}"/>
              </a:ext>
            </a:extLst>
          </p:cNvPr>
          <p:cNvSpPr txBox="1"/>
          <p:nvPr/>
        </p:nvSpPr>
        <p:spPr>
          <a:xfrm>
            <a:off x="7696200" y="4818193"/>
            <a:ext cx="53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100kJ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3439A4-1806-75C3-2B2D-27C4F460BDAF}"/>
              </a:ext>
            </a:extLst>
          </p:cNvPr>
          <p:cNvSpPr txBox="1"/>
          <p:nvPr/>
        </p:nvSpPr>
        <p:spPr>
          <a:xfrm>
            <a:off x="7010400" y="5481477"/>
            <a:ext cx="53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70 kJ</a:t>
            </a:r>
          </a:p>
        </p:txBody>
      </p:sp>
    </p:spTree>
    <p:extLst>
      <p:ext uri="{BB962C8B-B14F-4D97-AF65-F5344CB8AC3E}">
        <p14:creationId xmlns:p14="http://schemas.microsoft.com/office/powerpoint/2010/main" val="36635911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8991600" cy="1219200"/>
          </a:xfrm>
        </p:spPr>
        <p:txBody>
          <a:bodyPr/>
          <a:lstStyle/>
          <a:p>
            <a:r>
              <a:rPr lang="en-US" sz="4400" dirty="0"/>
              <a:t>Endergonic </a:t>
            </a:r>
            <a:r>
              <a:rPr lang="en-US" sz="4000" dirty="0"/>
              <a:t>vs</a:t>
            </a:r>
            <a:r>
              <a:rPr lang="en-US" sz="4400" dirty="0"/>
              <a:t>. Exergonic Reactions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600200"/>
            <a:ext cx="8839200" cy="45259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All chemical reactions in the cell are coupled with ATP</a:t>
            </a:r>
          </a:p>
          <a:p>
            <a:pPr lvl="1"/>
            <a:r>
              <a:rPr lang="en-US" sz="2400" dirty="0">
                <a:solidFill>
                  <a:schemeClr val="tx2"/>
                </a:solidFill>
              </a:rPr>
              <a:t>Some reactions require ATP</a:t>
            </a:r>
          </a:p>
          <a:p>
            <a:pPr lvl="2"/>
            <a:r>
              <a:rPr lang="en-US" sz="2400" u="sng" dirty="0">
                <a:solidFill>
                  <a:schemeClr val="tx2"/>
                </a:solidFill>
              </a:rPr>
              <a:t>Endergonic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</a:p>
          <a:p>
            <a:pPr lvl="3"/>
            <a:r>
              <a:rPr lang="en-US" sz="2400" dirty="0">
                <a:solidFill>
                  <a:schemeClr val="tx2"/>
                </a:solidFill>
              </a:rPr>
              <a:t>Endo – “in” </a:t>
            </a:r>
          </a:p>
          <a:p>
            <a:pPr lvl="1"/>
            <a:r>
              <a:rPr lang="en-US" sz="2400" dirty="0">
                <a:solidFill>
                  <a:schemeClr val="tx2"/>
                </a:solidFill>
              </a:rPr>
              <a:t>Some reactions produce ATP</a:t>
            </a:r>
          </a:p>
          <a:p>
            <a:pPr lvl="2"/>
            <a:r>
              <a:rPr lang="en-US" sz="2400" u="sng" dirty="0">
                <a:solidFill>
                  <a:schemeClr val="tx2"/>
                </a:solidFill>
              </a:rPr>
              <a:t>Exergonic </a:t>
            </a:r>
          </a:p>
          <a:p>
            <a:pPr lvl="3"/>
            <a:r>
              <a:rPr lang="en-US" sz="2400" dirty="0" err="1">
                <a:solidFill>
                  <a:schemeClr val="tx2"/>
                </a:solidFill>
              </a:rPr>
              <a:t>Exer</a:t>
            </a:r>
            <a:r>
              <a:rPr lang="en-US" sz="2400" dirty="0">
                <a:solidFill>
                  <a:schemeClr val="tx2"/>
                </a:solidFill>
              </a:rPr>
              <a:t> – “out”</a:t>
            </a:r>
            <a:endParaRPr lang="en-US" sz="1800" dirty="0">
              <a:solidFill>
                <a:schemeClr val="tx2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58C73EE-D990-E106-CAE0-371350EEBC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2"/>
          <a:stretch>
            <a:fillRect/>
          </a:stretch>
        </p:blipFill>
        <p:spPr bwMode="auto">
          <a:xfrm>
            <a:off x="3478526" y="4114800"/>
            <a:ext cx="5552103" cy="2722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2512DE-DB05-363A-CC05-1A511D43F114}"/>
              </a:ext>
            </a:extLst>
          </p:cNvPr>
          <p:cNvSpPr txBox="1"/>
          <p:nvPr/>
        </p:nvSpPr>
        <p:spPr>
          <a:xfrm>
            <a:off x="4724400" y="5562600"/>
            <a:ext cx="53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-70 kJ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AF75AF-A04B-B836-712B-4BE0A93F072F}"/>
              </a:ext>
            </a:extLst>
          </p:cNvPr>
          <p:cNvSpPr txBox="1"/>
          <p:nvPr/>
        </p:nvSpPr>
        <p:spPr>
          <a:xfrm>
            <a:off x="8288144" y="5638800"/>
            <a:ext cx="53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70 kJ</a:t>
            </a:r>
          </a:p>
        </p:txBody>
      </p:sp>
    </p:spTree>
    <p:extLst>
      <p:ext uri="{BB962C8B-B14F-4D97-AF65-F5344CB8AC3E}">
        <p14:creationId xmlns:p14="http://schemas.microsoft.com/office/powerpoint/2010/main" val="23873334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dirty="0"/>
              <a:t>Types of pathways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525963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Anabolic pathway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Synthesize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Builds large molecules from smaller molecules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Require energy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+</a:t>
            </a:r>
            <a:r>
              <a:rPr lang="el-GR" sz="1800" dirty="0">
                <a:solidFill>
                  <a:schemeClr val="tx2"/>
                </a:solidFill>
              </a:rPr>
              <a:t>Δ</a:t>
            </a:r>
            <a:r>
              <a:rPr lang="en-US" sz="1800" dirty="0">
                <a:solidFill>
                  <a:schemeClr val="tx2"/>
                </a:solidFill>
              </a:rPr>
              <a:t>G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Endergonic</a:t>
            </a:r>
          </a:p>
          <a:p>
            <a:pPr marL="457200" lvl="1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Catabolic pathway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Degradative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Breaks large molecules into smaller molecules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Creates energy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-</a:t>
            </a:r>
            <a:r>
              <a:rPr lang="el-GR" sz="1800" dirty="0">
                <a:solidFill>
                  <a:schemeClr val="tx2"/>
                </a:solidFill>
              </a:rPr>
              <a:t>Δ</a:t>
            </a:r>
            <a:r>
              <a:rPr lang="en-US" sz="1800" dirty="0">
                <a:solidFill>
                  <a:schemeClr val="tx2"/>
                </a:solidFill>
              </a:rPr>
              <a:t>G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Exergonic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0" y="2438400"/>
            <a:ext cx="4324350" cy="8096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t="-194" r="24916"/>
          <a:stretch/>
        </p:blipFill>
        <p:spPr>
          <a:xfrm>
            <a:off x="3048000" y="4991481"/>
            <a:ext cx="4248150" cy="82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3756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t="37500" r="4023"/>
          <a:stretch/>
        </p:blipFill>
        <p:spPr>
          <a:xfrm>
            <a:off x="110490" y="2590800"/>
            <a:ext cx="1908810" cy="1066800"/>
          </a:xfrm>
          <a:prstGeom prst="rect">
            <a:avLst/>
          </a:prstGeom>
        </p:spPr>
      </p:pic>
      <p:cxnSp>
        <p:nvCxnSpPr>
          <p:cNvPr id="8" name="Straight Arrow Connector 7"/>
          <p:cNvCxnSpPr>
            <a:cxnSpLocks/>
          </p:cNvCxnSpPr>
          <p:nvPr/>
        </p:nvCxnSpPr>
        <p:spPr>
          <a:xfrm>
            <a:off x="2590800" y="3276600"/>
            <a:ext cx="12192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324600" y="4953000"/>
            <a:ext cx="1143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7195" y="3962400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Reactant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B9846E-0273-666C-EBB2-5ED533F33A1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167" t="1" r="9167" b="23758"/>
          <a:stretch/>
        </p:blipFill>
        <p:spPr>
          <a:xfrm>
            <a:off x="4503380" y="1866423"/>
            <a:ext cx="4530130" cy="2820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6943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t="37500" r="4023"/>
          <a:stretch/>
        </p:blipFill>
        <p:spPr>
          <a:xfrm>
            <a:off x="7025456" y="2743199"/>
            <a:ext cx="1908810" cy="1066800"/>
          </a:xfrm>
          <a:prstGeom prst="rect">
            <a:avLst/>
          </a:prstGeom>
        </p:spPr>
      </p:pic>
      <p:cxnSp>
        <p:nvCxnSpPr>
          <p:cNvPr id="8" name="Straight Arrow Connector 7"/>
          <p:cNvCxnSpPr>
            <a:cxnSpLocks/>
          </p:cNvCxnSpPr>
          <p:nvPr/>
        </p:nvCxnSpPr>
        <p:spPr>
          <a:xfrm flipV="1">
            <a:off x="5105400" y="3276599"/>
            <a:ext cx="1600200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600200" y="4876800"/>
            <a:ext cx="1143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Reactant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7600" y="4114800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Product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4BBAB4-0A8A-F684-37B5-69A33DE018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39" y="1865253"/>
            <a:ext cx="4529721" cy="2822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6812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915400" cy="914400"/>
          </a:xfrm>
        </p:spPr>
        <p:txBody>
          <a:bodyPr/>
          <a:lstStyle/>
          <a:p>
            <a:r>
              <a:rPr lang="en-US" sz="4400" dirty="0"/>
              <a:t>Endergonic Reactions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7150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Endergonic Reactions (Anabolic)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Uphill reaction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Require energy payment of ATP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+</a:t>
            </a:r>
            <a:r>
              <a:rPr lang="el-GR" sz="1800" dirty="0">
                <a:solidFill>
                  <a:schemeClr val="tx2"/>
                </a:solidFill>
              </a:rPr>
              <a:t>Δ</a:t>
            </a:r>
            <a:r>
              <a:rPr lang="en-US" sz="1800" dirty="0">
                <a:solidFill>
                  <a:schemeClr val="tx2"/>
                </a:solidFill>
              </a:rPr>
              <a:t>G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Products have more potential energy than reactants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200400"/>
            <a:ext cx="5033394" cy="3393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 rot="16200000">
            <a:off x="457200" y="4897313"/>
            <a:ext cx="2362200" cy="381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Potential energy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3751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915400" cy="914400"/>
          </a:xfrm>
        </p:spPr>
        <p:txBody>
          <a:bodyPr/>
          <a:lstStyle/>
          <a:p>
            <a:r>
              <a:rPr lang="en-US" sz="4400" dirty="0"/>
              <a:t>Exergonic Reactions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7150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Exergonic Reactions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Downhill (spontaneous)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Produce energy in the form of ATP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-</a:t>
            </a:r>
            <a:r>
              <a:rPr lang="el-GR" sz="1800" dirty="0">
                <a:solidFill>
                  <a:schemeClr val="tx2"/>
                </a:solidFill>
              </a:rPr>
              <a:t>Δ</a:t>
            </a:r>
            <a:r>
              <a:rPr lang="en-US" sz="1800" dirty="0">
                <a:solidFill>
                  <a:schemeClr val="tx2"/>
                </a:solidFill>
              </a:rPr>
              <a:t>G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Products have less potential energy than reactants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124200"/>
            <a:ext cx="5130010" cy="343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 rot="16200000">
            <a:off x="304800" y="4897313"/>
            <a:ext cx="2362200" cy="381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Potential energy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3724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Activation Energy Barrier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55" y="1447800"/>
            <a:ext cx="8229600" cy="5334000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US" dirty="0">
                <a:solidFill>
                  <a:schemeClr val="tx2"/>
                </a:solidFill>
              </a:rPr>
              <a:t>What prevents exergonic reactions from spiraling out of control???</a:t>
            </a:r>
          </a:p>
          <a:p>
            <a:pPr>
              <a:spcAft>
                <a:spcPts val="1200"/>
              </a:spcAft>
            </a:pPr>
            <a:r>
              <a:rPr lang="en-US" dirty="0">
                <a:solidFill>
                  <a:schemeClr val="tx2"/>
                </a:solidFill>
              </a:rPr>
              <a:t>Energy of Activation (E</a:t>
            </a:r>
            <a:r>
              <a:rPr lang="en-US" baseline="-25000" dirty="0">
                <a:solidFill>
                  <a:schemeClr val="tx2"/>
                </a:solidFill>
              </a:rPr>
              <a:t>A</a:t>
            </a:r>
            <a:r>
              <a:rPr lang="en-US" dirty="0">
                <a:solidFill>
                  <a:schemeClr val="tx2"/>
                </a:solidFill>
              </a:rPr>
              <a:t>)!!</a:t>
            </a:r>
          </a:p>
          <a:p>
            <a:pPr>
              <a:spcAft>
                <a:spcPts val="1200"/>
              </a:spcAft>
            </a:pPr>
            <a:r>
              <a:rPr lang="en-US" dirty="0">
                <a:solidFill>
                  <a:schemeClr val="tx2"/>
                </a:solidFill>
              </a:rPr>
              <a:t>Requires stress to be placed on the bonds to make them unstable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solidFill>
                  <a:schemeClr val="tx2"/>
                </a:solidFill>
              </a:rPr>
              <a:t>Require energy to do this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solidFill>
                  <a:schemeClr val="tx2"/>
                </a:solidFill>
              </a:rPr>
              <a:t>Even exergonic reactions require some small input of initial energy</a:t>
            </a:r>
          </a:p>
          <a:p>
            <a:pPr>
              <a:spcAft>
                <a:spcPts val="1200"/>
              </a:spcAft>
            </a:pPr>
            <a:r>
              <a:rPr lang="en-US" dirty="0">
                <a:solidFill>
                  <a:schemeClr val="tx2"/>
                </a:solidFill>
              </a:rPr>
              <a:t>This small input of initial energy is called Energy of Activation (E</a:t>
            </a:r>
            <a:r>
              <a:rPr lang="en-US" baseline="-25000" dirty="0">
                <a:solidFill>
                  <a:schemeClr val="tx2"/>
                </a:solidFill>
              </a:rPr>
              <a:t>A</a:t>
            </a:r>
            <a:r>
              <a:rPr lang="en-US" dirty="0">
                <a:solidFill>
                  <a:schemeClr val="tx2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353710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2511" y="990600"/>
            <a:ext cx="6267044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ight Brace 1"/>
          <p:cNvSpPr/>
          <p:nvPr/>
        </p:nvSpPr>
        <p:spPr>
          <a:xfrm>
            <a:off x="4953000" y="2438400"/>
            <a:ext cx="762000" cy="1447800"/>
          </a:xfrm>
          <a:prstGeom prst="righ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733288" y="2869912"/>
            <a:ext cx="152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Energy of Activation</a:t>
            </a:r>
          </a:p>
        </p:txBody>
      </p:sp>
    </p:spTree>
    <p:extLst>
      <p:ext uri="{BB962C8B-B14F-4D97-AF65-F5344CB8AC3E}">
        <p14:creationId xmlns:p14="http://schemas.microsoft.com/office/powerpoint/2010/main" val="24461776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sz="4800" dirty="0"/>
              <a:t>Enzymes Speed up Reactions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257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Enzymes are a type of protein that catalyze chemical reactions by lowering E</a:t>
            </a:r>
            <a:r>
              <a:rPr lang="en-US" baseline="-25000" dirty="0">
                <a:solidFill>
                  <a:schemeClr val="tx2"/>
                </a:solidFill>
              </a:rPr>
              <a:t>A</a:t>
            </a:r>
          </a:p>
          <a:p>
            <a:pPr marL="0" indent="0">
              <a:buNone/>
            </a:pPr>
            <a:endParaRPr lang="en-US" baseline="-25000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Enzymes do not make a reaction occur that would not normally occur</a:t>
            </a:r>
          </a:p>
          <a:p>
            <a:pPr lvl="1"/>
            <a:r>
              <a:rPr lang="en-US" dirty="0">
                <a:solidFill>
                  <a:schemeClr val="tx2"/>
                </a:solidFill>
              </a:rPr>
              <a:t>Enzymes make a reaction occur quicker </a:t>
            </a:r>
          </a:p>
          <a:p>
            <a:pPr marL="457200" lvl="1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Enzymes do not add energy to a reaction!</a:t>
            </a:r>
          </a:p>
          <a:p>
            <a:pPr marL="0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Enzymes do NOT change </a:t>
            </a:r>
            <a:r>
              <a:rPr lang="el-GR" dirty="0">
                <a:solidFill>
                  <a:schemeClr val="tx2"/>
                </a:solidFill>
              </a:rPr>
              <a:t>Δ</a:t>
            </a:r>
            <a:r>
              <a:rPr lang="en-US" dirty="0">
                <a:solidFill>
                  <a:schemeClr val="tx2"/>
                </a:solidFill>
              </a:rPr>
              <a:t>G!!</a:t>
            </a:r>
          </a:p>
          <a:p>
            <a:endParaRPr lang="en-US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84294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" y="534988"/>
            <a:ext cx="8602663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725962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r>
              <a:rPr lang="en-US" dirty="0"/>
              <a:t>Practice…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8229600" cy="54864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For the reaction A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 B, </a:t>
            </a:r>
            <a:r>
              <a:rPr lang="el-GR" dirty="0">
                <a:solidFill>
                  <a:schemeClr val="tx1"/>
                </a:solidFill>
                <a:sym typeface="Wingdings" panose="05000000000000000000" pitchFamily="2" charset="2"/>
              </a:rPr>
              <a:t>Δ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G = +321</a:t>
            </a:r>
          </a:p>
          <a:p>
            <a:pPr lvl="1"/>
            <a:r>
              <a:rPr lang="en-US" sz="2400" dirty="0">
                <a:solidFill>
                  <a:schemeClr val="tx1"/>
                </a:solidFill>
                <a:sym typeface="Wingdings" panose="05000000000000000000" pitchFamily="2" charset="2"/>
              </a:rPr>
              <a:t>Requires energy or gives off energy?</a:t>
            </a:r>
          </a:p>
          <a:p>
            <a:pPr lvl="1"/>
            <a:endParaRPr lang="en-US" sz="24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lvl="1"/>
            <a:r>
              <a:rPr lang="en-US" sz="2400" dirty="0">
                <a:solidFill>
                  <a:schemeClr val="tx1"/>
                </a:solidFill>
                <a:sym typeface="Wingdings" panose="05000000000000000000" pitchFamily="2" charset="2"/>
              </a:rPr>
              <a:t>Endergonic or exergonic?</a:t>
            </a:r>
          </a:p>
          <a:p>
            <a:pPr lvl="1"/>
            <a:endParaRPr lang="en-US" sz="24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lvl="1"/>
            <a:r>
              <a:rPr lang="en-US" sz="2400" dirty="0">
                <a:solidFill>
                  <a:schemeClr val="tx1"/>
                </a:solidFill>
                <a:sym typeface="Wingdings" panose="05000000000000000000" pitchFamily="2" charset="2"/>
              </a:rPr>
              <a:t>Catabolic or Anabolic?</a:t>
            </a:r>
          </a:p>
          <a:p>
            <a:pPr lvl="1"/>
            <a:endParaRPr lang="en-US" sz="24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If enzymes are added to the reaction A  B, what happens to </a:t>
            </a:r>
            <a:r>
              <a:rPr lang="el-GR" dirty="0">
                <a:solidFill>
                  <a:schemeClr val="tx1"/>
                </a:solidFill>
                <a:sym typeface="Wingdings" panose="05000000000000000000" pitchFamily="2" charset="2"/>
              </a:rPr>
              <a:t>Δ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G?  What is </a:t>
            </a:r>
            <a:r>
              <a:rPr lang="el-GR" dirty="0">
                <a:solidFill>
                  <a:schemeClr val="tx1"/>
                </a:solidFill>
                <a:sym typeface="Wingdings" panose="05000000000000000000" pitchFamily="2" charset="2"/>
              </a:rPr>
              <a:t>Δ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G?</a:t>
            </a:r>
          </a:p>
          <a:p>
            <a:endParaRPr lang="en-US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0459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A01AC-E718-AB1D-8A3E-92FBA0D6F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-533400"/>
            <a:ext cx="8229600" cy="1600200"/>
          </a:xfrm>
        </p:spPr>
        <p:txBody>
          <a:bodyPr/>
          <a:lstStyle/>
          <a:p>
            <a:r>
              <a:rPr lang="en-US" dirty="0"/>
              <a:t>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33DEB-8259-CF4C-BCA6-83DE25A61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For the reaction S  T, </a:t>
            </a:r>
            <a:r>
              <a:rPr lang="el-GR" dirty="0">
                <a:solidFill>
                  <a:schemeClr val="tx1"/>
                </a:solidFill>
                <a:sym typeface="Wingdings" panose="05000000000000000000" pitchFamily="2" charset="2"/>
              </a:rPr>
              <a:t>Δ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G = -125</a:t>
            </a:r>
          </a:p>
          <a:p>
            <a:pPr lvl="1"/>
            <a:r>
              <a:rPr lang="en-US" sz="2400" dirty="0">
                <a:solidFill>
                  <a:schemeClr val="tx1"/>
                </a:solidFill>
                <a:sym typeface="Wingdings" panose="05000000000000000000" pitchFamily="2" charset="2"/>
              </a:rPr>
              <a:t>Requires energy or gives off energy?</a:t>
            </a:r>
          </a:p>
          <a:p>
            <a:pPr lvl="1"/>
            <a:endParaRPr lang="en-US" sz="24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lvl="1"/>
            <a:r>
              <a:rPr lang="en-US" sz="2400" dirty="0">
                <a:solidFill>
                  <a:schemeClr val="tx1"/>
                </a:solidFill>
                <a:sym typeface="Wingdings" panose="05000000000000000000" pitchFamily="2" charset="2"/>
              </a:rPr>
              <a:t>Endergonic or exergonic?</a:t>
            </a:r>
          </a:p>
          <a:p>
            <a:pPr lvl="1"/>
            <a:endParaRPr lang="en-US" sz="24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lvl="1"/>
            <a:r>
              <a:rPr lang="en-US" sz="2400" dirty="0">
                <a:solidFill>
                  <a:schemeClr val="tx1"/>
                </a:solidFill>
                <a:sym typeface="Wingdings" panose="05000000000000000000" pitchFamily="2" charset="2"/>
              </a:rPr>
              <a:t>Catabolic or Anabolic?</a:t>
            </a:r>
          </a:p>
          <a:p>
            <a:pPr lvl="1"/>
            <a:endParaRPr lang="en-US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Could these reactions be coupled in a cell?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9580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72BCD-159E-7ABD-162A-B0C66A935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Coupled Reactions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7D83B-0B02-5BD7-8094-B79FC0E830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Could these reactions be coupled in a cell?</a:t>
            </a:r>
          </a:p>
          <a:p>
            <a:endParaRPr lang="en-US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r>
              <a:rPr lang="en-US" dirty="0">
                <a:solidFill>
                  <a:schemeClr val="tx1"/>
                </a:solidFill>
              </a:rPr>
              <a:t>A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 B, </a:t>
            </a:r>
            <a:r>
              <a:rPr lang="el-GR" dirty="0">
                <a:solidFill>
                  <a:schemeClr val="tx1"/>
                </a:solidFill>
                <a:sym typeface="Wingdings" panose="05000000000000000000" pitchFamily="2" charset="2"/>
              </a:rPr>
              <a:t>Δ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G = +321(endergonic, anabolic)</a:t>
            </a:r>
          </a:p>
          <a:p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S  T, </a:t>
            </a:r>
            <a:r>
              <a:rPr lang="el-GR" dirty="0">
                <a:solidFill>
                  <a:schemeClr val="tx1"/>
                </a:solidFill>
                <a:sym typeface="Wingdings" panose="05000000000000000000" pitchFamily="2" charset="2"/>
              </a:rPr>
              <a:t>Δ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G = -125   (exergonic, catabolic)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Coupled: A  + S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 B +T</a:t>
            </a:r>
          </a:p>
          <a:p>
            <a:r>
              <a:rPr lang="el-GR" dirty="0">
                <a:solidFill>
                  <a:schemeClr val="tx1"/>
                </a:solidFill>
                <a:sym typeface="Wingdings" panose="05000000000000000000" pitchFamily="2" charset="2"/>
              </a:rPr>
              <a:t>Δ</a:t>
            </a:r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G</a:t>
            </a:r>
            <a:r>
              <a:rPr lang="en-US" baseline="-25000" dirty="0" err="1">
                <a:solidFill>
                  <a:schemeClr val="tx1"/>
                </a:solidFill>
                <a:sym typeface="Wingdings" panose="05000000000000000000" pitchFamily="2" charset="2"/>
              </a:rPr>
              <a:t>net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= </a:t>
            </a:r>
            <a:r>
              <a:rPr lang="el-GR" dirty="0">
                <a:solidFill>
                  <a:schemeClr val="tx1"/>
                </a:solidFill>
                <a:sym typeface="Wingdings" panose="05000000000000000000" pitchFamily="2" charset="2"/>
              </a:rPr>
              <a:t>Δ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G</a:t>
            </a:r>
            <a:r>
              <a:rPr lang="en-US" baseline="-25000" dirty="0">
                <a:solidFill>
                  <a:schemeClr val="tx1"/>
                </a:solidFill>
                <a:sym typeface="Wingdings" panose="05000000000000000000" pitchFamily="2" charset="2"/>
              </a:rPr>
              <a:t>rxn1 +</a:t>
            </a:r>
            <a:r>
              <a:rPr lang="el-GR" dirty="0">
                <a:solidFill>
                  <a:schemeClr val="tx1"/>
                </a:solidFill>
                <a:sym typeface="Wingdings" panose="05000000000000000000" pitchFamily="2" charset="2"/>
              </a:rPr>
              <a:t> Δ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G</a:t>
            </a:r>
            <a:r>
              <a:rPr lang="en-US" baseline="-25000" dirty="0">
                <a:solidFill>
                  <a:schemeClr val="tx1"/>
                </a:solidFill>
                <a:sym typeface="Wingdings" panose="05000000000000000000" pitchFamily="2" charset="2"/>
              </a:rPr>
              <a:t>rxn2</a:t>
            </a:r>
          </a:p>
          <a:p>
            <a:r>
              <a:rPr lang="en-US" baseline="-250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l-GR" dirty="0">
                <a:solidFill>
                  <a:schemeClr val="tx1"/>
                </a:solidFill>
                <a:sym typeface="Wingdings" panose="05000000000000000000" pitchFamily="2" charset="2"/>
              </a:rPr>
              <a:t>Δ</a:t>
            </a:r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G</a:t>
            </a:r>
            <a:r>
              <a:rPr lang="en-US" baseline="-25000" dirty="0" err="1">
                <a:solidFill>
                  <a:schemeClr val="tx1"/>
                </a:solidFill>
                <a:sym typeface="Wingdings" panose="05000000000000000000" pitchFamily="2" charset="2"/>
              </a:rPr>
              <a:t>net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= 321 + (-125)= 196 (overall requires energy)</a:t>
            </a:r>
            <a:endParaRPr lang="en-US" baseline="-250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Need </a:t>
            </a:r>
            <a:r>
              <a:rPr lang="el-GR" dirty="0">
                <a:solidFill>
                  <a:schemeClr val="tx1"/>
                </a:solidFill>
                <a:sym typeface="Wingdings" panose="05000000000000000000" pitchFamily="2" charset="2"/>
              </a:rPr>
              <a:t>Δ</a:t>
            </a:r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G</a:t>
            </a:r>
            <a:r>
              <a:rPr lang="en-US" baseline="-25000" dirty="0" err="1">
                <a:solidFill>
                  <a:schemeClr val="tx1"/>
                </a:solidFill>
                <a:sym typeface="Wingdings" panose="05000000000000000000" pitchFamily="2" charset="2"/>
              </a:rPr>
              <a:t>net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to be negative (overall spontaneous reaction and favorable)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4278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dirty="0"/>
              <a:t>Enzyme Specificity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525963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Enzymes bind to specific substrates (reactants)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Binding takes place at the </a:t>
            </a:r>
            <a:r>
              <a:rPr lang="en-US" sz="1800" u="sng" dirty="0">
                <a:solidFill>
                  <a:schemeClr val="tx2"/>
                </a:solidFill>
              </a:rPr>
              <a:t>active site</a:t>
            </a:r>
          </a:p>
          <a:p>
            <a:pPr lvl="2"/>
            <a:r>
              <a:rPr lang="en-US" sz="1800" u="sng" dirty="0">
                <a:solidFill>
                  <a:schemeClr val="tx2"/>
                </a:solidFill>
              </a:rPr>
              <a:t>Lock and Key model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Enzyme-Substrate Complex</a:t>
            </a:r>
          </a:p>
          <a:p>
            <a:r>
              <a:rPr lang="en-US" dirty="0">
                <a:solidFill>
                  <a:schemeClr val="tx2"/>
                </a:solidFill>
              </a:rPr>
              <a:t>Enzyme converts substrate to different product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Enzyme is unchanged and is not consumed</a:t>
            </a:r>
          </a:p>
          <a:p>
            <a:pPr lvl="2"/>
            <a:r>
              <a:rPr lang="en-US" sz="1800" dirty="0">
                <a:solidFill>
                  <a:schemeClr val="tx2"/>
                </a:solidFill>
              </a:rPr>
              <a:t>Can be used thousand, millions of times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Substrate is changed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4114800"/>
            <a:ext cx="5105490" cy="2513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886191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375" y="425450"/>
            <a:ext cx="7205663" cy="6011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07347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Enzymatic Reaction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Substrate on left (reactant)</a:t>
            </a:r>
          </a:p>
          <a:p>
            <a:r>
              <a:rPr lang="en-US" dirty="0">
                <a:solidFill>
                  <a:schemeClr val="tx2"/>
                </a:solidFill>
              </a:rPr>
              <a:t>Enzyme is “arrow”</a:t>
            </a:r>
          </a:p>
          <a:p>
            <a:pPr lvl="1"/>
            <a:r>
              <a:rPr lang="en-US" dirty="0">
                <a:solidFill>
                  <a:schemeClr val="tx2"/>
                </a:solidFill>
              </a:rPr>
              <a:t>Enzymes end with “</a:t>
            </a:r>
            <a:r>
              <a:rPr lang="en-US" dirty="0" err="1">
                <a:solidFill>
                  <a:schemeClr val="tx2"/>
                </a:solidFill>
              </a:rPr>
              <a:t>ase</a:t>
            </a:r>
            <a:r>
              <a:rPr lang="en-US" dirty="0">
                <a:solidFill>
                  <a:schemeClr val="tx2"/>
                </a:solidFill>
              </a:rPr>
              <a:t>”</a:t>
            </a:r>
          </a:p>
          <a:p>
            <a:r>
              <a:rPr lang="en-US" dirty="0">
                <a:solidFill>
                  <a:schemeClr val="tx2"/>
                </a:solidFill>
              </a:rPr>
              <a:t>Products on the right</a:t>
            </a:r>
          </a:p>
          <a:p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810000"/>
            <a:ext cx="6531428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85507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66800"/>
          </a:xfrm>
        </p:spPr>
        <p:txBody>
          <a:bodyPr/>
          <a:lstStyle/>
          <a:p>
            <a:r>
              <a:rPr lang="en-US" dirty="0"/>
              <a:t>Enzyme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4102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2"/>
                </a:solidFill>
              </a:rPr>
              <a:t>Enzymes are proteins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tx2"/>
                </a:solidFill>
              </a:rPr>
              <a:t>They are affected by temperature, pH, salt concentration, and inhibitors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tx2"/>
                </a:solidFill>
              </a:rPr>
              <a:t>High temp, acidic/basic pH will denature enzyme structure</a:t>
            </a:r>
          </a:p>
          <a:p>
            <a:pPr lvl="1">
              <a:spcAft>
                <a:spcPts val="600"/>
              </a:spcAft>
            </a:pPr>
            <a:r>
              <a:rPr lang="en-US" sz="1800" dirty="0">
                <a:solidFill>
                  <a:schemeClr val="tx2"/>
                </a:solidFill>
              </a:rPr>
              <a:t>Changes shape of the active site</a:t>
            </a:r>
          </a:p>
          <a:p>
            <a:pPr lvl="1">
              <a:spcAft>
                <a:spcPts val="600"/>
              </a:spcAft>
            </a:pPr>
            <a:r>
              <a:rPr lang="en-US" sz="1800" dirty="0">
                <a:solidFill>
                  <a:schemeClr val="tx2"/>
                </a:solidFill>
              </a:rPr>
              <a:t>Enzyme cannot bind to substrate anymore</a:t>
            </a:r>
          </a:p>
          <a:p>
            <a:pPr lvl="1">
              <a:spcAft>
                <a:spcPts val="600"/>
              </a:spcAft>
            </a:pPr>
            <a:r>
              <a:rPr lang="en-US" sz="1800" dirty="0">
                <a:solidFill>
                  <a:schemeClr val="tx2"/>
                </a:solidFill>
              </a:rPr>
              <a:t>Rate of enzymatic activity decreases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tx2"/>
                </a:solidFill>
              </a:rPr>
              <a:t>Each enzyme has optimal temperature and pH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tx2"/>
                </a:solidFill>
              </a:rPr>
              <a:t>Consider organisms that live in arctic vs organisms that live in hydrothermal vents</a:t>
            </a:r>
          </a:p>
          <a:p>
            <a:pPr lvl="1"/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25370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700" y="212725"/>
            <a:ext cx="5816600" cy="6437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50334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273" y="297873"/>
            <a:ext cx="8229600" cy="685800"/>
          </a:xfrm>
        </p:spPr>
        <p:txBody>
          <a:bodyPr/>
          <a:lstStyle/>
          <a:p>
            <a:r>
              <a:rPr lang="en-US" sz="4000" dirty="0"/>
              <a:t>Enzyme Activation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5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Activators help enzymes </a:t>
            </a:r>
          </a:p>
          <a:p>
            <a:pPr lvl="1"/>
            <a:r>
              <a:rPr lang="en-US" sz="2400" dirty="0">
                <a:solidFill>
                  <a:schemeClr val="tx2"/>
                </a:solidFill>
              </a:rPr>
              <a:t>Cofactors</a:t>
            </a:r>
          </a:p>
          <a:p>
            <a:pPr lvl="2"/>
            <a:r>
              <a:rPr lang="en-US" sz="2400" dirty="0">
                <a:solidFill>
                  <a:schemeClr val="tx2"/>
                </a:solidFill>
              </a:rPr>
              <a:t>Vitamins are cofactors</a:t>
            </a:r>
          </a:p>
        </p:txBody>
      </p:sp>
      <p:pic>
        <p:nvPicPr>
          <p:cNvPr id="7172" name="Picture 4" descr="Enzyme regulation (article) | Khan Academy">
            <a:extLst>
              <a:ext uri="{FF2B5EF4-FFF2-40B4-BE49-F238E27FC236}">
                <a16:creationId xmlns:a16="http://schemas.microsoft.com/office/drawing/2014/main" id="{E141BB07-7BA3-7DCE-0CC6-5942F4AD39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>
            <a:fillRect/>
          </a:stretch>
        </p:blipFill>
        <p:spPr bwMode="auto">
          <a:xfrm>
            <a:off x="5304771" y="1612392"/>
            <a:ext cx="3352800" cy="4559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65700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B3BE1-7A5D-B898-86BB-DB44D24CA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533400"/>
            <a:ext cx="8229600" cy="1600200"/>
          </a:xfrm>
        </p:spPr>
        <p:txBody>
          <a:bodyPr/>
          <a:lstStyle/>
          <a:p>
            <a:r>
              <a:rPr lang="en-US" dirty="0"/>
              <a:t>Enzyme Inhibitors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F3072-D101-63D6-C7AB-1DDB9A703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971" y="1166018"/>
            <a:ext cx="8229600" cy="4525963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Inhibitors block enzymatic activity</a:t>
            </a:r>
          </a:p>
          <a:p>
            <a:pPr lvl="1"/>
            <a:r>
              <a:rPr lang="en-US" u="sng" dirty="0">
                <a:solidFill>
                  <a:schemeClr val="tx2"/>
                </a:solidFill>
              </a:rPr>
              <a:t>Noncompetitive inhibitors</a:t>
            </a:r>
          </a:p>
          <a:p>
            <a:pPr lvl="2"/>
            <a:r>
              <a:rPr lang="en-US" sz="1800" dirty="0">
                <a:solidFill>
                  <a:schemeClr val="tx2"/>
                </a:solidFill>
              </a:rPr>
              <a:t>Bind to enzyme at site remote from active site (Allosteric Site)</a:t>
            </a:r>
          </a:p>
          <a:p>
            <a:pPr lvl="2"/>
            <a:r>
              <a:rPr lang="en-US" sz="1800" dirty="0">
                <a:solidFill>
                  <a:schemeClr val="tx2"/>
                </a:solidFill>
              </a:rPr>
              <a:t>Alters shape of active site</a:t>
            </a:r>
          </a:p>
          <a:p>
            <a:pPr lvl="3"/>
            <a:r>
              <a:rPr lang="en-US" sz="1800" dirty="0">
                <a:solidFill>
                  <a:schemeClr val="tx2"/>
                </a:solidFill>
              </a:rPr>
              <a:t>Prevents substrate from binding</a:t>
            </a:r>
          </a:p>
          <a:p>
            <a:endParaRPr lang="en-US" dirty="0"/>
          </a:p>
        </p:txBody>
      </p:sp>
      <p:pic>
        <p:nvPicPr>
          <p:cNvPr id="4" name="Picture 4" descr="Enzyme regulation (article) | Khan Academy">
            <a:extLst>
              <a:ext uri="{FF2B5EF4-FFF2-40B4-BE49-F238E27FC236}">
                <a16:creationId xmlns:a16="http://schemas.microsoft.com/office/drawing/2014/main" id="{95A79667-4408-333F-B198-69BAEEFF86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973" r="1"/>
          <a:stretch>
            <a:fillRect/>
          </a:stretch>
        </p:blipFill>
        <p:spPr bwMode="auto">
          <a:xfrm>
            <a:off x="1676400" y="3048000"/>
            <a:ext cx="5562600" cy="3673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70244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587" y="2895600"/>
            <a:ext cx="8761413" cy="366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EBE9779-F0BA-32E0-BA1D-4A12B4006AB3}"/>
              </a:ext>
            </a:extLst>
          </p:cNvPr>
          <p:cNvSpPr txBox="1"/>
          <p:nvPr/>
        </p:nvSpPr>
        <p:spPr>
          <a:xfrm>
            <a:off x="762000" y="609600"/>
            <a:ext cx="77724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400" u="sng" dirty="0">
                <a:solidFill>
                  <a:schemeClr val="tx2"/>
                </a:solidFill>
              </a:rPr>
              <a:t>Competitive inhibitors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Mimic shape of substrate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Bind to active site and block it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Pharmaceutical applications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Antibiotics, cancer treatment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7963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dirty="0"/>
              <a:t>Feedback inhibition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6720" y="1219200"/>
            <a:ext cx="8229600" cy="4525963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Type of enzymatic regulation </a:t>
            </a:r>
          </a:p>
          <a:p>
            <a:r>
              <a:rPr lang="en-US" dirty="0">
                <a:solidFill>
                  <a:schemeClr val="tx1"/>
                </a:solidFill>
              </a:rPr>
              <a:t>Product acts as a noncompetitive inhibitor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2438400"/>
            <a:ext cx="5344583" cy="4008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1393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1912</TotalTime>
  <Words>1085</Words>
  <Application>Microsoft Office PowerPoint</Application>
  <PresentationFormat>On-screen Show (4:3)</PresentationFormat>
  <Paragraphs>232</Paragraphs>
  <Slides>36</Slides>
  <Notes>6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Arial</vt:lpstr>
      <vt:lpstr>Calibri</vt:lpstr>
      <vt:lpstr>Century Gothic</vt:lpstr>
      <vt:lpstr>Courier New</vt:lpstr>
      <vt:lpstr>Palatino Linotype</vt:lpstr>
      <vt:lpstr>Wingdings</vt:lpstr>
      <vt:lpstr>Executive</vt:lpstr>
      <vt:lpstr>An Introduction to Metabolism</vt:lpstr>
      <vt:lpstr>Converting energy</vt:lpstr>
      <vt:lpstr>Chemical Energy</vt:lpstr>
      <vt:lpstr>ATP:  Energy currency of cells</vt:lpstr>
      <vt:lpstr>What is ATP?</vt:lpstr>
      <vt:lpstr>PowerPoint Presentation</vt:lpstr>
      <vt:lpstr>Metabolism</vt:lpstr>
      <vt:lpstr>Metabolism</vt:lpstr>
      <vt:lpstr>Autotrophs</vt:lpstr>
      <vt:lpstr>Metabolism</vt:lpstr>
      <vt:lpstr>Metabolism</vt:lpstr>
      <vt:lpstr>Cells and Energy</vt:lpstr>
      <vt:lpstr>Cells and Energy</vt:lpstr>
      <vt:lpstr>Gibbs Free Energy </vt:lpstr>
      <vt:lpstr>Endergonic vs. Exergonic Reactions</vt:lpstr>
      <vt:lpstr>Types of pathways</vt:lpstr>
      <vt:lpstr>PowerPoint Presentation</vt:lpstr>
      <vt:lpstr>PowerPoint Presentation</vt:lpstr>
      <vt:lpstr>Endergonic Reactions</vt:lpstr>
      <vt:lpstr>Exergonic Reactions</vt:lpstr>
      <vt:lpstr>Activation Energy Barrier</vt:lpstr>
      <vt:lpstr>PowerPoint Presentation</vt:lpstr>
      <vt:lpstr>Enzymes Speed up Reactions</vt:lpstr>
      <vt:lpstr>PowerPoint Presentation</vt:lpstr>
      <vt:lpstr>Practice…</vt:lpstr>
      <vt:lpstr>Practice</vt:lpstr>
      <vt:lpstr>Coupled Reactions</vt:lpstr>
      <vt:lpstr>Enzyme Specificity</vt:lpstr>
      <vt:lpstr>PowerPoint Presentation</vt:lpstr>
      <vt:lpstr>Enzymatic Reaction</vt:lpstr>
      <vt:lpstr>Enzyme Function</vt:lpstr>
      <vt:lpstr>PowerPoint Presentation</vt:lpstr>
      <vt:lpstr>Enzyme Activation</vt:lpstr>
      <vt:lpstr>Enzyme Inhibitors</vt:lpstr>
      <vt:lpstr>PowerPoint Presentation</vt:lpstr>
      <vt:lpstr>Feedback inhibition</vt:lpstr>
    </vt:vector>
  </TitlesOfParts>
  <Company>University of Central Florida - College of Sciences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Schedule Change:</dc:title>
  <dc:creator>Michele Yeargain</dc:creator>
  <cp:lastModifiedBy>Tiffany Dawson</cp:lastModifiedBy>
  <cp:revision>117</cp:revision>
  <dcterms:created xsi:type="dcterms:W3CDTF">2017-02-07T16:22:12Z</dcterms:created>
  <dcterms:modified xsi:type="dcterms:W3CDTF">2026-02-18T22:15:41Z</dcterms:modified>
</cp:coreProperties>
</file>