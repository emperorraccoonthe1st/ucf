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9"/>
  </p:notesMasterIdLst>
  <p:sldIdLst>
    <p:sldId id="330" r:id="rId2"/>
    <p:sldId id="331" r:id="rId3"/>
    <p:sldId id="332" r:id="rId4"/>
    <p:sldId id="333" r:id="rId5"/>
    <p:sldId id="374" r:id="rId6"/>
    <p:sldId id="337" r:id="rId7"/>
    <p:sldId id="383" r:id="rId8"/>
    <p:sldId id="343" r:id="rId9"/>
    <p:sldId id="339" r:id="rId10"/>
    <p:sldId id="340" r:id="rId11"/>
    <p:sldId id="379" r:id="rId12"/>
    <p:sldId id="341" r:id="rId13"/>
    <p:sldId id="345" r:id="rId14"/>
    <p:sldId id="382" r:id="rId15"/>
    <p:sldId id="384" r:id="rId16"/>
    <p:sldId id="346" r:id="rId17"/>
    <p:sldId id="385" r:id="rId18"/>
    <p:sldId id="347" r:id="rId19"/>
    <p:sldId id="348" r:id="rId20"/>
    <p:sldId id="381" r:id="rId21"/>
    <p:sldId id="386" r:id="rId22"/>
    <p:sldId id="349" r:id="rId23"/>
    <p:sldId id="350" r:id="rId24"/>
    <p:sldId id="380" r:id="rId25"/>
    <p:sldId id="351" r:id="rId26"/>
    <p:sldId id="352" r:id="rId27"/>
    <p:sldId id="35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27" autoAdjust="0"/>
    <p:restoredTop sz="94660"/>
  </p:normalViewPr>
  <p:slideViewPr>
    <p:cSldViewPr>
      <p:cViewPr varScale="1">
        <p:scale>
          <a:sx n="75" d="100"/>
          <a:sy n="75" d="100"/>
        </p:scale>
        <p:origin x="72" y="64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FFF26-3D70-4E35-84AD-CE2203F74E2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027AA-6CDB-4F17-BAA9-F4F462CED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186F-E49E-48F3-C877-FC695300D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B5172-B09A-2002-466B-D8968F910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0BE59-F42F-9B09-FDC2-690758CF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CB31D-40E0-139C-42E0-F5FF3267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CCE8-D578-B467-97B1-38D0D22E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3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63C8-36AD-9F9F-9013-7B54A078E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4CB14-A7A4-654D-7211-2CAD4A992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83C5D-D7DF-A6E6-E577-334E044E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099B4-E403-62E2-95E7-1D14879B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3930E-2B65-8E26-F304-049E9A46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4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E6C6-CD59-7C92-FCA9-D391E872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D4234-3039-448A-FAFD-A2EBBC11D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A7DB5-C3EF-2CD1-FC79-756E99F0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68C79-5F8F-5469-4027-E6ED8878F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09C1C-4024-D390-5B7F-9F6384E0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8F93-7D8D-ACC4-1F61-F3052C03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518C8-762D-A86E-7C8E-BBC7C628F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BE0EE-2168-FC60-18A7-20D6FDEB9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76BCC-DA9A-53EA-72E5-353CC8EA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8D2EC-B7C2-844F-1134-9CB70D40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603F2-B4C3-7E64-DA60-78B81CFE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6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88C8-53E5-2374-969E-C5B9DC34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13625-CF8B-90A0-1498-4430C94E4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8746C-069E-D144-738E-82DDB4F28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237AC-62F7-B143-8FC3-A63970346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BBCD61-41F9-F98B-C5A7-2CA64D3D5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3D3F9-F54E-CEF9-CFF1-07C18481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925CF8-BA78-7697-A74D-9E9BF697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F19DB-012E-C463-0487-5EC36F4A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7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AFD9-7683-2BD2-3746-5A6E7CBF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9A33B-7AB8-634F-EFE1-E02578C6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0DEC1-B266-6C4A-5C69-346328F7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1B01C-724B-18A6-99A6-97988B9D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5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85F59-2FD5-76A7-A799-35D719AA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BA7E7-ECF1-A1CB-5E6C-3867A433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7C316-CE47-406A-6838-FC96C6D1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2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5AB7-DB7C-8F52-1DBB-D6B1A389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A4111-EF3E-8884-91C6-C621B3D2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7DF4E-0111-2248-71BE-9766E91D3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F2B9F-8147-9CBC-5D20-5F9A3547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AD666-579D-3E97-9F77-7168AA07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58799-8B64-2CBA-4794-2A0D97D5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8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D29F-079E-1AF5-BAF6-38BE95A8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2DDFC-60FC-0ACD-C184-1D26ACE48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65D8-6ACA-1658-CF39-786451E78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ADAE7-C23A-5CCF-15EC-2C5856F1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A15A5-C531-2946-7DFD-F6940DFB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A0218-1FD2-D4F0-88D8-3B253150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3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B4CE-ACBC-AD90-6D6D-E0FDF0E6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2ACC4-71A7-1634-9EE3-A0D9DCD2F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427F-1493-6120-08AA-B30362BF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CF36B-1759-9BF2-78DB-B37DA0450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67AF7-751E-39B9-6CF4-6EC587E3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E7F222-235E-D43E-81D8-FC345F7E2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9D38E-2FC9-6866-DB32-FCE88A534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E4C6B-53CE-745A-CDC0-15FDCC9B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B7D87-CC3D-EC29-15ED-5E4FE122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7473E-3AE7-35CB-BF87-82C0F1F5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3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6B53AD-2601-21D9-5E12-69355DFC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C0581-B7D6-87FF-DA2A-AB41A39E9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9C6A0-1D40-06A9-0419-91434E0D4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F623A-8CCF-471B-8EA7-A77E47D06DE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2FC1D-6A5A-87EF-EE77-C67A7096B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A8F54-CCB1-86FC-23F3-4B9D5A281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6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0307" y="464344"/>
            <a:ext cx="6858000" cy="2387600"/>
          </a:xfrm>
        </p:spPr>
        <p:txBody>
          <a:bodyPr/>
          <a:lstStyle/>
          <a:p>
            <a:r>
              <a:rPr lang="en-US" dirty="0"/>
              <a:t>Cellular Respiration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Fermentation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0307" y="3048000"/>
            <a:ext cx="6858000" cy="1655762"/>
          </a:xfrm>
        </p:spPr>
        <p:txBody>
          <a:bodyPr/>
          <a:lstStyle/>
          <a:p>
            <a:r>
              <a:rPr lang="en-US" dirty="0"/>
              <a:t>Chapter 9</a:t>
            </a:r>
          </a:p>
        </p:txBody>
      </p:sp>
      <p:pic>
        <p:nvPicPr>
          <p:cNvPr id="1026" name="Picture 2" descr="Understanding Cellular Respiration and Its Role in Healing">
            <a:extLst>
              <a:ext uri="{FF2B5EF4-FFF2-40B4-BE49-F238E27FC236}">
                <a16:creationId xmlns:a16="http://schemas.microsoft.com/office/drawing/2014/main" id="{FA3BD153-DDAB-657C-8AE6-1945E8270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4121943"/>
            <a:ext cx="4038600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638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868362"/>
          </a:xfrm>
        </p:spPr>
        <p:txBody>
          <a:bodyPr>
            <a:normAutofit/>
          </a:bodyPr>
          <a:lstStyle/>
          <a:p>
            <a:r>
              <a:rPr lang="en-US" sz="3600" dirty="0"/>
              <a:t>Continuing the energy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077200" cy="5334000"/>
          </a:xfrm>
        </p:spPr>
        <p:txBody>
          <a:bodyPr>
            <a:normAutofit/>
          </a:bodyPr>
          <a:lstStyle/>
          <a:p>
            <a:r>
              <a:rPr lang="en-US" sz="2400" dirty="0"/>
              <a:t>Cells obtain the energy needed to carryout functions of life from organic molecules</a:t>
            </a:r>
          </a:p>
          <a:p>
            <a:endParaRPr lang="en-US" sz="2400" dirty="0"/>
          </a:p>
          <a:p>
            <a:r>
              <a:rPr lang="en-US" sz="2400" dirty="0"/>
              <a:t>On Earth, most energy comes from the sun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Cellular Respiration is how cells </a:t>
            </a:r>
          </a:p>
          <a:p>
            <a:pPr marL="0" indent="0">
              <a:buNone/>
            </a:pPr>
            <a:r>
              <a:rPr lang="en-US" sz="2400" dirty="0"/>
              <a:t>   break down this food energy to create ATP</a:t>
            </a:r>
          </a:p>
        </p:txBody>
      </p:sp>
      <p:pic>
        <p:nvPicPr>
          <p:cNvPr id="2050" name="Picture 2" descr="Biodiversity - Info - Ollie Saves the Planet">
            <a:extLst>
              <a:ext uri="{FF2B5EF4-FFF2-40B4-BE49-F238E27FC236}">
                <a16:creationId xmlns:a16="http://schemas.microsoft.com/office/drawing/2014/main" id="{93F6EB80-7F24-2F82-E64A-270735D2F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895600"/>
            <a:ext cx="4791075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TP: Structure, Production, Synthesis, Functions">
            <a:extLst>
              <a:ext uri="{FF2B5EF4-FFF2-40B4-BE49-F238E27FC236}">
                <a16:creationId xmlns:a16="http://schemas.microsoft.com/office/drawing/2014/main" id="{51D9844E-43EF-C5EF-75B3-D007EFA0C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5095875"/>
            <a:ext cx="2533650" cy="1328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090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944562"/>
          </a:xfrm>
        </p:spPr>
        <p:txBody>
          <a:bodyPr>
            <a:normAutofit/>
          </a:bodyPr>
          <a:lstStyle/>
          <a:p>
            <a:r>
              <a:rPr lang="en-US" sz="3600" dirty="0"/>
              <a:t>Cellular Respiration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7467600" cy="5486400"/>
          </a:xfrm>
        </p:spPr>
        <p:txBody>
          <a:bodyPr>
            <a:normAutofit/>
          </a:bodyPr>
          <a:lstStyle/>
          <a:p>
            <a:r>
              <a:rPr lang="en-US" sz="2400" dirty="0"/>
              <a:t>Energy is stored in the bonds of organic molecules (food) </a:t>
            </a:r>
          </a:p>
          <a:p>
            <a:endParaRPr lang="en-US" sz="2400" dirty="0"/>
          </a:p>
          <a:p>
            <a:r>
              <a:rPr lang="en-US" sz="2400" dirty="0"/>
              <a:t>Catabolic pathways break these bonds to release energy</a:t>
            </a:r>
          </a:p>
          <a:p>
            <a:pPr lvl="1"/>
            <a:r>
              <a:rPr lang="en-US" sz="2000" dirty="0"/>
              <a:t>Exergonic or endergonic?</a:t>
            </a:r>
          </a:p>
          <a:p>
            <a:pPr lvl="1"/>
            <a:endParaRPr lang="en-US" sz="2000" dirty="0"/>
          </a:p>
          <a:p>
            <a:r>
              <a:rPr lang="en-US" sz="2400" dirty="0"/>
              <a:t>Cells convert food to energy through:</a:t>
            </a:r>
          </a:p>
          <a:p>
            <a:pPr lvl="1"/>
            <a:r>
              <a:rPr lang="en-US" sz="2400" dirty="0"/>
              <a:t>Cellular respiration</a:t>
            </a:r>
          </a:p>
          <a:p>
            <a:pPr lvl="2"/>
            <a:r>
              <a:rPr lang="en-US" sz="1800" dirty="0"/>
              <a:t>In the presence O</a:t>
            </a:r>
            <a:r>
              <a:rPr lang="en-US" sz="1800" baseline="-25000" dirty="0"/>
              <a:t>2</a:t>
            </a:r>
          </a:p>
          <a:p>
            <a:pPr lvl="2"/>
            <a:r>
              <a:rPr lang="en-US" sz="1800" dirty="0"/>
              <a:t>More efficient</a:t>
            </a:r>
          </a:p>
          <a:p>
            <a:pPr lvl="1"/>
            <a:r>
              <a:rPr lang="en-US" sz="2400" dirty="0"/>
              <a:t>Fermentation</a:t>
            </a:r>
          </a:p>
          <a:p>
            <a:pPr lvl="2"/>
            <a:r>
              <a:rPr lang="en-US" sz="1800" dirty="0"/>
              <a:t>In the absence of O</a:t>
            </a:r>
            <a:r>
              <a:rPr lang="en-US" sz="1800" baseline="-25000" dirty="0"/>
              <a:t>2</a:t>
            </a:r>
          </a:p>
          <a:p>
            <a:pPr lvl="2"/>
            <a:r>
              <a:rPr lang="en-US" sz="1800" dirty="0"/>
              <a:t>Less efficient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95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Cellular Respiration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7467600" cy="4525963"/>
          </a:xfrm>
        </p:spPr>
        <p:txBody>
          <a:bodyPr/>
          <a:lstStyle/>
          <a:p>
            <a:pPr marL="36576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22" y="2438400"/>
            <a:ext cx="758715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3503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467600" cy="792162"/>
          </a:xfrm>
        </p:spPr>
        <p:txBody>
          <a:bodyPr>
            <a:normAutofit/>
          </a:bodyPr>
          <a:lstStyle/>
          <a:p>
            <a:r>
              <a:rPr lang="en-US" sz="4000" dirty="0"/>
              <a:t>High energy foods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10600" cy="3657600"/>
          </a:xfrm>
        </p:spPr>
        <p:txBody>
          <a:bodyPr>
            <a:normAutofit/>
          </a:bodyPr>
          <a:lstStyle/>
          <a:p>
            <a:pPr marL="36576" indent="0">
              <a:buNone/>
            </a:pPr>
            <a:endParaRPr lang="en-US" dirty="0"/>
          </a:p>
          <a:p>
            <a:pPr marL="36576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45456"/>
            <a:ext cx="1493708" cy="29098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122" y="2031728"/>
            <a:ext cx="4078437" cy="19573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5590818"/>
            <a:ext cx="3441482" cy="1026829"/>
          </a:xfrm>
          <a:prstGeom prst="rect">
            <a:avLst/>
          </a:prstGeom>
        </p:spPr>
      </p:pic>
      <p:pic>
        <p:nvPicPr>
          <p:cNvPr id="3074" name="Picture 2" descr="Glucose Rich Foods">
            <a:extLst>
              <a:ext uri="{FF2B5EF4-FFF2-40B4-BE49-F238E27FC236}">
                <a16:creationId xmlns:a16="http://schemas.microsoft.com/office/drawing/2014/main" id="{CE9E9409-625B-80CA-FE05-88BB0CA0E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17" y="4655344"/>
            <a:ext cx="3767137" cy="196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op 5 High Protein Foods">
            <a:extLst>
              <a:ext uri="{FF2B5EF4-FFF2-40B4-BE49-F238E27FC236}">
                <a16:creationId xmlns:a16="http://schemas.microsoft.com/office/drawing/2014/main" id="{676FC945-635A-73CC-4660-E22AE31E6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17" y="4220318"/>
            <a:ext cx="3148965" cy="1312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oods High in Triglycerides: What to Avoid for Heart Health">
            <a:extLst>
              <a:ext uri="{FF2B5EF4-FFF2-40B4-BE49-F238E27FC236}">
                <a16:creationId xmlns:a16="http://schemas.microsoft.com/office/drawing/2014/main" id="{1AB480C4-0F2A-8151-681F-6039444E6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478" y="0"/>
            <a:ext cx="3511441" cy="195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23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Energy and bonds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410200"/>
          </a:xfrm>
        </p:spPr>
        <p:txBody>
          <a:bodyPr>
            <a:normAutofit/>
          </a:bodyPr>
          <a:lstStyle/>
          <a:p>
            <a:r>
              <a:rPr lang="en-US" sz="2800" dirty="0"/>
              <a:t>The bonds in food (carbs, lipids, proteins) are potential energy waiting to be released</a:t>
            </a:r>
          </a:p>
          <a:p>
            <a:r>
              <a:rPr lang="en-US" sz="2800" dirty="0"/>
              <a:t>Cells release the energy through oxidation</a:t>
            </a:r>
          </a:p>
          <a:p>
            <a:r>
              <a:rPr lang="en-US" sz="2800" dirty="0"/>
              <a:t>But large molecules cannot be oxidized all at once</a:t>
            </a:r>
          </a:p>
          <a:p>
            <a:pPr lvl="1"/>
            <a:r>
              <a:rPr lang="en-US" sz="2400" dirty="0"/>
              <a:t>Must be oxidized through a series of reactions </a:t>
            </a:r>
          </a:p>
          <a:p>
            <a:pPr lvl="1"/>
            <a:endParaRPr lang="en-US" dirty="0"/>
          </a:p>
          <a:p>
            <a:pPr marL="36576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505200"/>
            <a:ext cx="466904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9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80C4-B95E-FCF9-B109-E7025B412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139" y="3132"/>
            <a:ext cx="6686550" cy="1462089"/>
          </a:xfrm>
        </p:spPr>
        <p:txBody>
          <a:bodyPr>
            <a:normAutofit/>
          </a:bodyPr>
          <a:lstStyle/>
          <a:p>
            <a:r>
              <a:rPr lang="en-US" sz="4000" dirty="0"/>
              <a:t>Oxidation and Reduction</a:t>
            </a:r>
          </a:p>
        </p:txBody>
      </p:sp>
      <p:pic>
        <p:nvPicPr>
          <p:cNvPr id="4098" name="Picture 2" descr="Oxidation, Reduction, and Redox Balancing Redox Reactions">
            <a:extLst>
              <a:ext uri="{FF2B5EF4-FFF2-40B4-BE49-F238E27FC236}">
                <a16:creationId xmlns:a16="http://schemas.microsoft.com/office/drawing/2014/main" id="{9702F6DE-8DB5-C35F-415C-2D553A0AB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71575"/>
            <a:ext cx="5030612" cy="2829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PT - Oxidation-Reduction Reactions PowerPoint Presentation, free download  - ID:1195783">
            <a:extLst>
              <a:ext uri="{FF2B5EF4-FFF2-40B4-BE49-F238E27FC236}">
                <a16:creationId xmlns:a16="http://schemas.microsoft.com/office/drawing/2014/main" id="{B3DBC554-C793-961E-5B16-95FC29E17C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4" t="3333" r="6875" b="28889"/>
          <a:stretch>
            <a:fillRect/>
          </a:stretch>
        </p:blipFill>
        <p:spPr bwMode="auto">
          <a:xfrm>
            <a:off x="4181605" y="3886200"/>
            <a:ext cx="4800600" cy="27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72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Energy and electrons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4953000"/>
          </a:xfrm>
        </p:spPr>
        <p:txBody>
          <a:bodyPr>
            <a:normAutofit/>
          </a:bodyPr>
          <a:lstStyle/>
          <a:p>
            <a:r>
              <a:rPr lang="en-US" sz="2800" dirty="0"/>
              <a:t>Glucose is oxidized in stages</a:t>
            </a:r>
          </a:p>
          <a:p>
            <a:pPr lvl="1"/>
            <a:r>
              <a:rPr lang="en-US" sz="2400" dirty="0"/>
              <a:t>Cells transfer the potential energy contained in the bonds of glucose to electron carriers.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The electron carriers move the electrons to last phase of cellular respiration</a:t>
            </a:r>
          </a:p>
          <a:p>
            <a:pPr marL="749808" lvl="2" indent="0">
              <a:buNone/>
            </a:pPr>
            <a:endParaRPr lang="en-US" sz="1800" dirty="0"/>
          </a:p>
          <a:p>
            <a:r>
              <a:rPr lang="en-US" sz="2800" dirty="0"/>
              <a:t>NAD</a:t>
            </a:r>
            <a:r>
              <a:rPr lang="en-US" sz="2800" baseline="30000" dirty="0"/>
              <a:t>+</a:t>
            </a:r>
            <a:r>
              <a:rPr lang="en-US" sz="2800" dirty="0"/>
              <a:t> </a:t>
            </a:r>
            <a:r>
              <a:rPr lang="en-US" sz="2800" dirty="0">
                <a:sym typeface="Wingdings" panose="05000000000000000000" pitchFamily="2" charset="2"/>
              </a:rPr>
              <a:t> NADH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NAD+ is reduced to NADH</a:t>
            </a:r>
          </a:p>
          <a:p>
            <a:pPr lvl="1"/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FAD  FADH</a:t>
            </a:r>
            <a:r>
              <a:rPr lang="en-US" sz="2800" baseline="-25000" dirty="0">
                <a:sym typeface="Wingdings" panose="05000000000000000000" pitchFamily="2" charset="2"/>
              </a:rPr>
              <a:t>2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FAD is reduced to FADH</a:t>
            </a:r>
            <a:r>
              <a:rPr lang="en-US" sz="2400" baseline="-25000" dirty="0">
                <a:sym typeface="Wingdings" panose="05000000000000000000" pitchFamily="2" charset="2"/>
              </a:rPr>
              <a:t>2</a:t>
            </a:r>
            <a:endParaRPr lang="en-US" sz="2400" dirty="0">
              <a:sym typeface="Wingdings" panose="05000000000000000000" pitchFamily="2" charset="2"/>
            </a:endParaRPr>
          </a:p>
          <a:p>
            <a:pPr marL="36576" indent="0">
              <a:buNone/>
            </a:pPr>
            <a:endParaRPr lang="en-US" dirty="0"/>
          </a:p>
        </p:txBody>
      </p:sp>
      <p:pic>
        <p:nvPicPr>
          <p:cNvPr id="4" name="Picture 2" descr="Oxidation, Reduction, and Redox Balancing Redox Reactions">
            <a:extLst>
              <a:ext uri="{FF2B5EF4-FFF2-40B4-BE49-F238E27FC236}">
                <a16:creationId xmlns:a16="http://schemas.microsoft.com/office/drawing/2014/main" id="{956BAE7D-3B58-5F20-B99B-9B1B11E09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114800"/>
            <a:ext cx="3049412" cy="171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65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380621"/>
            <a:ext cx="8457056" cy="4525963"/>
          </a:xfrm>
        </p:spPr>
        <p:txBody>
          <a:bodyPr/>
          <a:lstStyle/>
          <a:p>
            <a:r>
              <a:rPr lang="en-US" sz="2400" dirty="0"/>
              <a:t>NAD</a:t>
            </a:r>
            <a:r>
              <a:rPr lang="en-US" sz="2400" baseline="30000" dirty="0"/>
              <a:t>+</a:t>
            </a:r>
            <a:r>
              <a:rPr lang="en-US" sz="2400" dirty="0"/>
              <a:t> is reduced to NADH</a:t>
            </a:r>
          </a:p>
          <a:p>
            <a:pPr lvl="1"/>
            <a:r>
              <a:rPr lang="en-US" sz="2000" dirty="0"/>
              <a:t>Gains 1 Hydrogen and 2 electrons</a:t>
            </a:r>
          </a:p>
          <a:p>
            <a:pPr lvl="2"/>
            <a:r>
              <a:rPr lang="en-US" sz="1600" dirty="0"/>
              <a:t>This is potential energy being transferred to NADH</a:t>
            </a:r>
          </a:p>
          <a:p>
            <a:r>
              <a:rPr lang="en-US" sz="2400" dirty="0"/>
              <a:t>Will hold those electrons until the last phase of cellular respiration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43" y="2362200"/>
            <a:ext cx="8760711" cy="3121423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3124200" y="3352800"/>
            <a:ext cx="1219200" cy="76200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9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Cellular Respiration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6172200"/>
          </a:xfrm>
        </p:spPr>
        <p:txBody>
          <a:bodyPr>
            <a:normAutofit/>
          </a:bodyPr>
          <a:lstStyle/>
          <a:p>
            <a:r>
              <a:rPr lang="en-US" sz="2400" u="sng" dirty="0"/>
              <a:t>1</a:t>
            </a:r>
            <a:r>
              <a:rPr lang="en-US" sz="2400" u="sng" baseline="30000" dirty="0"/>
              <a:t>st</a:t>
            </a:r>
            <a:r>
              <a:rPr lang="en-US" sz="2400" u="sng" dirty="0"/>
              <a:t> phase: Glycolysis</a:t>
            </a:r>
          </a:p>
          <a:p>
            <a:pPr lvl="1"/>
            <a:r>
              <a:rPr lang="en-US" sz="2000" dirty="0"/>
              <a:t>Breaks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glucose</a:t>
            </a:r>
            <a:r>
              <a:rPr lang="en-US" sz="2000" dirty="0"/>
              <a:t> into 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 pyruvate </a:t>
            </a:r>
            <a:r>
              <a:rPr lang="en-US" sz="2000" dirty="0"/>
              <a:t>molecules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2 ATP </a:t>
            </a:r>
            <a:r>
              <a:rPr lang="en-US" sz="2000" dirty="0"/>
              <a:t>produced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2 NADH </a:t>
            </a:r>
            <a:r>
              <a:rPr lang="en-US" sz="2000" dirty="0"/>
              <a:t>produced</a:t>
            </a:r>
          </a:p>
          <a:p>
            <a:r>
              <a:rPr lang="en-US" sz="2400" u="sng" dirty="0"/>
              <a:t>2</a:t>
            </a:r>
            <a:r>
              <a:rPr lang="en-US" sz="2400" u="sng" baseline="30000" dirty="0"/>
              <a:t>nd</a:t>
            </a:r>
            <a:r>
              <a:rPr lang="en-US" sz="2400" u="sng" dirty="0"/>
              <a:t> phase: Pyruvate Oxidation</a:t>
            </a:r>
          </a:p>
          <a:p>
            <a:pPr lvl="1"/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Pyruvate</a:t>
            </a:r>
            <a:r>
              <a:rPr lang="en-US" sz="2000" dirty="0"/>
              <a:t> is oxidized, bonds with Coenzyme A</a:t>
            </a:r>
          </a:p>
          <a:p>
            <a:pPr lvl="1"/>
            <a:r>
              <a:rPr lang="en-US" sz="2000" dirty="0"/>
              <a:t>Forms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Acetyl-CoA</a:t>
            </a:r>
          </a:p>
          <a:p>
            <a:r>
              <a:rPr lang="en-US" sz="2400" u="sng" dirty="0"/>
              <a:t>3</a:t>
            </a:r>
            <a:r>
              <a:rPr lang="en-US" sz="2400" u="sng" baseline="30000" dirty="0"/>
              <a:t>rd</a:t>
            </a:r>
            <a:r>
              <a:rPr lang="en-US" sz="2400" u="sng" dirty="0"/>
              <a:t> phase: Citric Acid Cycle (CAC)</a:t>
            </a:r>
          </a:p>
          <a:p>
            <a:pPr lvl="1"/>
            <a:r>
              <a:rPr lang="en-US" sz="2000" dirty="0"/>
              <a:t>Breaks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 Acetyl-CoA </a:t>
            </a:r>
            <a:r>
              <a:rPr lang="en-US" sz="2000" dirty="0"/>
              <a:t>(from the pyruvate molecules)</a:t>
            </a:r>
          </a:p>
          <a:p>
            <a:pPr lvl="1"/>
            <a:r>
              <a:rPr lang="en-US" sz="2000" dirty="0"/>
              <a:t>Produces CO</a:t>
            </a:r>
            <a:r>
              <a:rPr lang="en-US" sz="2000" baseline="-25000" dirty="0"/>
              <a:t>2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2 ATP </a:t>
            </a:r>
            <a:r>
              <a:rPr lang="en-US" sz="2000" dirty="0"/>
              <a:t>produced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6 NADH, 2 FADH</a:t>
            </a:r>
            <a:r>
              <a:rPr lang="en-US" sz="2000" baseline="-25000" dirty="0">
                <a:highlight>
                  <a:srgbClr val="FFFF00"/>
                </a:highlight>
              </a:rPr>
              <a:t>2</a:t>
            </a:r>
            <a:r>
              <a:rPr lang="en-US" sz="2000" baseline="-25000" dirty="0"/>
              <a:t> </a:t>
            </a:r>
            <a:r>
              <a:rPr lang="en-US" sz="2000" dirty="0"/>
              <a:t> produced</a:t>
            </a:r>
          </a:p>
          <a:p>
            <a:r>
              <a:rPr lang="en-US" sz="2400" u="sng" dirty="0"/>
              <a:t>4</a:t>
            </a:r>
            <a:r>
              <a:rPr lang="en-US" sz="2400" u="sng" baseline="30000" dirty="0"/>
              <a:t>th</a:t>
            </a:r>
            <a:r>
              <a:rPr lang="en-US" sz="2400" u="sng" dirty="0"/>
              <a:t> phase: Oxidative Phosphorylation </a:t>
            </a:r>
          </a:p>
          <a:p>
            <a:pPr lvl="1"/>
            <a:r>
              <a:rPr lang="en-US" sz="2000" dirty="0"/>
              <a:t>Electron Transport Chain (ETC)</a:t>
            </a:r>
          </a:p>
          <a:p>
            <a:pPr lvl="1"/>
            <a:r>
              <a:rPr lang="en-US" sz="2000" dirty="0"/>
              <a:t>Chemiosmosis</a:t>
            </a:r>
          </a:p>
          <a:p>
            <a:pPr lvl="1"/>
            <a:r>
              <a:rPr lang="en-US" sz="2000" dirty="0"/>
              <a:t>Produces </a:t>
            </a:r>
            <a:r>
              <a:rPr lang="en-US" sz="2000" dirty="0">
                <a:highlight>
                  <a:srgbClr val="FFFF00"/>
                </a:highlight>
              </a:rPr>
              <a:t>lots of ATP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427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82" y="381000"/>
            <a:ext cx="83820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Who? What? When? Where?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182" y="1524000"/>
            <a:ext cx="8686800" cy="4800600"/>
          </a:xfrm>
        </p:spPr>
        <p:txBody>
          <a:bodyPr>
            <a:normAutofit/>
          </a:bodyPr>
          <a:lstStyle/>
          <a:p>
            <a:r>
              <a:rPr lang="en-US" sz="2800" dirty="0"/>
              <a:t>For each phase of Cellular Respiration, you need to ask the Five W questions.</a:t>
            </a:r>
          </a:p>
          <a:p>
            <a:pPr lvl="1"/>
            <a:r>
              <a:rPr lang="en-US" sz="2400" u="sng" dirty="0"/>
              <a:t>When</a:t>
            </a:r>
            <a:r>
              <a:rPr lang="en-US" sz="2400" dirty="0"/>
              <a:t> does this happen (compared to the other phases)?</a:t>
            </a:r>
          </a:p>
          <a:p>
            <a:pPr lvl="1"/>
            <a:r>
              <a:rPr lang="en-US" sz="2400" u="sng" dirty="0"/>
              <a:t>Where</a:t>
            </a:r>
            <a:r>
              <a:rPr lang="en-US" sz="2400" dirty="0"/>
              <a:t> is it taking place?</a:t>
            </a:r>
          </a:p>
          <a:p>
            <a:pPr lvl="1"/>
            <a:r>
              <a:rPr lang="en-US" sz="2400" u="sng" dirty="0"/>
              <a:t>Who</a:t>
            </a:r>
            <a:r>
              <a:rPr lang="en-US" sz="2400" dirty="0"/>
              <a:t> is the main player (the reactant)?</a:t>
            </a:r>
          </a:p>
          <a:p>
            <a:pPr lvl="1"/>
            <a:r>
              <a:rPr lang="en-US" sz="2400" u="sng" dirty="0"/>
              <a:t>What</a:t>
            </a:r>
            <a:r>
              <a:rPr lang="en-US" sz="2400" dirty="0"/>
              <a:t> is created (the product)? And where does it go next?</a:t>
            </a:r>
          </a:p>
          <a:p>
            <a:pPr lvl="1"/>
            <a:r>
              <a:rPr lang="en-US" sz="2400" u="sng" dirty="0"/>
              <a:t>Why</a:t>
            </a:r>
            <a:r>
              <a:rPr lang="en-US" sz="2400" dirty="0"/>
              <a:t> is this happening?</a:t>
            </a:r>
          </a:p>
          <a:p>
            <a:pPr lvl="1"/>
            <a:endParaRPr lang="en-US" sz="2400" dirty="0"/>
          </a:p>
          <a:p>
            <a:r>
              <a:rPr lang="en-US" sz="3200" dirty="0"/>
              <a:t>You also need to be familiar with the anatomy of mitochondria</a:t>
            </a:r>
          </a:p>
        </p:txBody>
      </p:sp>
    </p:spTree>
    <p:extLst>
      <p:ext uri="{BB962C8B-B14F-4D97-AF65-F5344CB8AC3E}">
        <p14:creationId xmlns:p14="http://schemas.microsoft.com/office/powerpoint/2010/main" val="2453037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1A7D78FC-C176-CECC-7799-609D5B60A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945274"/>
            <a:ext cx="7239000" cy="496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041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467600" cy="6858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Glycolysis = “sugar splitting”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4" y="1371600"/>
            <a:ext cx="8035636" cy="3733800"/>
          </a:xfrm>
        </p:spPr>
        <p:txBody>
          <a:bodyPr>
            <a:noAutofit/>
          </a:bodyPr>
          <a:lstStyle/>
          <a:p>
            <a:r>
              <a:rPr lang="en-US" sz="2800" u="sng" dirty="0"/>
              <a:t>When</a:t>
            </a:r>
            <a:r>
              <a:rPr lang="en-US" sz="2800" dirty="0"/>
              <a:t>:  First phase</a:t>
            </a:r>
          </a:p>
          <a:p>
            <a:r>
              <a:rPr lang="en-US" sz="2800" u="sng" dirty="0"/>
              <a:t>Where</a:t>
            </a:r>
            <a:r>
              <a:rPr lang="en-US" sz="2800" dirty="0"/>
              <a:t>:  In the cytosol of the cell</a:t>
            </a:r>
          </a:p>
          <a:p>
            <a:r>
              <a:rPr lang="en-US" sz="2800" u="sng" dirty="0"/>
              <a:t>Who</a:t>
            </a:r>
            <a:r>
              <a:rPr lang="en-US" sz="2800" dirty="0"/>
              <a:t> is the main player:  Glucose</a:t>
            </a:r>
          </a:p>
          <a:p>
            <a:r>
              <a:rPr lang="en-US" sz="2800" u="sng" dirty="0"/>
              <a:t>What</a:t>
            </a:r>
            <a:r>
              <a:rPr lang="en-US" sz="2800" dirty="0"/>
              <a:t> goes in:</a:t>
            </a:r>
          </a:p>
          <a:p>
            <a:pPr lvl="1"/>
            <a:r>
              <a:rPr lang="en-US" sz="2800" dirty="0">
                <a:solidFill>
                  <a:srgbClr val="00B050"/>
                </a:solidFill>
              </a:rPr>
              <a:t>Glucose</a:t>
            </a:r>
          </a:p>
          <a:p>
            <a:pPr lvl="1"/>
            <a:r>
              <a:rPr lang="en-US" sz="2800" dirty="0">
                <a:solidFill>
                  <a:srgbClr val="00B050"/>
                </a:solidFill>
              </a:rPr>
              <a:t>2 ATP</a:t>
            </a:r>
          </a:p>
          <a:p>
            <a:pPr lvl="1"/>
            <a:r>
              <a:rPr lang="en-US" sz="2800" dirty="0">
                <a:solidFill>
                  <a:srgbClr val="00B050"/>
                </a:solidFill>
              </a:rPr>
              <a:t>2 NAD</a:t>
            </a:r>
            <a:r>
              <a:rPr lang="en-US" sz="2800" baseline="30000" dirty="0">
                <a:solidFill>
                  <a:srgbClr val="00B050"/>
                </a:solidFill>
              </a:rPr>
              <a:t>+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026" name="Picture 2" descr="Fructose and Glucose ...">
            <a:extLst>
              <a:ext uri="{FF2B5EF4-FFF2-40B4-BE49-F238E27FC236}">
                <a16:creationId xmlns:a16="http://schemas.microsoft.com/office/drawing/2014/main" id="{58F4A6E5-3CF9-366C-51FC-D872356B8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76200"/>
            <a:ext cx="2351376" cy="235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ATP (Adenosine Triphosphate ...">
            <a:extLst>
              <a:ext uri="{FF2B5EF4-FFF2-40B4-BE49-F238E27FC236}">
                <a16:creationId xmlns:a16="http://schemas.microsoft.com/office/drawing/2014/main" id="{2958349E-6E24-1DA6-E15D-21FD18752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695" y="2526474"/>
            <a:ext cx="3363574" cy="188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dd NAD+ to your IV Infusion – Island ...">
            <a:extLst>
              <a:ext uri="{FF2B5EF4-FFF2-40B4-BE49-F238E27FC236}">
                <a16:creationId xmlns:a16="http://schemas.microsoft.com/office/drawing/2014/main" id="{112BF768-BA45-86A9-CA09-3D4BDF392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373" y="450897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764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6858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Glycolysis (</a:t>
            </a:r>
            <a:r>
              <a:rPr lang="en-US" sz="4400" dirty="0" err="1"/>
              <a:t>con’t</a:t>
            </a:r>
            <a:r>
              <a:rPr lang="en-US" sz="44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62" y="1371600"/>
            <a:ext cx="4959927" cy="5181600"/>
          </a:xfrm>
        </p:spPr>
        <p:txBody>
          <a:bodyPr>
            <a:noAutofit/>
          </a:bodyPr>
          <a:lstStyle/>
          <a:p>
            <a:r>
              <a:rPr lang="en-US" sz="2800" u="sng" dirty="0"/>
              <a:t>What </a:t>
            </a:r>
            <a:r>
              <a:rPr lang="en-US" sz="2800" dirty="0"/>
              <a:t>are the products:</a:t>
            </a:r>
          </a:p>
          <a:p>
            <a:pPr lvl="1"/>
            <a:r>
              <a:rPr lang="en-US" sz="2800" dirty="0"/>
              <a:t>4 ATP (so </a:t>
            </a:r>
            <a:r>
              <a:rPr lang="en-US" sz="2800" dirty="0">
                <a:solidFill>
                  <a:srgbClr val="0070C0"/>
                </a:solidFill>
              </a:rPr>
              <a:t>2 net ATP</a:t>
            </a:r>
            <a:r>
              <a:rPr lang="en-US" sz="2800" dirty="0"/>
              <a:t>)</a:t>
            </a:r>
          </a:p>
          <a:p>
            <a:pPr lvl="2"/>
            <a:r>
              <a:rPr lang="en-US" sz="2400" dirty="0"/>
              <a:t>Substrate level phosphorylation</a:t>
            </a:r>
          </a:p>
          <a:p>
            <a:pPr lvl="2"/>
            <a:r>
              <a:rPr lang="en-US" sz="2400" dirty="0"/>
              <a:t>Where it goes next:  cells use ATP immediately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2 pyruvate molecules</a:t>
            </a:r>
          </a:p>
          <a:p>
            <a:pPr lvl="2"/>
            <a:r>
              <a:rPr lang="en-US" sz="2400" dirty="0"/>
              <a:t>Where they go next:  into mitochondrial matrix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2 NADH</a:t>
            </a:r>
          </a:p>
          <a:p>
            <a:pPr lvl="2"/>
            <a:r>
              <a:rPr lang="en-US" sz="2400" dirty="0"/>
              <a:t>Where they go next:  to Electron Transport Chain</a:t>
            </a:r>
          </a:p>
          <a:p>
            <a:endParaRPr lang="en-US" sz="2200" dirty="0"/>
          </a:p>
        </p:txBody>
      </p:sp>
      <p:pic>
        <p:nvPicPr>
          <p:cNvPr id="2050" name="Picture 2" descr="Pyruvate | Definition, Structure &amp; Uses ...">
            <a:extLst>
              <a:ext uri="{FF2B5EF4-FFF2-40B4-BE49-F238E27FC236}">
                <a16:creationId xmlns:a16="http://schemas.microsoft.com/office/drawing/2014/main" id="{1A9D8DF1-117E-08AF-6658-3DBCE73AC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16649"/>
            <a:ext cx="3013933" cy="168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AD/NADH and NADP/NADPH | AAT Bioquest">
            <a:extLst>
              <a:ext uri="{FF2B5EF4-FFF2-40B4-BE49-F238E27FC236}">
                <a16:creationId xmlns:a16="http://schemas.microsoft.com/office/drawing/2014/main" id="{C4BA085F-F6CC-0BAC-2451-8DB87BA3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406" y="4650288"/>
            <a:ext cx="4451096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ubstrate-level phosphorylation - Labster">
            <a:extLst>
              <a:ext uri="{FF2B5EF4-FFF2-40B4-BE49-F238E27FC236}">
                <a16:creationId xmlns:a16="http://schemas.microsoft.com/office/drawing/2014/main" id="{506DAFB7-80D7-0200-6F89-65C4416E4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987" y="2185452"/>
            <a:ext cx="4138612" cy="218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212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D200-968E-1AE6-2821-8144BB14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DE781-63F3-D720-A9AD-9231E47E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6858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Glycolysis (</a:t>
            </a:r>
            <a:r>
              <a:rPr lang="en-US" sz="4400" dirty="0" err="1"/>
              <a:t>con’t</a:t>
            </a:r>
            <a:r>
              <a:rPr lang="en-US" sz="44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59360-1370-CE9D-3002-F7C6049B2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295400"/>
            <a:ext cx="8915400" cy="5181600"/>
          </a:xfrm>
        </p:spPr>
        <p:txBody>
          <a:bodyPr>
            <a:noAutofit/>
          </a:bodyPr>
          <a:lstStyle/>
          <a:p>
            <a:r>
              <a:rPr lang="en-US" sz="3200" u="sng" dirty="0"/>
              <a:t>Why</a:t>
            </a:r>
            <a:r>
              <a:rPr lang="en-US" sz="3200" dirty="0"/>
              <a:t> is this happening: </a:t>
            </a:r>
          </a:p>
          <a:p>
            <a:pPr lvl="1"/>
            <a:r>
              <a:rPr lang="en-US" sz="2800" dirty="0"/>
              <a:t>Oxidize glucose to pyruvate</a:t>
            </a:r>
          </a:p>
          <a:p>
            <a:pPr lvl="2"/>
            <a:r>
              <a:rPr lang="en-US" sz="2400" dirty="0"/>
              <a:t>One 6-carbon molecule (glucose) is oxidized into two 3-carbon molecules (pyruvates)</a:t>
            </a:r>
          </a:p>
          <a:p>
            <a:pPr lvl="1"/>
            <a:r>
              <a:rPr lang="en-US" sz="2800" dirty="0"/>
              <a:t>Creates NADH electron carriers</a:t>
            </a:r>
          </a:p>
        </p:txBody>
      </p:sp>
    </p:spTree>
    <p:extLst>
      <p:ext uri="{BB962C8B-B14F-4D97-AF65-F5344CB8AC3E}">
        <p14:creationId xmlns:p14="http://schemas.microsoft.com/office/powerpoint/2010/main" val="851783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70" y="304800"/>
            <a:ext cx="4396782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val 1"/>
          <p:cNvSpPr/>
          <p:nvPr/>
        </p:nvSpPr>
        <p:spPr>
          <a:xfrm>
            <a:off x="4724400" y="685800"/>
            <a:ext cx="914400" cy="4572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876800" y="1371600"/>
            <a:ext cx="914400" cy="4572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905000" y="4049697"/>
            <a:ext cx="914400" cy="4572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807476" y="4038600"/>
            <a:ext cx="914400" cy="4572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791200" y="5410200"/>
            <a:ext cx="9144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057400" y="5410200"/>
            <a:ext cx="9144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905000" y="4515035"/>
            <a:ext cx="9144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825231" y="4515035"/>
            <a:ext cx="9144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743200" y="5791200"/>
            <a:ext cx="1219200" cy="6858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774707" y="5791200"/>
            <a:ext cx="1219200" cy="6858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7256E-15F3-8A41-0BAD-EF641B4267D9}"/>
              </a:ext>
            </a:extLst>
          </p:cNvPr>
          <p:cNvSpPr txBox="1"/>
          <p:nvPr/>
        </p:nvSpPr>
        <p:spPr>
          <a:xfrm>
            <a:off x="6590652" y="3077415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G3P</a:t>
            </a:r>
          </a:p>
        </p:txBody>
      </p:sp>
    </p:spTree>
    <p:extLst>
      <p:ext uri="{BB962C8B-B14F-4D97-AF65-F5344CB8AC3E}">
        <p14:creationId xmlns:p14="http://schemas.microsoft.com/office/powerpoint/2010/main" val="780677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F872A-E872-EEAA-B0EB-2AB15F8D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9C66AA0-12AB-D4A4-C355-6EDD63166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70" y="304800"/>
            <a:ext cx="4396782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B76DAFA-B180-70FA-1461-A93A918146A3}"/>
              </a:ext>
            </a:extLst>
          </p:cNvPr>
          <p:cNvSpPr/>
          <p:nvPr/>
        </p:nvSpPr>
        <p:spPr>
          <a:xfrm>
            <a:off x="4724400" y="685800"/>
            <a:ext cx="914400" cy="4572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9BCF70-481B-64F8-BE73-34D8173498D3}"/>
              </a:ext>
            </a:extLst>
          </p:cNvPr>
          <p:cNvSpPr/>
          <p:nvPr/>
        </p:nvSpPr>
        <p:spPr>
          <a:xfrm>
            <a:off x="4876800" y="1371600"/>
            <a:ext cx="914400" cy="4572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E215A5-3D36-17AF-2FE8-A6FC6093A40D}"/>
              </a:ext>
            </a:extLst>
          </p:cNvPr>
          <p:cNvSpPr/>
          <p:nvPr/>
        </p:nvSpPr>
        <p:spPr>
          <a:xfrm>
            <a:off x="1905000" y="4049697"/>
            <a:ext cx="914400" cy="4572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10027B-A340-009A-2ABA-1E30BB78E836}"/>
              </a:ext>
            </a:extLst>
          </p:cNvPr>
          <p:cNvSpPr/>
          <p:nvPr/>
        </p:nvSpPr>
        <p:spPr>
          <a:xfrm>
            <a:off x="5807476" y="4038600"/>
            <a:ext cx="914400" cy="4572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E88E3D2-BB20-9309-5190-FF9E2F582F28}"/>
              </a:ext>
            </a:extLst>
          </p:cNvPr>
          <p:cNvSpPr/>
          <p:nvPr/>
        </p:nvSpPr>
        <p:spPr>
          <a:xfrm>
            <a:off x="5791200" y="5410200"/>
            <a:ext cx="9144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A6F75B-CA92-27DA-EE4B-B94ABD753AC5}"/>
              </a:ext>
            </a:extLst>
          </p:cNvPr>
          <p:cNvSpPr/>
          <p:nvPr/>
        </p:nvSpPr>
        <p:spPr>
          <a:xfrm>
            <a:off x="2057400" y="5410200"/>
            <a:ext cx="9144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8A2B9A-33C6-B87A-5A27-C837FD589A9B}"/>
              </a:ext>
            </a:extLst>
          </p:cNvPr>
          <p:cNvSpPr/>
          <p:nvPr/>
        </p:nvSpPr>
        <p:spPr>
          <a:xfrm>
            <a:off x="1905000" y="4515035"/>
            <a:ext cx="9144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C196B6-7D43-9D32-6E39-B124178C13DF}"/>
              </a:ext>
            </a:extLst>
          </p:cNvPr>
          <p:cNvSpPr/>
          <p:nvPr/>
        </p:nvSpPr>
        <p:spPr>
          <a:xfrm>
            <a:off x="5825231" y="4515035"/>
            <a:ext cx="9144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AF3B31-8639-1774-9F4B-1E79BE9F400D}"/>
              </a:ext>
            </a:extLst>
          </p:cNvPr>
          <p:cNvSpPr/>
          <p:nvPr/>
        </p:nvSpPr>
        <p:spPr>
          <a:xfrm>
            <a:off x="2743200" y="5791200"/>
            <a:ext cx="1219200" cy="6858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D9E612-6573-27AE-E305-8535555A19D5}"/>
              </a:ext>
            </a:extLst>
          </p:cNvPr>
          <p:cNvSpPr/>
          <p:nvPr/>
        </p:nvSpPr>
        <p:spPr>
          <a:xfrm>
            <a:off x="4774707" y="5791200"/>
            <a:ext cx="1219200" cy="6858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55FC9-4C0A-A0AD-D0E2-0C36D0B051EF}"/>
              </a:ext>
            </a:extLst>
          </p:cNvPr>
          <p:cNvSpPr txBox="1"/>
          <p:nvPr/>
        </p:nvSpPr>
        <p:spPr>
          <a:xfrm>
            <a:off x="6620787" y="3077415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G3P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AF069B-F4B3-2B78-53B2-B55916544A49}"/>
              </a:ext>
            </a:extLst>
          </p:cNvPr>
          <p:cNvCxnSpPr>
            <a:cxnSpLocks/>
          </p:cNvCxnSpPr>
          <p:nvPr/>
        </p:nvCxnSpPr>
        <p:spPr>
          <a:xfrm>
            <a:off x="5029200" y="1306882"/>
            <a:ext cx="609600" cy="609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40AE2B-2F00-CE30-239D-DED9934341C7}"/>
              </a:ext>
            </a:extLst>
          </p:cNvPr>
          <p:cNvCxnSpPr>
            <a:cxnSpLocks/>
          </p:cNvCxnSpPr>
          <p:nvPr/>
        </p:nvCxnSpPr>
        <p:spPr>
          <a:xfrm>
            <a:off x="2163735" y="5295900"/>
            <a:ext cx="609600" cy="609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4CE2501-EB72-5396-1E34-303D1CC2F2D2}"/>
              </a:ext>
            </a:extLst>
          </p:cNvPr>
          <p:cNvSpPr txBox="1"/>
          <p:nvPr/>
        </p:nvSpPr>
        <p:spPr>
          <a:xfrm>
            <a:off x="7086600" y="5410200"/>
            <a:ext cx="1180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 Net ATP</a:t>
            </a:r>
          </a:p>
        </p:txBody>
      </p:sp>
    </p:spTree>
    <p:extLst>
      <p:ext uri="{BB962C8B-B14F-4D97-AF65-F5344CB8AC3E}">
        <p14:creationId xmlns:p14="http://schemas.microsoft.com/office/powerpoint/2010/main" val="440706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667234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1524000" y="4496013"/>
            <a:ext cx="990600" cy="5847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990600" y="1371600"/>
            <a:ext cx="2133600" cy="83820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46518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These move on to the Electron Transport Chain (part of Oxidative Phosphorylation)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209800" y="757535"/>
            <a:ext cx="76200" cy="53786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81200" y="3048000"/>
            <a:ext cx="1295400" cy="457200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71800" y="5762665"/>
            <a:ext cx="365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Cells use this ATP immediately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1400" y="4496014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These move into mitochondrial matrix for the next phase in cellular respiration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286000" y="4917570"/>
            <a:ext cx="2057400" cy="8450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819400" y="3505200"/>
            <a:ext cx="762000" cy="99081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19400" y="3121223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4097265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8919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Pyruvate Oxidation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305800" cy="4419600"/>
          </a:xfrm>
        </p:spPr>
        <p:txBody>
          <a:bodyPr>
            <a:normAutofit/>
          </a:bodyPr>
          <a:lstStyle/>
          <a:p>
            <a:r>
              <a:rPr lang="en-US" sz="2800" u="sng" dirty="0"/>
              <a:t>When</a:t>
            </a:r>
            <a:r>
              <a:rPr lang="en-US" sz="2800" dirty="0"/>
              <a:t>:  After glycolysis (2</a:t>
            </a:r>
            <a:r>
              <a:rPr lang="en-US" sz="2800" baseline="30000" dirty="0"/>
              <a:t>nd</a:t>
            </a:r>
            <a:r>
              <a:rPr lang="en-US" sz="2800" dirty="0"/>
              <a:t> Step)</a:t>
            </a:r>
          </a:p>
          <a:p>
            <a:r>
              <a:rPr lang="en-US" sz="2800" u="sng" dirty="0"/>
              <a:t>Where</a:t>
            </a:r>
            <a:r>
              <a:rPr lang="en-US" sz="2800" dirty="0"/>
              <a:t>:  In mitochondrial matrix</a:t>
            </a:r>
          </a:p>
          <a:p>
            <a:r>
              <a:rPr lang="en-US" sz="2800" u="sng" dirty="0"/>
              <a:t>Who</a:t>
            </a:r>
            <a:r>
              <a:rPr lang="en-US" sz="2800" dirty="0"/>
              <a:t> is the main player:  Pyruvate</a:t>
            </a:r>
          </a:p>
          <a:p>
            <a:pPr lvl="1"/>
            <a:r>
              <a:rPr lang="en-US" sz="2400" dirty="0"/>
              <a:t>Is oxidized, bonds with Coenzyme A</a:t>
            </a:r>
          </a:p>
          <a:p>
            <a:pPr lvl="1"/>
            <a:r>
              <a:rPr lang="en-US" sz="2400" dirty="0"/>
              <a:t>Forms Acetyl-CoA</a:t>
            </a:r>
          </a:p>
          <a:p>
            <a:r>
              <a:rPr lang="en-US" sz="2800" u="sng" dirty="0"/>
              <a:t>What</a:t>
            </a:r>
            <a:r>
              <a:rPr lang="en-US" sz="2800" dirty="0"/>
              <a:t> goes in:</a:t>
            </a:r>
          </a:p>
          <a:p>
            <a:pPr lvl="1"/>
            <a:r>
              <a:rPr lang="en-US" sz="2400" dirty="0">
                <a:solidFill>
                  <a:srgbClr val="00B050"/>
                </a:solidFill>
              </a:rPr>
              <a:t>2 pyruvates (from glycolysis)</a:t>
            </a:r>
          </a:p>
          <a:p>
            <a:pPr lvl="1"/>
            <a:r>
              <a:rPr lang="en-US" sz="2400" dirty="0">
                <a:solidFill>
                  <a:srgbClr val="00B050"/>
                </a:solidFill>
              </a:rPr>
              <a:t>2 Coenzyme A</a:t>
            </a:r>
          </a:p>
          <a:p>
            <a:pPr lvl="1"/>
            <a:r>
              <a:rPr lang="en-US" sz="2400" dirty="0">
                <a:solidFill>
                  <a:srgbClr val="00B050"/>
                </a:solidFill>
              </a:rPr>
              <a:t>2 NAD</a:t>
            </a:r>
            <a:r>
              <a:rPr lang="en-US" sz="2400" baseline="30000" dirty="0">
                <a:solidFill>
                  <a:srgbClr val="00B050"/>
                </a:solidFill>
              </a:rPr>
              <a:t>+</a:t>
            </a:r>
            <a:endParaRPr lang="en-US" sz="2000" baseline="30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921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Pyruvate Oxidation (</a:t>
            </a:r>
            <a:r>
              <a:rPr lang="en-US" sz="3600" dirty="0" err="1"/>
              <a:t>con’t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05800" cy="5105400"/>
          </a:xfrm>
        </p:spPr>
        <p:txBody>
          <a:bodyPr>
            <a:normAutofit/>
          </a:bodyPr>
          <a:lstStyle/>
          <a:p>
            <a:r>
              <a:rPr lang="en-US" sz="2800" u="sng" dirty="0"/>
              <a:t>What</a:t>
            </a:r>
            <a:r>
              <a:rPr lang="en-US" sz="2800" dirty="0"/>
              <a:t> comes out: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2 Acetyl-CoA</a:t>
            </a:r>
          </a:p>
          <a:p>
            <a:pPr lvl="2"/>
            <a:r>
              <a:rPr lang="en-US" sz="2000" dirty="0"/>
              <a:t>Where they go next:  Citric Acid Cycle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2 NADH</a:t>
            </a:r>
          </a:p>
          <a:p>
            <a:pPr lvl="2"/>
            <a:r>
              <a:rPr lang="en-US" sz="2000" dirty="0"/>
              <a:t>Where they go next:  Electron Transport Chain (ETC)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2 CO</a:t>
            </a:r>
            <a:r>
              <a:rPr lang="en-US" sz="2400" baseline="-25000" dirty="0">
                <a:solidFill>
                  <a:srgbClr val="0070C0"/>
                </a:solidFill>
              </a:rPr>
              <a:t>2</a:t>
            </a:r>
            <a:endParaRPr lang="en-US" sz="2400" dirty="0">
              <a:solidFill>
                <a:srgbClr val="0070C0"/>
              </a:solidFill>
            </a:endParaRPr>
          </a:p>
          <a:p>
            <a:pPr lvl="2"/>
            <a:r>
              <a:rPr lang="en-US" sz="2000" dirty="0"/>
              <a:t>Where they go next:  we exhale these!</a:t>
            </a:r>
          </a:p>
          <a:p>
            <a:r>
              <a:rPr lang="en-US" sz="2600" u="sng" dirty="0"/>
              <a:t>Why</a:t>
            </a:r>
            <a:r>
              <a:rPr lang="en-US" sz="2600" dirty="0"/>
              <a:t> is this happening:  </a:t>
            </a:r>
          </a:p>
          <a:p>
            <a:pPr lvl="1"/>
            <a:r>
              <a:rPr lang="en-US" sz="2200" dirty="0"/>
              <a:t>Oxidize two 3-carbon pyruvate molecules to two 2-carbon Acetyl-CoA molecules</a:t>
            </a:r>
          </a:p>
          <a:p>
            <a:pPr lvl="1"/>
            <a:r>
              <a:rPr lang="en-US" sz="2200" dirty="0"/>
              <a:t>Creates more NADH electron carrier</a:t>
            </a:r>
          </a:p>
        </p:txBody>
      </p:sp>
    </p:spTree>
    <p:extLst>
      <p:ext uri="{BB962C8B-B14F-4D97-AF65-F5344CB8AC3E}">
        <p14:creationId xmlns:p14="http://schemas.microsoft.com/office/powerpoint/2010/main" val="2382371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4E4BB-CEF9-74B9-6DB4-5785A9398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3C39AF1-B536-40DB-B784-590F5CBE7364}"/>
              </a:ext>
            </a:extLst>
          </p:cNvPr>
          <p:cNvGrpSpPr/>
          <p:nvPr/>
        </p:nvGrpSpPr>
        <p:grpSpPr>
          <a:xfrm>
            <a:off x="1371600" y="304800"/>
            <a:ext cx="6925964" cy="3962400"/>
            <a:chOff x="1401763" y="1295401"/>
            <a:chExt cx="6925964" cy="3962400"/>
          </a:xfrm>
        </p:grpSpPr>
        <p:pic>
          <p:nvPicPr>
            <p:cNvPr id="10242" name="Picture 2">
              <a:extLst>
                <a:ext uri="{FF2B5EF4-FFF2-40B4-BE49-F238E27FC236}">
                  <a16:creationId xmlns:a16="http://schemas.microsoft.com/office/drawing/2014/main" id="{9572E74B-85A1-224B-A7D5-5EDC777F9C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1763" y="1295401"/>
              <a:ext cx="6925964" cy="396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94AA7A9-018B-F8A7-325B-837AE88BF137}"/>
                </a:ext>
              </a:extLst>
            </p:cNvPr>
            <p:cNvSpPr/>
            <p:nvPr/>
          </p:nvSpPr>
          <p:spPr>
            <a:xfrm>
              <a:off x="2133600" y="3810000"/>
              <a:ext cx="1143000" cy="4572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9427DC5-5735-03CD-71D3-586F2851F986}"/>
                </a:ext>
              </a:extLst>
            </p:cNvPr>
            <p:cNvSpPr/>
            <p:nvPr/>
          </p:nvSpPr>
          <p:spPr>
            <a:xfrm>
              <a:off x="3886200" y="3733800"/>
              <a:ext cx="609600" cy="457200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81AA048-C46A-535B-D4DE-3DB130FB4AFA}"/>
              </a:ext>
            </a:extLst>
          </p:cNvPr>
          <p:cNvSpPr txBox="1"/>
          <p:nvPr/>
        </p:nvSpPr>
        <p:spPr>
          <a:xfrm>
            <a:off x="228600" y="4800600"/>
            <a:ext cx="861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</a:t>
            </a:r>
            <a:r>
              <a:rPr lang="en-US" sz="2000" dirty="0">
                <a:solidFill>
                  <a:srgbClr val="FF0000"/>
                </a:solidFill>
              </a:rPr>
              <a:t>carboxyl group</a:t>
            </a:r>
            <a:r>
              <a:rPr lang="en-US" sz="2000" dirty="0"/>
              <a:t> is removed from pyruvate resulting in CO</a:t>
            </a:r>
            <a:r>
              <a:rPr lang="en-US" sz="2000" baseline="-25000" dirty="0"/>
              <a:t>2 </a:t>
            </a:r>
            <a:r>
              <a:rPr lang="en-US" sz="2000" dirty="0"/>
              <a:t> which is released.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231BD1-2E59-399E-ECD6-B069CCFD7EC8}"/>
              </a:ext>
            </a:extLst>
          </p:cNvPr>
          <p:cNvSpPr/>
          <p:nvPr/>
        </p:nvSpPr>
        <p:spPr>
          <a:xfrm>
            <a:off x="2316163" y="1524000"/>
            <a:ext cx="731837" cy="6096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1D881B-A14E-537A-B7D1-5248844738C7}"/>
              </a:ext>
            </a:extLst>
          </p:cNvPr>
          <p:cNvCxnSpPr>
            <a:stCxn id="10" idx="5"/>
          </p:cNvCxnSpPr>
          <p:nvPr/>
        </p:nvCxnSpPr>
        <p:spPr>
          <a:xfrm>
            <a:off x="2940825" y="2044327"/>
            <a:ext cx="915212" cy="698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701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371600" y="304800"/>
            <a:ext cx="6925964" cy="3962400"/>
            <a:chOff x="1401763" y="1295401"/>
            <a:chExt cx="6925964" cy="3962400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1763" y="1295401"/>
              <a:ext cx="6925964" cy="396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Oval 1"/>
            <p:cNvSpPr/>
            <p:nvPr/>
          </p:nvSpPr>
          <p:spPr>
            <a:xfrm>
              <a:off x="2133600" y="3810000"/>
              <a:ext cx="1143000" cy="4572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886200" y="2362200"/>
              <a:ext cx="609600" cy="3810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4495800" y="3581400"/>
              <a:ext cx="1219200" cy="4572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5791200" y="3581400"/>
              <a:ext cx="1295400" cy="457200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514665" y="2286000"/>
              <a:ext cx="819335" cy="457200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28600" y="4800600"/>
            <a:ext cx="8610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NAD+ is reduced to NADH</a:t>
            </a:r>
          </a:p>
          <a:p>
            <a:endParaRPr lang="en-US" sz="2000" dirty="0"/>
          </a:p>
          <a:p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acetyl group</a:t>
            </a:r>
            <a:r>
              <a:rPr lang="en-US" sz="2000" dirty="0"/>
              <a:t> is attached to Coenzyme A resulting in Acetyl CoA</a:t>
            </a:r>
          </a:p>
          <a:p>
            <a:endParaRPr lang="en-US" sz="2000" dirty="0"/>
          </a:p>
          <a:p>
            <a:r>
              <a:rPr lang="en-US" sz="2000" dirty="0"/>
              <a:t>(There are two pyruvate molecules, each go through this oxidation process)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2262576" y="2171699"/>
            <a:ext cx="731837" cy="6096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048000" y="2393763"/>
            <a:ext cx="2967682" cy="827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801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467600" cy="685800"/>
          </a:xfrm>
        </p:spPr>
        <p:txBody>
          <a:bodyPr>
            <a:normAutofit/>
          </a:bodyPr>
          <a:lstStyle/>
          <a:p>
            <a:r>
              <a:rPr lang="en-US" sz="4000" dirty="0"/>
              <a:t>Citric Acid Cycle (CAC)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915400" cy="5410200"/>
          </a:xfrm>
        </p:spPr>
        <p:txBody>
          <a:bodyPr>
            <a:normAutofit/>
          </a:bodyPr>
          <a:lstStyle/>
          <a:p>
            <a:r>
              <a:rPr lang="en-US" sz="2800" u="sng" dirty="0"/>
              <a:t>When</a:t>
            </a:r>
            <a:r>
              <a:rPr lang="en-US" sz="2800" dirty="0"/>
              <a:t>:  After pyruvate oxidation (3</a:t>
            </a:r>
            <a:r>
              <a:rPr lang="en-US" sz="2800" baseline="30000" dirty="0"/>
              <a:t>rd</a:t>
            </a:r>
            <a:r>
              <a:rPr lang="en-US" sz="2800" dirty="0"/>
              <a:t> Step)</a:t>
            </a:r>
          </a:p>
          <a:p>
            <a:r>
              <a:rPr lang="en-US" sz="2800" u="sng" dirty="0"/>
              <a:t>Where</a:t>
            </a:r>
            <a:r>
              <a:rPr lang="en-US" sz="2800" dirty="0"/>
              <a:t>:  still in mitochondrial matrix</a:t>
            </a:r>
          </a:p>
          <a:p>
            <a:r>
              <a:rPr lang="en-US" sz="2800" u="sng" dirty="0"/>
              <a:t>Who</a:t>
            </a:r>
            <a:r>
              <a:rPr lang="en-US" sz="2800" dirty="0"/>
              <a:t> is the main player:  1 Acetyl-CoA</a:t>
            </a:r>
          </a:p>
          <a:p>
            <a:r>
              <a:rPr lang="en-US" sz="2800" u="sng" dirty="0"/>
              <a:t>What</a:t>
            </a:r>
            <a:r>
              <a:rPr lang="en-US" sz="2800" dirty="0"/>
              <a:t> goes in:</a:t>
            </a:r>
          </a:p>
          <a:p>
            <a:pPr lvl="1"/>
            <a:r>
              <a:rPr lang="en-US" sz="2800" dirty="0">
                <a:solidFill>
                  <a:srgbClr val="00B050"/>
                </a:solidFill>
              </a:rPr>
              <a:t>1 Acetyl-CoA</a:t>
            </a:r>
          </a:p>
          <a:p>
            <a:pPr lvl="1"/>
            <a:r>
              <a:rPr lang="en-US" sz="2800" dirty="0">
                <a:solidFill>
                  <a:srgbClr val="00B050"/>
                </a:solidFill>
              </a:rPr>
              <a:t>3 NAD</a:t>
            </a:r>
            <a:r>
              <a:rPr lang="en-US" sz="2800" baseline="30000" dirty="0">
                <a:solidFill>
                  <a:srgbClr val="00B050"/>
                </a:solidFill>
              </a:rPr>
              <a:t>+</a:t>
            </a:r>
          </a:p>
          <a:p>
            <a:pPr lvl="1"/>
            <a:r>
              <a:rPr lang="en-US" sz="2800" dirty="0">
                <a:solidFill>
                  <a:srgbClr val="00B050"/>
                </a:solidFill>
              </a:rPr>
              <a:t>1 FAD</a:t>
            </a:r>
          </a:p>
          <a:p>
            <a:endParaRPr lang="en-US" sz="2800" dirty="0"/>
          </a:p>
          <a:p>
            <a:r>
              <a:rPr lang="en-US" sz="2800" dirty="0"/>
              <a:t>Remember: there were two Acetyl-CoA produced during Pyruvate Oxidation, each one goes through the CAC</a:t>
            </a:r>
          </a:p>
        </p:txBody>
      </p:sp>
      <p:sp>
        <p:nvSpPr>
          <p:cNvPr id="4" name="Right Brace 3"/>
          <p:cNvSpPr/>
          <p:nvPr/>
        </p:nvSpPr>
        <p:spPr>
          <a:xfrm>
            <a:off x="2971800" y="3109252"/>
            <a:ext cx="381000" cy="122503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352800" y="3352800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per Acetyl-CoA </a:t>
            </a:r>
            <a:r>
              <a:rPr lang="en-US" sz="2400" dirty="0"/>
              <a:t>(2 acetyl-CoA for each glucose)</a:t>
            </a:r>
          </a:p>
        </p:txBody>
      </p:sp>
    </p:spTree>
    <p:extLst>
      <p:ext uri="{BB962C8B-B14F-4D97-AF65-F5344CB8AC3E}">
        <p14:creationId xmlns:p14="http://schemas.microsoft.com/office/powerpoint/2010/main" val="150029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685800"/>
          </a:xfrm>
        </p:spPr>
        <p:txBody>
          <a:bodyPr>
            <a:normAutofit/>
          </a:bodyPr>
          <a:lstStyle/>
          <a:p>
            <a:r>
              <a:rPr lang="en-US" sz="4000" dirty="0"/>
              <a:t>Citric Acid Cycle (CAC)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867400"/>
          </a:xfrm>
        </p:spPr>
        <p:txBody>
          <a:bodyPr>
            <a:normAutofit/>
          </a:bodyPr>
          <a:lstStyle/>
          <a:p>
            <a:endParaRPr lang="en-US" sz="1800" dirty="0">
              <a:solidFill>
                <a:srgbClr val="00B050"/>
              </a:solidFill>
            </a:endParaRPr>
          </a:p>
          <a:p>
            <a:r>
              <a:rPr lang="en-US" sz="2800" u="sng" dirty="0"/>
              <a:t>What</a:t>
            </a:r>
            <a:r>
              <a:rPr lang="en-US" sz="2800" dirty="0"/>
              <a:t> comes out: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3 NADH</a:t>
            </a:r>
          </a:p>
          <a:p>
            <a:pPr lvl="2"/>
            <a:r>
              <a:rPr lang="en-US" sz="1600" dirty="0"/>
              <a:t>Where it goes next:  ETC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1 FADH</a:t>
            </a:r>
            <a:r>
              <a:rPr lang="en-US" sz="2800" baseline="-25000" dirty="0">
                <a:solidFill>
                  <a:srgbClr val="0070C0"/>
                </a:solidFill>
              </a:rPr>
              <a:t>2</a:t>
            </a:r>
            <a:endParaRPr lang="en-US" sz="2800" dirty="0">
              <a:solidFill>
                <a:srgbClr val="0070C0"/>
              </a:solidFill>
            </a:endParaRPr>
          </a:p>
          <a:p>
            <a:pPr lvl="2"/>
            <a:r>
              <a:rPr lang="en-US" sz="1600" dirty="0"/>
              <a:t>Where it goes next:  ETC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1 ATP</a:t>
            </a:r>
          </a:p>
          <a:p>
            <a:pPr lvl="2"/>
            <a:r>
              <a:rPr lang="en-US" sz="1600" dirty="0"/>
              <a:t>Substrate level phosphorylation</a:t>
            </a:r>
          </a:p>
          <a:p>
            <a:pPr lvl="2"/>
            <a:r>
              <a:rPr lang="en-US" sz="1600" dirty="0"/>
              <a:t>Where it goes next: cell uses it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</a:rPr>
              <a:t>2 CO</a:t>
            </a:r>
            <a:r>
              <a:rPr lang="en-US" sz="2800" baseline="-25000" dirty="0">
                <a:solidFill>
                  <a:srgbClr val="0070C0"/>
                </a:solidFill>
              </a:rPr>
              <a:t>2</a:t>
            </a:r>
            <a:endParaRPr lang="en-US" sz="2800" dirty="0">
              <a:solidFill>
                <a:srgbClr val="0070C0"/>
              </a:solidFill>
            </a:endParaRPr>
          </a:p>
          <a:p>
            <a:pPr lvl="2"/>
            <a:r>
              <a:rPr lang="en-US" sz="1600" dirty="0"/>
              <a:t>We exhale these</a:t>
            </a:r>
          </a:p>
          <a:p>
            <a:r>
              <a:rPr lang="en-US" sz="2800" u="sng" dirty="0"/>
              <a:t>Why</a:t>
            </a:r>
            <a:r>
              <a:rPr lang="en-US" sz="2800" dirty="0"/>
              <a:t> is this happening:  </a:t>
            </a:r>
          </a:p>
          <a:p>
            <a:pPr lvl="1"/>
            <a:r>
              <a:rPr lang="en-US" sz="2400" dirty="0"/>
              <a:t>Oxidize 2-carbon Acetyl-CoA to 1-carbon CO2</a:t>
            </a:r>
          </a:p>
          <a:p>
            <a:pPr lvl="1"/>
            <a:r>
              <a:rPr lang="en-US" sz="2400" dirty="0"/>
              <a:t>Creates NADH and FADH</a:t>
            </a:r>
            <a:r>
              <a:rPr lang="en-US" sz="2400" baseline="-25000" dirty="0"/>
              <a:t>2</a:t>
            </a:r>
            <a:r>
              <a:rPr lang="en-US" sz="2400" dirty="0"/>
              <a:t> electron carriers</a:t>
            </a:r>
          </a:p>
          <a:p>
            <a:endParaRPr lang="en-US" sz="2200" dirty="0"/>
          </a:p>
        </p:txBody>
      </p:sp>
      <p:sp>
        <p:nvSpPr>
          <p:cNvPr id="6" name="Right Brace 5"/>
          <p:cNvSpPr/>
          <p:nvPr/>
        </p:nvSpPr>
        <p:spPr>
          <a:xfrm>
            <a:off x="5486400" y="1638298"/>
            <a:ext cx="381000" cy="323850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57899" y="2362200"/>
            <a:ext cx="29337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per Acetyl-CoA </a:t>
            </a:r>
            <a:r>
              <a:rPr lang="en-US" sz="2400" dirty="0"/>
              <a:t>(2 acetyl-CoA for each glucose, so these amounts are doubled!)</a:t>
            </a:r>
          </a:p>
        </p:txBody>
      </p:sp>
    </p:spTree>
    <p:extLst>
      <p:ext uri="{BB962C8B-B14F-4D97-AF65-F5344CB8AC3E}">
        <p14:creationId xmlns:p14="http://schemas.microsoft.com/office/powerpoint/2010/main" val="3601742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819400" y="210343"/>
            <a:ext cx="4538662" cy="6437313"/>
            <a:chOff x="1524000" y="228600"/>
            <a:chExt cx="4538662" cy="6437313"/>
          </a:xfrm>
        </p:grpSpPr>
        <p:grpSp>
          <p:nvGrpSpPr>
            <p:cNvPr id="9" name="Group 8"/>
            <p:cNvGrpSpPr/>
            <p:nvPr/>
          </p:nvGrpSpPr>
          <p:grpSpPr>
            <a:xfrm>
              <a:off x="1524000" y="228600"/>
              <a:ext cx="4538662" cy="6437313"/>
              <a:chOff x="2319338" y="212725"/>
              <a:chExt cx="4538662" cy="6437313"/>
            </a:xfrm>
          </p:grpSpPr>
          <p:pic>
            <p:nvPicPr>
              <p:cNvPr id="11266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19338" y="212725"/>
                <a:ext cx="4505325" cy="64373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" name="Oval 1"/>
              <p:cNvSpPr/>
              <p:nvPr/>
            </p:nvSpPr>
            <p:spPr>
              <a:xfrm>
                <a:off x="3733800" y="2133600"/>
                <a:ext cx="1295400" cy="457200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/>
              <p:cNvSpPr/>
              <p:nvPr/>
            </p:nvSpPr>
            <p:spPr>
              <a:xfrm>
                <a:off x="2895600" y="5294050"/>
                <a:ext cx="609600" cy="344750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6096000" y="4800600"/>
                <a:ext cx="728663" cy="381000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5845968" y="5181600"/>
                <a:ext cx="1012032" cy="457200"/>
              </a:xfrm>
              <a:prstGeom prst="ellipse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2493168" y="4762500"/>
                <a:ext cx="1012032" cy="457200"/>
              </a:xfrm>
              <a:prstGeom prst="ellipse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3785598" y="6096000"/>
                <a:ext cx="1012032" cy="457200"/>
              </a:xfrm>
              <a:prstGeom prst="ellipse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6085284" y="4419600"/>
                <a:ext cx="772716" cy="367100"/>
              </a:xfrm>
              <a:prstGeom prst="ellipse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TextBox 2"/>
            <p:cNvSpPr txBox="1"/>
            <p:nvPr/>
          </p:nvSpPr>
          <p:spPr>
            <a:xfrm>
              <a:off x="5495925" y="4442911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CO</a:t>
              </a:r>
              <a:r>
                <a:rPr lang="en-US" sz="1200" b="1" baseline="-25000" dirty="0">
                  <a:solidFill>
                    <a:schemeClr val="bg1"/>
                  </a:solidFill>
                </a:rPr>
                <a:t>2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3DC625C-FA12-65AE-B6D7-15C533275E50}"/>
              </a:ext>
            </a:extLst>
          </p:cNvPr>
          <p:cNvSpPr txBox="1"/>
          <p:nvPr/>
        </p:nvSpPr>
        <p:spPr>
          <a:xfrm>
            <a:off x="4881562" y="424870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</a:t>
            </a:r>
          </a:p>
        </p:txBody>
      </p:sp>
    </p:spTree>
    <p:extLst>
      <p:ext uri="{BB962C8B-B14F-4D97-AF65-F5344CB8AC3E}">
        <p14:creationId xmlns:p14="http://schemas.microsoft.com/office/powerpoint/2010/main" val="4229772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00524"/>
            <a:ext cx="7010400" cy="585695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525A8AB-5DCF-E100-75E8-D172F7D3F83C}"/>
              </a:ext>
            </a:extLst>
          </p:cNvPr>
          <p:cNvSpPr/>
          <p:nvPr/>
        </p:nvSpPr>
        <p:spPr>
          <a:xfrm>
            <a:off x="7315200" y="3276600"/>
            <a:ext cx="533400" cy="304800"/>
          </a:xfrm>
          <a:prstGeom prst="ellipse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844B4D-BBA6-9363-DA1A-7ACD34FEC6F6}"/>
              </a:ext>
            </a:extLst>
          </p:cNvPr>
          <p:cNvSpPr/>
          <p:nvPr/>
        </p:nvSpPr>
        <p:spPr>
          <a:xfrm>
            <a:off x="5867400" y="5486400"/>
            <a:ext cx="533400" cy="304800"/>
          </a:xfrm>
          <a:prstGeom prst="ellipse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26AD8-0C48-012A-F88C-D75F2DB47BE6}"/>
              </a:ext>
            </a:extLst>
          </p:cNvPr>
          <p:cNvSpPr txBox="1"/>
          <p:nvPr/>
        </p:nvSpPr>
        <p:spPr>
          <a:xfrm>
            <a:off x="3429000" y="403860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bonds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E2BC7-C6BF-DA28-D290-AE59E7E1A012}"/>
              </a:ext>
            </a:extLst>
          </p:cNvPr>
          <p:cNvSpPr txBox="1"/>
          <p:nvPr/>
        </p:nvSpPr>
        <p:spPr>
          <a:xfrm>
            <a:off x="2489200" y="3647607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Dbl</a:t>
            </a:r>
            <a:r>
              <a:rPr lang="en-US" dirty="0"/>
              <a:t> bonds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C4E46-730B-5CF8-3D5C-7AC55D4CB092}"/>
              </a:ext>
            </a:extLst>
          </p:cNvPr>
          <p:cNvSpPr txBox="1"/>
          <p:nvPr/>
        </p:nvSpPr>
        <p:spPr>
          <a:xfrm>
            <a:off x="180061" y="3001276"/>
            <a:ext cx="1468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bonds +OH</a:t>
            </a:r>
          </a:p>
        </p:txBody>
      </p:sp>
    </p:spTree>
    <p:extLst>
      <p:ext uri="{BB962C8B-B14F-4D97-AF65-F5344CB8AC3E}">
        <p14:creationId xmlns:p14="http://schemas.microsoft.com/office/powerpoint/2010/main" val="2954419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05839" y="990600"/>
            <a:ext cx="7132322" cy="5181600"/>
            <a:chOff x="1676400" y="1143000"/>
            <a:chExt cx="5760722" cy="3886200"/>
          </a:xfrm>
        </p:grpSpPr>
        <p:pic>
          <p:nvPicPr>
            <p:cNvPr id="14339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1" t="11619" r="21221" b="22224"/>
            <a:stretch/>
          </p:blipFill>
          <p:spPr bwMode="auto">
            <a:xfrm>
              <a:off x="1676400" y="1143000"/>
              <a:ext cx="5760722" cy="3886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Oval 1"/>
            <p:cNvSpPr/>
            <p:nvPr/>
          </p:nvSpPr>
          <p:spPr>
            <a:xfrm>
              <a:off x="6172200" y="4191000"/>
              <a:ext cx="990600" cy="8382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59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2146</TotalTime>
  <Words>860</Words>
  <Application>Microsoft Office PowerPoint</Application>
  <PresentationFormat>On-screen Show (4:3)</PresentationFormat>
  <Paragraphs>165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Wingdings</vt:lpstr>
      <vt:lpstr>Office Theme</vt:lpstr>
      <vt:lpstr>Cellular Respiration and Fermentation</vt:lpstr>
      <vt:lpstr>Continuing the energy conversation</vt:lpstr>
      <vt:lpstr>Cellular Respiration</vt:lpstr>
      <vt:lpstr>Cellular Respiration Equation</vt:lpstr>
      <vt:lpstr>High energy foods</vt:lpstr>
      <vt:lpstr>Energy and bonds</vt:lpstr>
      <vt:lpstr>Oxidation and Reduction</vt:lpstr>
      <vt:lpstr>Energy and electrons</vt:lpstr>
      <vt:lpstr>PowerPoint Presentation</vt:lpstr>
      <vt:lpstr>Cellular Respiration Overview</vt:lpstr>
      <vt:lpstr>Who? What? When? Where? Why?</vt:lpstr>
      <vt:lpstr>PowerPoint Presentation</vt:lpstr>
      <vt:lpstr>Glycolysis = “sugar splitting”</vt:lpstr>
      <vt:lpstr>Glycolysis (con’t)</vt:lpstr>
      <vt:lpstr>Glycolysis (con’t)</vt:lpstr>
      <vt:lpstr>PowerPoint Presentation</vt:lpstr>
      <vt:lpstr>PowerPoint Presentation</vt:lpstr>
      <vt:lpstr>PowerPoint Presentation</vt:lpstr>
      <vt:lpstr>Pyruvate Oxidation</vt:lpstr>
      <vt:lpstr>Pyruvate Oxidation (con’t)</vt:lpstr>
      <vt:lpstr>PowerPoint Presentation</vt:lpstr>
      <vt:lpstr>PowerPoint Presentation</vt:lpstr>
      <vt:lpstr>Citric Acid Cycle (CAC)</vt:lpstr>
      <vt:lpstr>Citric Acid Cycle (CAC)</vt:lpstr>
      <vt:lpstr>PowerPoint Presentation</vt:lpstr>
      <vt:lpstr>PowerPoint Presentation</vt:lpstr>
      <vt:lpstr>PowerPoint Presentation</vt:lpstr>
    </vt:vector>
  </TitlesOfParts>
  <Company>University of Central Florida - College of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 Change:</dc:title>
  <dc:creator>Michele Yeargain</dc:creator>
  <cp:lastModifiedBy>Tiffany Dawson</cp:lastModifiedBy>
  <cp:revision>158</cp:revision>
  <dcterms:created xsi:type="dcterms:W3CDTF">2017-02-07T16:22:12Z</dcterms:created>
  <dcterms:modified xsi:type="dcterms:W3CDTF">2026-02-23T01:24:54Z</dcterms:modified>
</cp:coreProperties>
</file>