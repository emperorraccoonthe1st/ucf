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4"/>
  </p:notesMasterIdLst>
  <p:sldIdLst>
    <p:sldId id="389" r:id="rId2"/>
    <p:sldId id="354" r:id="rId3"/>
    <p:sldId id="364" r:id="rId4"/>
    <p:sldId id="388" r:id="rId5"/>
    <p:sldId id="355" r:id="rId6"/>
    <p:sldId id="357" r:id="rId7"/>
    <p:sldId id="359" r:id="rId8"/>
    <p:sldId id="372" r:id="rId9"/>
    <p:sldId id="390" r:id="rId10"/>
    <p:sldId id="391" r:id="rId11"/>
    <p:sldId id="360" r:id="rId12"/>
    <p:sldId id="362" r:id="rId13"/>
    <p:sldId id="363" r:id="rId14"/>
    <p:sldId id="377" r:id="rId15"/>
    <p:sldId id="375" r:id="rId16"/>
    <p:sldId id="369" r:id="rId17"/>
    <p:sldId id="365" r:id="rId18"/>
    <p:sldId id="378" r:id="rId19"/>
    <p:sldId id="366" r:id="rId20"/>
    <p:sldId id="392" r:id="rId21"/>
    <p:sldId id="367" r:id="rId22"/>
    <p:sldId id="37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27" autoAdjust="0"/>
    <p:restoredTop sz="94660"/>
  </p:normalViewPr>
  <p:slideViewPr>
    <p:cSldViewPr>
      <p:cViewPr varScale="1">
        <p:scale>
          <a:sx n="101" d="100"/>
          <a:sy n="101" d="100"/>
        </p:scale>
        <p:origin x="1230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FFF26-3D70-4E35-84AD-CE2203F74E29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027AA-6CDB-4F17-BAA9-F4F462CED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186F-E49E-48F3-C877-FC695300D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B5172-B09A-2002-466B-D8968F910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0BE59-F42F-9B09-FDC2-690758CF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CB31D-40E0-139C-42E0-F5FF3267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CCE8-D578-B467-97B1-38D0D22E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3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63C8-36AD-9F9F-9013-7B54A078E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4CB14-A7A4-654D-7211-2CAD4A992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83C5D-D7DF-A6E6-E577-334E044E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099B4-E403-62E2-95E7-1D14879B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3930E-2B65-8E26-F304-049E9A46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4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E6C6-CD59-7C92-FCA9-D391E872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D4234-3039-448A-FAFD-A2EBBC11D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A7DB5-C3EF-2CD1-FC79-756E99F0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68C79-5F8F-5469-4027-E6ED8878F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09C1C-4024-D390-5B7F-9F6384E0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8F93-7D8D-ACC4-1F61-F3052C03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518C8-762D-A86E-7C8E-BBC7C628F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BE0EE-2168-FC60-18A7-20D6FDEB9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76BCC-DA9A-53EA-72E5-353CC8EA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8D2EC-B7C2-844F-1134-9CB70D40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603F2-B4C3-7E64-DA60-78B81CFE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6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88C8-53E5-2374-969E-C5B9DC34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13625-CF8B-90A0-1498-4430C94E4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8746C-069E-D144-738E-82DDB4F28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237AC-62F7-B143-8FC3-A63970346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BBCD61-41F9-F98B-C5A7-2CA64D3D5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3D3F9-F54E-CEF9-CFF1-07C18481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925CF8-BA78-7697-A74D-9E9BF697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F19DB-012E-C463-0487-5EC36F4A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7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AFD9-7683-2BD2-3746-5A6E7CBF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9A33B-7AB8-634F-EFE1-E02578C6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0DEC1-B266-6C4A-5C69-346328F7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1B01C-724B-18A6-99A6-97988B9D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5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85F59-2FD5-76A7-A799-35D719AA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BA7E7-ECF1-A1CB-5E6C-3867A433D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7C316-CE47-406A-6838-FC96C6D1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2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5AB7-DB7C-8F52-1DBB-D6B1A389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A4111-EF3E-8884-91C6-C621B3D2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7DF4E-0111-2248-71BE-9766E91D3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F2B9F-8147-9CBC-5D20-5F9A3547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AD666-579D-3E97-9F77-7168AA07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58799-8B64-2CBA-4794-2A0D97D5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8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D29F-079E-1AF5-BAF6-38BE95A8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2DDFC-60FC-0ACD-C184-1D26ACE48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65D8-6ACA-1658-CF39-786451E78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ADAE7-C23A-5CCF-15EC-2C5856F1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A15A5-C531-2946-7DFD-F6940DFB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A0218-1FD2-D4F0-88D8-3B253150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3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B4CE-ACBC-AD90-6D6D-E0FDF0E6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2ACC4-71A7-1634-9EE3-A0D9DCD2F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427F-1493-6120-08AA-B30362BF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CF36B-1759-9BF2-78DB-B37DA0450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67AF7-751E-39B9-6CF4-6EC587E3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E7F222-235E-D43E-81D8-FC345F7E2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9D38E-2FC9-6866-DB32-FCE88A534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E4C6B-53CE-745A-CDC0-15FDCC9B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B7D87-CC3D-EC29-15ED-5E4FE122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7473E-3AE7-35CB-BF87-82C0F1F5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3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6B53AD-2601-21D9-5E12-69355DFC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C0581-B7D6-87FF-DA2A-AB41A39E9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9C6A0-1D40-06A9-0419-91434E0D4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F623A-8CCF-471B-8EA7-A77E47D06DE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2FC1D-6A5A-87EF-EE77-C67A7096B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A8F54-CCB1-86FC-23F3-4B9D5A281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86984-E3E8-4830-A19A-D20A9CD3E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6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-fKQuZ8dco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F5369-CC62-C71E-6BCE-EC213229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207D-BC92-1564-BAA0-EAF37147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Cellular Respiration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CFFE7-0C4D-3B03-C415-2AE0A6A59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6172200"/>
          </a:xfrm>
        </p:spPr>
        <p:txBody>
          <a:bodyPr>
            <a:normAutofit/>
          </a:bodyPr>
          <a:lstStyle/>
          <a:p>
            <a:r>
              <a:rPr lang="en-US" sz="2400" u="sng" dirty="0"/>
              <a:t>1</a:t>
            </a:r>
            <a:r>
              <a:rPr lang="en-US" sz="2400" u="sng" baseline="30000" dirty="0"/>
              <a:t>st</a:t>
            </a:r>
            <a:r>
              <a:rPr lang="en-US" sz="2400" u="sng" dirty="0"/>
              <a:t> phase: Glycolysis</a:t>
            </a:r>
          </a:p>
          <a:p>
            <a:pPr lvl="1"/>
            <a:r>
              <a:rPr lang="en-US" sz="2000" dirty="0"/>
              <a:t>Breaks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glucose</a:t>
            </a:r>
            <a:r>
              <a:rPr lang="en-US" sz="2000" dirty="0"/>
              <a:t> into 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 pyruvate </a:t>
            </a:r>
            <a:r>
              <a:rPr lang="en-US" sz="2000" dirty="0"/>
              <a:t>molecules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2 ATP </a:t>
            </a:r>
            <a:r>
              <a:rPr lang="en-US" sz="2000" dirty="0"/>
              <a:t>produced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2 NADH </a:t>
            </a:r>
            <a:r>
              <a:rPr lang="en-US" sz="2000" dirty="0"/>
              <a:t>produced</a:t>
            </a:r>
          </a:p>
          <a:p>
            <a:r>
              <a:rPr lang="en-US" sz="2400" u="sng" dirty="0"/>
              <a:t>2</a:t>
            </a:r>
            <a:r>
              <a:rPr lang="en-US" sz="2400" u="sng" baseline="30000" dirty="0"/>
              <a:t>nd</a:t>
            </a:r>
            <a:r>
              <a:rPr lang="en-US" sz="2400" u="sng" dirty="0"/>
              <a:t> phase: Pyruvate Oxidation</a:t>
            </a:r>
          </a:p>
          <a:p>
            <a:pPr lvl="1"/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Pyruvate</a:t>
            </a:r>
            <a:r>
              <a:rPr lang="en-US" sz="2000" dirty="0"/>
              <a:t> is oxidized, bonds with Coenzyme A</a:t>
            </a:r>
          </a:p>
          <a:p>
            <a:pPr lvl="1"/>
            <a:r>
              <a:rPr lang="en-US" sz="2000" dirty="0"/>
              <a:t>Forms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Acetyl-CoA</a:t>
            </a:r>
          </a:p>
          <a:p>
            <a:r>
              <a:rPr lang="en-US" sz="2400" u="sng" dirty="0"/>
              <a:t>3</a:t>
            </a:r>
            <a:r>
              <a:rPr lang="en-US" sz="2400" u="sng" baseline="30000" dirty="0"/>
              <a:t>rd</a:t>
            </a:r>
            <a:r>
              <a:rPr lang="en-US" sz="2400" u="sng" dirty="0"/>
              <a:t> phase: Citric Acid Cycle (CAC)</a:t>
            </a:r>
          </a:p>
          <a:p>
            <a:pPr lvl="1"/>
            <a:r>
              <a:rPr lang="en-US" sz="2000" dirty="0"/>
              <a:t>Breaks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 Acetyl-CoA </a:t>
            </a:r>
            <a:r>
              <a:rPr lang="en-US" sz="2000" dirty="0"/>
              <a:t>(from the pyruvate molecules)</a:t>
            </a:r>
          </a:p>
          <a:p>
            <a:pPr lvl="1"/>
            <a:r>
              <a:rPr lang="en-US" sz="2000" dirty="0"/>
              <a:t>Produces CO</a:t>
            </a:r>
            <a:r>
              <a:rPr lang="en-US" sz="2000" baseline="-25000" dirty="0"/>
              <a:t>2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2 ATP </a:t>
            </a:r>
            <a:r>
              <a:rPr lang="en-US" sz="2000" dirty="0"/>
              <a:t>produced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6 NADH, 2 FADH</a:t>
            </a:r>
            <a:r>
              <a:rPr lang="en-US" sz="2000" baseline="-25000" dirty="0">
                <a:highlight>
                  <a:srgbClr val="FFFF00"/>
                </a:highlight>
              </a:rPr>
              <a:t>2</a:t>
            </a:r>
            <a:r>
              <a:rPr lang="en-US" sz="2000" baseline="-25000" dirty="0"/>
              <a:t> </a:t>
            </a:r>
            <a:r>
              <a:rPr lang="en-US" sz="2000" dirty="0"/>
              <a:t> produced</a:t>
            </a:r>
          </a:p>
          <a:p>
            <a:r>
              <a:rPr lang="en-US" sz="2400" u="sng" dirty="0"/>
              <a:t>4</a:t>
            </a:r>
            <a:r>
              <a:rPr lang="en-US" sz="2400" u="sng" baseline="30000" dirty="0"/>
              <a:t>th</a:t>
            </a:r>
            <a:r>
              <a:rPr lang="en-US" sz="2400" u="sng" dirty="0"/>
              <a:t> phase: Oxidative Phosphorylation </a:t>
            </a:r>
          </a:p>
          <a:p>
            <a:pPr lvl="1"/>
            <a:r>
              <a:rPr lang="en-US" sz="2000" dirty="0"/>
              <a:t>Electron Transport Chain (ETC)</a:t>
            </a:r>
          </a:p>
          <a:p>
            <a:pPr lvl="1"/>
            <a:r>
              <a:rPr lang="en-US" sz="2000" dirty="0"/>
              <a:t>Chemiosmosis</a:t>
            </a:r>
          </a:p>
          <a:p>
            <a:pPr lvl="1"/>
            <a:r>
              <a:rPr lang="en-US" sz="2000" dirty="0"/>
              <a:t>Produces </a:t>
            </a:r>
            <a:r>
              <a:rPr lang="en-US" sz="2000" dirty="0">
                <a:highlight>
                  <a:srgbClr val="FFFF00"/>
                </a:highlight>
              </a:rPr>
              <a:t>lots of ATP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3889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05839" y="990600"/>
            <a:ext cx="7132322" cy="5181600"/>
            <a:chOff x="1676400" y="1143000"/>
            <a:chExt cx="5760722" cy="3886200"/>
          </a:xfrm>
        </p:grpSpPr>
        <p:pic>
          <p:nvPicPr>
            <p:cNvPr id="14339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1" t="11619" r="21221" b="22224"/>
            <a:stretch/>
          </p:blipFill>
          <p:spPr bwMode="auto">
            <a:xfrm>
              <a:off x="1676400" y="1143000"/>
              <a:ext cx="5760722" cy="3886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Oval 1"/>
            <p:cNvSpPr/>
            <p:nvPr/>
          </p:nvSpPr>
          <p:spPr>
            <a:xfrm>
              <a:off x="6172200" y="4191000"/>
              <a:ext cx="990600" cy="8382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59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639762"/>
          </a:xfrm>
        </p:spPr>
        <p:txBody>
          <a:bodyPr>
            <a:normAutofit/>
          </a:bodyPr>
          <a:lstStyle/>
          <a:p>
            <a:r>
              <a:rPr lang="en-US" sz="3600" dirty="0"/>
              <a:t>Oxidative Phosphorylation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715000"/>
          </a:xfrm>
        </p:spPr>
        <p:txBody>
          <a:bodyPr>
            <a:normAutofit/>
          </a:bodyPr>
          <a:lstStyle/>
          <a:p>
            <a:r>
              <a:rPr lang="en-US" sz="3200" dirty="0"/>
              <a:t>Combination of two processes:</a:t>
            </a:r>
          </a:p>
          <a:p>
            <a:pPr lvl="1"/>
            <a:r>
              <a:rPr lang="en-US" sz="2800" u="sng" dirty="0"/>
              <a:t>Electron Transport Chain (ETC)</a:t>
            </a:r>
          </a:p>
          <a:p>
            <a:pPr lvl="2"/>
            <a:r>
              <a:rPr lang="en-US" sz="2000" dirty="0"/>
              <a:t>Where: Mitochondrial inner membrane</a:t>
            </a:r>
          </a:p>
          <a:p>
            <a:pPr lvl="2"/>
            <a:r>
              <a:rPr lang="en-US" sz="2000" dirty="0"/>
              <a:t>Who is the main player: NADH and FADH</a:t>
            </a:r>
            <a:r>
              <a:rPr lang="en-US" sz="2000" baseline="-25000" dirty="0"/>
              <a:t>2</a:t>
            </a:r>
            <a:endParaRPr lang="en-US" sz="2000" dirty="0"/>
          </a:p>
          <a:p>
            <a:pPr lvl="1"/>
            <a:r>
              <a:rPr lang="en-US" sz="2800" u="sng" dirty="0"/>
              <a:t>Chemiosmosis</a:t>
            </a:r>
          </a:p>
          <a:p>
            <a:pPr lvl="2"/>
            <a:r>
              <a:rPr lang="en-US" sz="2000" dirty="0"/>
              <a:t>Where: Mitochondrial intermembrane space</a:t>
            </a:r>
          </a:p>
          <a:p>
            <a:pPr lvl="2"/>
            <a:r>
              <a:rPr lang="en-US" sz="2000" dirty="0"/>
              <a:t>Who is the main player:  H+ ions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998E843-B7AE-78A2-0555-80E555468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50" y="4038600"/>
            <a:ext cx="3619500" cy="248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7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3D5C9-DBCC-2A7E-F03C-EFD363E5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5ED1-EC9E-B65E-9D15-2D7799AB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639762"/>
          </a:xfrm>
        </p:spPr>
        <p:txBody>
          <a:bodyPr>
            <a:normAutofit/>
          </a:bodyPr>
          <a:lstStyle/>
          <a:p>
            <a:r>
              <a:rPr lang="en-US" sz="3600" dirty="0"/>
              <a:t>Oxidative Phosphorylation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C57DF-9B32-C79D-1D69-A8657CB0C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715000"/>
          </a:xfrm>
        </p:spPr>
        <p:txBody>
          <a:bodyPr>
            <a:normAutofit/>
          </a:bodyPr>
          <a:lstStyle/>
          <a:p>
            <a:r>
              <a:rPr lang="en-US" sz="2400" u="sng" dirty="0"/>
              <a:t>When</a:t>
            </a:r>
            <a:r>
              <a:rPr lang="en-US" sz="2400" dirty="0"/>
              <a:t>: We learn about this as the last phase but it happens any time NADH and/or FADH</a:t>
            </a:r>
            <a:r>
              <a:rPr lang="en-US" sz="2400" baseline="-25000" dirty="0"/>
              <a:t>2</a:t>
            </a:r>
            <a:r>
              <a:rPr lang="en-US" sz="2400" dirty="0"/>
              <a:t> are produced</a:t>
            </a:r>
          </a:p>
          <a:p>
            <a:endParaRPr lang="en-US" sz="2400" dirty="0"/>
          </a:p>
          <a:p>
            <a:r>
              <a:rPr lang="en-US" sz="2400" u="sng" dirty="0"/>
              <a:t>What</a:t>
            </a:r>
            <a:r>
              <a:rPr lang="en-US" sz="2400" dirty="0"/>
              <a:t> goes in (per molecule of glucose):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10 NADH</a:t>
            </a:r>
            <a:r>
              <a:rPr lang="en-US" sz="2000" dirty="0"/>
              <a:t> from glycolysis (2), pyruvate ox (2), CAC (6)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2 FADH</a:t>
            </a:r>
            <a:r>
              <a:rPr lang="en-US" sz="2000" baseline="-25000" dirty="0">
                <a:solidFill>
                  <a:srgbClr val="00B050"/>
                </a:solidFill>
              </a:rPr>
              <a:t>2</a:t>
            </a:r>
            <a:r>
              <a:rPr lang="en-US" sz="2000" dirty="0"/>
              <a:t> from CAC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O</a:t>
            </a:r>
            <a:r>
              <a:rPr lang="en-US" sz="2000" baseline="-25000" dirty="0">
                <a:solidFill>
                  <a:srgbClr val="00B050"/>
                </a:solidFill>
              </a:rPr>
              <a:t>2</a:t>
            </a:r>
            <a:r>
              <a:rPr lang="en-US" sz="2000" dirty="0"/>
              <a:t> (from breathing)</a:t>
            </a:r>
          </a:p>
          <a:p>
            <a:pPr lvl="1"/>
            <a:endParaRPr lang="en-US" sz="2000" dirty="0"/>
          </a:p>
          <a:p>
            <a:r>
              <a:rPr lang="en-US" sz="2400" u="sng" dirty="0"/>
              <a:t>What</a:t>
            </a:r>
            <a:r>
              <a:rPr lang="en-US" sz="2400" dirty="0"/>
              <a:t> comes out: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26-28 ATP</a:t>
            </a:r>
          </a:p>
          <a:p>
            <a:pPr lvl="2"/>
            <a:r>
              <a:rPr lang="en-US" sz="1600" dirty="0"/>
              <a:t>This number can vary slightly depending on the type of cell.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Water</a:t>
            </a:r>
          </a:p>
        </p:txBody>
      </p:sp>
    </p:spTree>
    <p:extLst>
      <p:ext uri="{BB962C8B-B14F-4D97-AF65-F5344CB8AC3E}">
        <p14:creationId xmlns:p14="http://schemas.microsoft.com/office/powerpoint/2010/main" val="1324584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715962"/>
          </a:xfrm>
        </p:spPr>
        <p:txBody>
          <a:bodyPr>
            <a:normAutofit/>
          </a:bodyPr>
          <a:lstStyle/>
          <a:p>
            <a:r>
              <a:rPr lang="en-US" sz="3600" dirty="0"/>
              <a:t>Electron Transport Chain (ETC) Overview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686800" cy="5486400"/>
          </a:xfrm>
        </p:spPr>
        <p:txBody>
          <a:bodyPr>
            <a:normAutofit/>
          </a:bodyPr>
          <a:lstStyle/>
          <a:p>
            <a:r>
              <a:rPr lang="en-US" sz="2400" dirty="0"/>
              <a:t>In Prokaryotes, takes place in the plasma membrane</a:t>
            </a:r>
          </a:p>
          <a:p>
            <a:endParaRPr lang="en-US" sz="2400" dirty="0"/>
          </a:p>
          <a:p>
            <a:r>
              <a:rPr lang="en-US" sz="2400" dirty="0"/>
              <a:t>In Eukaryotes, takes place in the mitochondrial inner membrane</a:t>
            </a:r>
          </a:p>
          <a:p>
            <a:r>
              <a:rPr lang="en-US" sz="2400" u="sng" dirty="0"/>
              <a:t>Electron Protein Complexes</a:t>
            </a:r>
            <a:r>
              <a:rPr lang="en-US" sz="2400" dirty="0"/>
              <a:t> embedded in the mitochondrial inner membrane take electrons stored in NADH and FADH</a:t>
            </a:r>
            <a:r>
              <a:rPr lang="en-US" sz="2400" baseline="-25000" dirty="0"/>
              <a:t>2</a:t>
            </a:r>
            <a:r>
              <a:rPr lang="en-US" sz="2400" dirty="0"/>
              <a:t> and pass them from one complex to another, down the chain to lower energy levels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4913809"/>
            <a:ext cx="5021955" cy="1789312"/>
          </a:xfrm>
          <a:prstGeom prst="rect">
            <a:avLst/>
          </a:prstGeom>
        </p:spPr>
      </p:pic>
      <p:pic>
        <p:nvPicPr>
          <p:cNvPr id="6" name="Picture 2" descr="Oxidation, Reduction, and Redox Balancing Redox Reactions">
            <a:extLst>
              <a:ext uri="{FF2B5EF4-FFF2-40B4-BE49-F238E27FC236}">
                <a16:creationId xmlns:a16="http://schemas.microsoft.com/office/drawing/2014/main" id="{31B80469-FD2C-5B43-965A-1CFA9B522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10" y="5141467"/>
            <a:ext cx="2507545" cy="1410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86836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Electron Transport Chain (ETC)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562600"/>
          </a:xfrm>
        </p:spPr>
        <p:txBody>
          <a:bodyPr/>
          <a:lstStyle/>
          <a:p>
            <a:r>
              <a:rPr lang="en-US" sz="2800" dirty="0"/>
              <a:t>Electron Protein Complexes:</a:t>
            </a:r>
          </a:p>
          <a:p>
            <a:pPr lvl="1"/>
            <a:r>
              <a:rPr lang="en-US" sz="2400" dirty="0"/>
              <a:t>4 large complexes</a:t>
            </a:r>
          </a:p>
          <a:p>
            <a:pPr lvl="2"/>
            <a:r>
              <a:rPr lang="en-US" sz="2000" dirty="0"/>
              <a:t>I - IV </a:t>
            </a:r>
          </a:p>
          <a:p>
            <a:pPr lvl="1"/>
            <a:r>
              <a:rPr lang="en-US" sz="2400" dirty="0"/>
              <a:t>2 smaller shuttles</a:t>
            </a:r>
          </a:p>
          <a:p>
            <a:pPr lvl="2"/>
            <a:r>
              <a:rPr lang="en-US" sz="2000" dirty="0"/>
              <a:t>Ubiquinone (Q)</a:t>
            </a:r>
          </a:p>
          <a:p>
            <a:pPr lvl="2"/>
            <a:r>
              <a:rPr lang="en-US" sz="2000" dirty="0"/>
              <a:t>Cytochrome C (</a:t>
            </a:r>
            <a:r>
              <a:rPr lang="en-US" sz="2000" dirty="0" err="1"/>
              <a:t>Cyt</a:t>
            </a:r>
            <a:r>
              <a:rPr lang="en-US" sz="2000" dirty="0"/>
              <a:t> c)</a:t>
            </a:r>
          </a:p>
          <a:p>
            <a:r>
              <a:rPr lang="en-US" sz="2800" dirty="0"/>
              <a:t>NADH deposits electrons at complex I</a:t>
            </a:r>
          </a:p>
          <a:p>
            <a:r>
              <a:rPr lang="en-US" sz="2800" dirty="0"/>
              <a:t>FADH</a:t>
            </a:r>
            <a:r>
              <a:rPr lang="en-US" sz="2800" baseline="-25000" dirty="0"/>
              <a:t>2</a:t>
            </a:r>
            <a:r>
              <a:rPr lang="en-US" sz="2800" dirty="0"/>
              <a:t> deposits electrons at complex II</a:t>
            </a:r>
          </a:p>
          <a:p>
            <a:pPr lvl="1"/>
            <a:r>
              <a:rPr lang="en-US" sz="2400" dirty="0"/>
              <a:t>Downstream from complex 1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4314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400"/>
            <a:ext cx="712206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93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868362"/>
          </a:xfrm>
        </p:spPr>
        <p:txBody>
          <a:bodyPr>
            <a:normAutofit/>
          </a:bodyPr>
          <a:lstStyle/>
          <a:p>
            <a:r>
              <a:rPr lang="en-US" sz="4000" dirty="0"/>
              <a:t>Electron Transport Chain (ETC)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418" y="972271"/>
            <a:ext cx="8458200" cy="5334000"/>
          </a:xfrm>
        </p:spPr>
        <p:txBody>
          <a:bodyPr>
            <a:normAutofit/>
          </a:bodyPr>
          <a:lstStyle/>
          <a:p>
            <a:r>
              <a:rPr lang="en-US" sz="3200" dirty="0"/>
              <a:t>Electrons “fall” from one electron carrier to another, each giving off a bit of free energy</a:t>
            </a:r>
          </a:p>
          <a:p>
            <a:pPr lvl="1"/>
            <a:r>
              <a:rPr lang="en-US" sz="2800" dirty="0"/>
              <a:t>This energy is used to pump H+ ions from the matrix into the intermembrane space</a:t>
            </a:r>
          </a:p>
          <a:p>
            <a:pPr lvl="1"/>
            <a:r>
              <a:rPr lang="en-US" sz="2800" u="sng" dirty="0"/>
              <a:t>Against the concentration gradient</a:t>
            </a:r>
            <a:endParaRPr lang="en-US" sz="2800" dirty="0"/>
          </a:p>
          <a:p>
            <a:pPr lvl="2"/>
            <a:r>
              <a:rPr lang="en-US" sz="2400" dirty="0"/>
              <a:t>More H+ in the intermembrane space than in the matrix</a:t>
            </a:r>
          </a:p>
          <a:p>
            <a:pPr marL="749808" lvl="2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1AC61B-46D5-D7F6-02EF-D9F538358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084" y="3657600"/>
            <a:ext cx="4964316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9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4297-1830-5A83-DA8F-1B0761CA5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745FA-6D8A-8F4D-8297-DDB0652A3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868362"/>
          </a:xfrm>
        </p:spPr>
        <p:txBody>
          <a:bodyPr>
            <a:normAutofit/>
          </a:bodyPr>
          <a:lstStyle/>
          <a:p>
            <a:r>
              <a:rPr lang="en-US" sz="4000" dirty="0"/>
              <a:t>Electron Transport Chain (ETC)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F9162-D869-C7FB-021B-FF49446AE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418" y="972271"/>
            <a:ext cx="8458200" cy="5334000"/>
          </a:xfrm>
        </p:spPr>
        <p:txBody>
          <a:bodyPr>
            <a:normAutofit/>
          </a:bodyPr>
          <a:lstStyle/>
          <a:p>
            <a:r>
              <a:rPr lang="en-US" sz="2800" dirty="0"/>
              <a:t>Each electron carrier complex bounces back and forth between being reduced (when it accepts an electron) and being oxidized (when it loses an electron)</a:t>
            </a:r>
          </a:p>
          <a:p>
            <a:endParaRPr lang="en-US" sz="2800" dirty="0"/>
          </a:p>
          <a:p>
            <a:r>
              <a:rPr lang="en-US" sz="2800" b="1" dirty="0"/>
              <a:t>The final electron acceptor is </a:t>
            </a:r>
            <a:r>
              <a:rPr lang="en-US" sz="2800" b="1" u="sng" dirty="0"/>
              <a:t>oxygen</a:t>
            </a:r>
          </a:p>
          <a:p>
            <a:pPr lvl="1"/>
            <a:r>
              <a:rPr lang="en-US" sz="2400" dirty="0"/>
              <a:t>Bonds with two hydrogens to form </a:t>
            </a:r>
            <a:r>
              <a:rPr lang="en-US" sz="2400" b="1" u="sng" dirty="0"/>
              <a:t>water</a:t>
            </a:r>
          </a:p>
          <a:p>
            <a:pPr marL="36576" indent="0">
              <a:buNone/>
            </a:pPr>
            <a:endParaRPr lang="en-US" sz="2600" dirty="0"/>
          </a:p>
          <a:p>
            <a:pPr marL="749808" lvl="2" indent="0">
              <a:buNone/>
            </a:pPr>
            <a:endParaRPr lang="en-US" dirty="0"/>
          </a:p>
        </p:txBody>
      </p:sp>
      <p:pic>
        <p:nvPicPr>
          <p:cNvPr id="4" name="Picture 2" descr="Oxidation, Reduction, and Redox Balancing Redox Reactions">
            <a:extLst>
              <a:ext uri="{FF2B5EF4-FFF2-40B4-BE49-F238E27FC236}">
                <a16:creationId xmlns:a16="http://schemas.microsoft.com/office/drawing/2014/main" id="{B23EC8BF-5DD1-3065-25C5-6C5BAEA76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81" y="4590977"/>
            <a:ext cx="3049412" cy="171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484B52-1F2E-D6D0-178A-98742BDC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166" t="22992" b="24203"/>
          <a:stretch>
            <a:fillRect/>
          </a:stretch>
        </p:blipFill>
        <p:spPr>
          <a:xfrm>
            <a:off x="609600" y="4195128"/>
            <a:ext cx="4599003" cy="21642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547D0C-0243-FF08-55A2-817906719CAE}"/>
              </a:ext>
            </a:extLst>
          </p:cNvPr>
          <p:cNvSpPr/>
          <p:nvPr/>
        </p:nvSpPr>
        <p:spPr>
          <a:xfrm>
            <a:off x="1676400" y="4648200"/>
            <a:ext cx="762000" cy="533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21A12C-4C1E-476F-35AD-491329A3DA18}"/>
              </a:ext>
            </a:extLst>
          </p:cNvPr>
          <p:cNvSpPr/>
          <p:nvPr/>
        </p:nvSpPr>
        <p:spPr>
          <a:xfrm>
            <a:off x="3236928" y="4267200"/>
            <a:ext cx="762000" cy="533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B2B0D-16C6-C73B-6EA9-749DCD153FC5}"/>
              </a:ext>
            </a:extLst>
          </p:cNvPr>
          <p:cNvSpPr/>
          <p:nvPr/>
        </p:nvSpPr>
        <p:spPr>
          <a:xfrm>
            <a:off x="2909100" y="5797318"/>
            <a:ext cx="1089827" cy="533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3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610D-CE23-464F-0894-658F72A1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A028-177E-ED37-5BA0-7655C8E2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868362"/>
          </a:xfrm>
        </p:spPr>
        <p:txBody>
          <a:bodyPr>
            <a:normAutofit/>
          </a:bodyPr>
          <a:lstStyle/>
          <a:p>
            <a:r>
              <a:rPr lang="en-US" sz="4000" dirty="0"/>
              <a:t>Electron Transport Chain (ETC)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D51A-68B3-31D6-C8F9-968A6368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418" y="972271"/>
            <a:ext cx="8458200" cy="5334000"/>
          </a:xfrm>
        </p:spPr>
        <p:txBody>
          <a:bodyPr>
            <a:normAutofit/>
          </a:bodyPr>
          <a:lstStyle/>
          <a:p>
            <a:pPr marL="493776" indent="-457200"/>
            <a:r>
              <a:rPr lang="en-US" sz="2600" dirty="0"/>
              <a:t>Remember the overall goal of these processes is to form energy (ATP!)</a:t>
            </a:r>
          </a:p>
          <a:p>
            <a:pPr marL="493776" indent="-457200"/>
            <a:endParaRPr lang="en-US" sz="2600" dirty="0"/>
          </a:p>
          <a:p>
            <a:pPr marL="493776" indent="-457200"/>
            <a:r>
              <a:rPr lang="en-US" sz="2600" dirty="0"/>
              <a:t>The electrons moving through the protein complexes allows for active transport that supports the final step!</a:t>
            </a:r>
          </a:p>
          <a:p>
            <a:pPr marL="749808" lvl="2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8E8D4A-5988-3126-06EA-D982DA3FA9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6" t="6158" r="1" b="-6556"/>
          <a:stretch>
            <a:fillRect/>
          </a:stretch>
        </p:blipFill>
        <p:spPr>
          <a:xfrm>
            <a:off x="1319998" y="3048000"/>
            <a:ext cx="650400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0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Chemiosmosis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769" y="1295400"/>
            <a:ext cx="8305800" cy="4724400"/>
          </a:xfrm>
        </p:spPr>
        <p:txBody>
          <a:bodyPr>
            <a:normAutofit/>
          </a:bodyPr>
          <a:lstStyle/>
          <a:p>
            <a:r>
              <a:rPr lang="en-US" sz="2800" dirty="0"/>
              <a:t>H+ concentration gradient</a:t>
            </a:r>
          </a:p>
          <a:p>
            <a:pPr lvl="1"/>
            <a:r>
              <a:rPr lang="en-US" sz="2400" dirty="0"/>
              <a:t>More H</a:t>
            </a:r>
            <a:r>
              <a:rPr lang="en-US" sz="2400" baseline="30000" dirty="0"/>
              <a:t>+</a:t>
            </a:r>
            <a:r>
              <a:rPr lang="en-US" sz="2400" dirty="0"/>
              <a:t> in intermembrane space (out) than in matrix</a:t>
            </a:r>
          </a:p>
          <a:p>
            <a:pPr lvl="1"/>
            <a:r>
              <a:rPr lang="en-US" sz="2400" dirty="0"/>
              <a:t>This gradient serves as energy source</a:t>
            </a:r>
          </a:p>
          <a:p>
            <a:pPr lvl="1"/>
            <a:r>
              <a:rPr lang="en-US" sz="2400" dirty="0"/>
              <a:t>This energy source drives ATP production </a:t>
            </a:r>
          </a:p>
          <a:p>
            <a:pPr lvl="1"/>
            <a:endParaRPr lang="en-US" sz="2400" dirty="0"/>
          </a:p>
          <a:p>
            <a:r>
              <a:rPr lang="en-US" sz="2800" dirty="0"/>
              <a:t>ATP Synthase is the enzyme that makes ATP</a:t>
            </a:r>
          </a:p>
          <a:p>
            <a:pPr lvl="1"/>
            <a:r>
              <a:rPr lang="en-US" sz="2400" dirty="0"/>
              <a:t>H</a:t>
            </a:r>
            <a:r>
              <a:rPr lang="en-US" sz="2400" baseline="30000" dirty="0"/>
              <a:t>+</a:t>
            </a:r>
            <a:r>
              <a:rPr lang="en-US" sz="2400" dirty="0"/>
              <a:t> flow down the concentration gradient from the intermembrane space through ATP Synthase into the matrix</a:t>
            </a:r>
          </a:p>
          <a:p>
            <a:pPr lvl="2"/>
            <a:r>
              <a:rPr lang="en-US" sz="2000" dirty="0"/>
              <a:t>This downhill flow provides the energy to make ATP from ADP</a:t>
            </a:r>
          </a:p>
          <a:p>
            <a:pPr lvl="3"/>
            <a:r>
              <a:rPr lang="en-US" sz="1800" dirty="0"/>
              <a:t>Oxidative Phosphorylation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661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738" y="369888"/>
            <a:ext cx="3944937" cy="612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E60AF4-F93C-AD9A-9C48-9EC6FD87193E}"/>
              </a:ext>
            </a:extLst>
          </p:cNvPr>
          <p:cNvSpPr txBox="1"/>
          <p:nvPr/>
        </p:nvSpPr>
        <p:spPr>
          <a:xfrm>
            <a:off x="457200" y="83820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Intermembrane Space</a:t>
            </a:r>
          </a:p>
          <a:p>
            <a:r>
              <a:rPr lang="en-US" dirty="0"/>
              <a:t>(High H+)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87317-5FBE-E1AD-F37E-74369A5D7987}"/>
              </a:ext>
            </a:extLst>
          </p:cNvPr>
          <p:cNvSpPr txBox="1"/>
          <p:nvPr/>
        </p:nvSpPr>
        <p:spPr>
          <a:xfrm>
            <a:off x="609600" y="3810000"/>
            <a:ext cx="198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Mitochondrial Matrix</a:t>
            </a:r>
          </a:p>
          <a:p>
            <a:r>
              <a:rPr lang="en-US" dirty="0"/>
              <a:t>(low H+)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55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13" y="152400"/>
            <a:ext cx="8763000" cy="868362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ETC + Chemiosmosis = Oxidative Phosphorylation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35" y="990600"/>
            <a:ext cx="8626475" cy="544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315200" y="4599801"/>
            <a:ext cx="609600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26-28</a:t>
            </a:r>
          </a:p>
        </p:txBody>
      </p:sp>
    </p:spTree>
    <p:extLst>
      <p:ext uri="{BB962C8B-B14F-4D97-AF65-F5344CB8AC3E}">
        <p14:creationId xmlns:p14="http://schemas.microsoft.com/office/powerpoint/2010/main" val="2934221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838200"/>
            <a:ext cx="6196012" cy="463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8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What about other food sources?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5334000"/>
          </a:xfrm>
        </p:spPr>
        <p:txBody>
          <a:bodyPr>
            <a:normAutofit/>
          </a:bodyPr>
          <a:lstStyle/>
          <a:p>
            <a:r>
              <a:rPr lang="en-US" sz="2800" dirty="0"/>
              <a:t>Free glucose is not abundant in most diets</a:t>
            </a:r>
          </a:p>
          <a:p>
            <a:endParaRPr lang="en-US" sz="2800" dirty="0"/>
          </a:p>
          <a:p>
            <a:r>
              <a:rPr lang="en-US" sz="2800" dirty="0"/>
              <a:t>Carbohydrates are hydrolyzed to glucose</a:t>
            </a:r>
          </a:p>
          <a:p>
            <a:endParaRPr lang="en-US" sz="2800" dirty="0"/>
          </a:p>
          <a:p>
            <a:r>
              <a:rPr lang="en-US" sz="2800" dirty="0"/>
              <a:t>Proteins must be hydrolyzed to amino acids</a:t>
            </a:r>
          </a:p>
          <a:p>
            <a:pPr lvl="1"/>
            <a:r>
              <a:rPr lang="en-US" sz="2400" dirty="0"/>
              <a:t>Amino group removed</a:t>
            </a:r>
          </a:p>
          <a:p>
            <a:pPr lvl="1"/>
            <a:r>
              <a:rPr lang="en-US" sz="2400" dirty="0"/>
              <a:t>Carbon backbone enters glycolysis or CAC</a:t>
            </a:r>
          </a:p>
          <a:p>
            <a:pPr lvl="1"/>
            <a:endParaRPr lang="en-US" sz="2400" dirty="0"/>
          </a:p>
          <a:p>
            <a:r>
              <a:rPr lang="en-US" sz="2800" dirty="0"/>
              <a:t>Lipids are hydrolyzed to glycerol or fatty acids</a:t>
            </a:r>
          </a:p>
          <a:p>
            <a:pPr lvl="1"/>
            <a:r>
              <a:rPr lang="en-US" sz="2400" dirty="0"/>
              <a:t>Glycerol enters middle of glycolysis as G3P</a:t>
            </a:r>
          </a:p>
          <a:p>
            <a:pPr lvl="1"/>
            <a:r>
              <a:rPr lang="en-US" sz="2400" dirty="0"/>
              <a:t>Fatty acids are converted to Acetyl-CoA and enter CAC</a:t>
            </a:r>
          </a:p>
        </p:txBody>
      </p:sp>
    </p:spTree>
    <p:extLst>
      <p:ext uri="{BB962C8B-B14F-4D97-AF65-F5344CB8AC3E}">
        <p14:creationId xmlns:p14="http://schemas.microsoft.com/office/powerpoint/2010/main" val="585042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163" y="269875"/>
            <a:ext cx="3749675" cy="632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0835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/>
          </a:bodyPr>
          <a:lstStyle/>
          <a:p>
            <a:r>
              <a:rPr lang="en-US" sz="3600" dirty="0"/>
              <a:t>Cell Respiration Overview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1600200"/>
            <a:ext cx="87439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924800" y="3685401"/>
            <a:ext cx="60960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26-28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565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Cellular Respiration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7467600" cy="2667000"/>
          </a:xfrm>
        </p:spPr>
        <p:txBody>
          <a:bodyPr/>
          <a:lstStyle/>
          <a:p>
            <a:pPr marL="36576" indent="0">
              <a:buNone/>
            </a:pPr>
            <a:r>
              <a:rPr lang="en-US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Cellular Respiration Video</a:t>
            </a:r>
            <a:endParaRPr lang="en-US" sz="2800" dirty="0"/>
          </a:p>
          <a:p>
            <a:pPr marL="3657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723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>
            <a:normAutofit/>
          </a:bodyPr>
          <a:lstStyle/>
          <a:p>
            <a:r>
              <a:rPr lang="en-US" sz="4000" dirty="0"/>
              <a:t>Fermentation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187" y="1447800"/>
            <a:ext cx="8534400" cy="4343400"/>
          </a:xfrm>
        </p:spPr>
        <p:txBody>
          <a:bodyPr>
            <a:normAutofit/>
          </a:bodyPr>
          <a:lstStyle/>
          <a:p>
            <a:r>
              <a:rPr lang="en-US" sz="2800" dirty="0"/>
              <a:t>Two types:</a:t>
            </a:r>
          </a:p>
          <a:p>
            <a:pPr lvl="1"/>
            <a:r>
              <a:rPr lang="en-US" sz="2400" dirty="0"/>
              <a:t>Alcohol fermentation</a:t>
            </a:r>
          </a:p>
          <a:p>
            <a:pPr lvl="2"/>
            <a:r>
              <a:rPr lang="en-US" sz="1800" dirty="0"/>
              <a:t>Pyruvate converted to ethanol</a:t>
            </a:r>
          </a:p>
          <a:p>
            <a:pPr lvl="1"/>
            <a:r>
              <a:rPr lang="en-US" sz="2400" dirty="0"/>
              <a:t>Lactic acid fermentation</a:t>
            </a:r>
          </a:p>
          <a:p>
            <a:pPr lvl="2"/>
            <a:r>
              <a:rPr lang="en-US" sz="1800" dirty="0"/>
              <a:t>Pyruvate converted to lactate</a:t>
            </a:r>
          </a:p>
          <a:p>
            <a:pPr lvl="2"/>
            <a:endParaRPr lang="en-US" sz="1800" dirty="0"/>
          </a:p>
          <a:p>
            <a:r>
              <a:rPr lang="en-US" sz="2800" dirty="0"/>
              <a:t>Happens after Glycolysis</a:t>
            </a:r>
          </a:p>
          <a:p>
            <a:r>
              <a:rPr lang="en-US" sz="2800" dirty="0"/>
              <a:t>Only makes 2 ATP (less efficient)</a:t>
            </a:r>
          </a:p>
          <a:p>
            <a:r>
              <a:rPr lang="en-US" sz="2800" dirty="0"/>
              <a:t>Cycle repeats</a:t>
            </a:r>
          </a:p>
          <a:p>
            <a:pPr lvl="1"/>
            <a:r>
              <a:rPr lang="en-US" sz="2400" dirty="0"/>
              <a:t>No progression to CAC or Oxidative Phosphorylation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92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Fermentation?. Fermentation: An Ancient Process with… | by It's  Farhan 😉 | Medium">
            <a:extLst>
              <a:ext uri="{FF2B5EF4-FFF2-40B4-BE49-F238E27FC236}">
                <a16:creationId xmlns:a16="http://schemas.microsoft.com/office/drawing/2014/main" id="{E4871EED-BA69-738C-84D2-C1DFEDAE3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214438"/>
            <a:ext cx="6286500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320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3982165" cy="339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809398"/>
            <a:ext cx="4218820" cy="3820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1313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715962"/>
          </a:xfrm>
        </p:spPr>
        <p:txBody>
          <a:bodyPr>
            <a:normAutofit/>
          </a:bodyPr>
          <a:lstStyle/>
          <a:p>
            <a:r>
              <a:rPr lang="en-US" sz="3600" dirty="0"/>
              <a:t>Cellular Poisons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090" y="1295400"/>
            <a:ext cx="8610600" cy="55626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Some poisons interrupt/block one or more stages of Cellular Respiration</a:t>
            </a:r>
          </a:p>
          <a:p>
            <a:endParaRPr lang="en-US" sz="2800" dirty="0"/>
          </a:p>
          <a:p>
            <a:pPr lvl="1"/>
            <a:r>
              <a:rPr lang="en-US" sz="2400" dirty="0"/>
              <a:t>Electron Transport Chain</a:t>
            </a:r>
          </a:p>
          <a:p>
            <a:pPr lvl="2"/>
            <a:r>
              <a:rPr lang="en-US" sz="1800" dirty="0"/>
              <a:t>Rotenone</a:t>
            </a:r>
          </a:p>
          <a:p>
            <a:pPr lvl="3"/>
            <a:r>
              <a:rPr lang="en-US" sz="1600" dirty="0"/>
              <a:t>Disrupts Complex I to Ubiquinone</a:t>
            </a:r>
          </a:p>
          <a:p>
            <a:pPr lvl="2"/>
            <a:r>
              <a:rPr lang="en-US" sz="1800" dirty="0"/>
              <a:t>Cyanide</a:t>
            </a:r>
          </a:p>
          <a:p>
            <a:pPr lvl="3"/>
            <a:r>
              <a:rPr lang="en-US" sz="1600" dirty="0"/>
              <a:t>Disrupts Cytochrome C complex</a:t>
            </a:r>
          </a:p>
          <a:p>
            <a:pPr lvl="2"/>
            <a:r>
              <a:rPr lang="en-US" sz="1800" dirty="0"/>
              <a:t>Carbon monoxide</a:t>
            </a:r>
          </a:p>
          <a:p>
            <a:pPr lvl="3"/>
            <a:r>
              <a:rPr lang="en-US" sz="1600" dirty="0"/>
              <a:t>Prevents O</a:t>
            </a:r>
            <a:r>
              <a:rPr lang="en-US" sz="1600" baseline="-25000" dirty="0"/>
              <a:t>2</a:t>
            </a:r>
            <a:r>
              <a:rPr lang="en-US" sz="1600" dirty="0"/>
              <a:t> from being final electron acceptor</a:t>
            </a:r>
          </a:p>
          <a:p>
            <a:pPr lvl="3"/>
            <a:endParaRPr lang="en-US" sz="1600" dirty="0"/>
          </a:p>
          <a:p>
            <a:pPr lvl="1"/>
            <a:r>
              <a:rPr lang="en-US" sz="2400" dirty="0"/>
              <a:t>Chemiosmosis</a:t>
            </a:r>
          </a:p>
          <a:p>
            <a:pPr lvl="2"/>
            <a:r>
              <a:rPr lang="en-US" sz="1800" dirty="0" err="1"/>
              <a:t>Oligomycin</a:t>
            </a:r>
            <a:endParaRPr lang="en-US" sz="1800" dirty="0"/>
          </a:p>
          <a:p>
            <a:pPr lvl="3"/>
            <a:r>
              <a:rPr lang="en-US" sz="1600" dirty="0"/>
              <a:t>Blocks ATP Synthase</a:t>
            </a:r>
          </a:p>
          <a:p>
            <a:pPr lvl="2"/>
            <a:r>
              <a:rPr lang="en-US" sz="1800" dirty="0"/>
              <a:t>DNP</a:t>
            </a:r>
          </a:p>
          <a:p>
            <a:pPr lvl="3"/>
            <a:r>
              <a:rPr lang="en-US" sz="1600" dirty="0"/>
              <a:t>Allows H+ to leak back into matrix</a:t>
            </a:r>
          </a:p>
          <a:p>
            <a:pPr marL="448056" lvl="1" indent="0">
              <a:buNone/>
            </a:pPr>
            <a:r>
              <a:rPr lang="en-US" sz="24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009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2283</TotalTime>
  <Words>685</Words>
  <Application>Microsoft Office PowerPoint</Application>
  <PresentationFormat>On-screen Show (4:3)</PresentationFormat>
  <Paragraphs>126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Cellular Respiration Overview</vt:lpstr>
      <vt:lpstr>PowerPoint Presentation</vt:lpstr>
      <vt:lpstr>Oxidative Phosphorylation</vt:lpstr>
      <vt:lpstr>Oxidative Phosphorylation</vt:lpstr>
      <vt:lpstr>Electron Transport Chain (ETC) Overview</vt:lpstr>
      <vt:lpstr>Electron Transport Chain (ETC)</vt:lpstr>
      <vt:lpstr>PowerPoint Presentation</vt:lpstr>
      <vt:lpstr>Electron Transport Chain (ETC)</vt:lpstr>
      <vt:lpstr>Electron Transport Chain (ETC)</vt:lpstr>
      <vt:lpstr>Electron Transport Chain (ETC)</vt:lpstr>
      <vt:lpstr>Chemiosmosis</vt:lpstr>
      <vt:lpstr>PowerPoint Presentation</vt:lpstr>
      <vt:lpstr>ETC + Chemiosmosis = Oxidative Phosphorylation</vt:lpstr>
      <vt:lpstr>PowerPoint Presentation</vt:lpstr>
      <vt:lpstr>What about other food sources?</vt:lpstr>
      <vt:lpstr>PowerPoint Presentation</vt:lpstr>
      <vt:lpstr>Cell Respiration Overview</vt:lpstr>
      <vt:lpstr>Cellular Respiration Video</vt:lpstr>
      <vt:lpstr>Fermentation</vt:lpstr>
      <vt:lpstr>PowerPoint Presentation</vt:lpstr>
      <vt:lpstr>PowerPoint Presentation</vt:lpstr>
      <vt:lpstr>Cellular Poisons</vt:lpstr>
    </vt:vector>
  </TitlesOfParts>
  <Company>University of Central Florida - College of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 Change:</dc:title>
  <dc:creator>Michele Yeargain</dc:creator>
  <cp:lastModifiedBy>Tiffany Dawson</cp:lastModifiedBy>
  <cp:revision>160</cp:revision>
  <dcterms:created xsi:type="dcterms:W3CDTF">2017-02-07T16:22:12Z</dcterms:created>
  <dcterms:modified xsi:type="dcterms:W3CDTF">2026-02-25T15:09:29Z</dcterms:modified>
</cp:coreProperties>
</file>