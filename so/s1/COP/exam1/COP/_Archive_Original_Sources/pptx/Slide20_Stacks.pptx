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entury Gothic"/>
        <a:ea typeface="Century Gothic"/>
        <a:cs typeface="Century Gothi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990560" name="Header Placeholder 1"/>
          <p:cNvSpPr>
            <a:spLocks noChangeArrowheads="1" noGrp="1"/>
          </p:cNvSpPr>
          <p:nvPr>
            <p:ph type="hdr" sz="quarter"/>
          </p:nvPr>
        </p:nvSpPr>
        <p:spPr bwMode="auto">
          <a:xfrm>
            <a:off x="0" y="0"/>
            <a:ext cx="2971800" cy="459104"/>
          </a:xfrm>
          <a:prstGeom prst="rect">
            <a:avLst/>
          </a:prstGeom>
        </p:spPr>
        <p:txBody>
          <a:bodyPr vert="horz" wrap="square" lIns="91440" tIns="45720" rIns="91440" bIns="45720" numCol="1" spcCol="215899" anchor="t">
            <a:prstTxWarp prst="textNoShape"/>
          </a:bodyPr>
          <a:lstStyle>
            <a:lvl1pPr algn="l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endParaRPr/>
          </a:p>
        </p:txBody>
      </p:sp>
      <p:sp>
        <p:nvSpPr>
          <p:cNvPr id="2131062506" name="Date Placeholder 2"/>
          <p:cNvSpPr>
            <a:spLocks noChangeArrowheads="1" noGrp="1"/>
          </p:cNvSpPr>
          <p:nvPr>
            <p:ph type="dt" idx="10"/>
          </p:nvPr>
        </p:nvSpPr>
        <p:spPr bwMode="auto">
          <a:xfrm>
            <a:off x="3884930" y="0"/>
            <a:ext cx="2971800" cy="459104"/>
          </a:xfrm>
          <a:prstGeom prst="rect">
            <a:avLst/>
          </a:prstGeom>
        </p:spPr>
        <p:txBody>
          <a:bodyPr vert="horz" wrap="square" lIns="91440" tIns="45720" rIns="91440" bIns="45720" numCol="1" spcCol="215899" anchor="t">
            <a:prstTxWarp prst="textNoShape"/>
          </a:bodyPr>
          <a:lstStyle>
            <a:lvl1pPr algn="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1C70903A-74F1-2566-BFC8-8233DE8649D7}" type="datetime1">
              <a:rPr/>
              <a:t>11/7/2025</a:t>
            </a:fld>
            <a:endParaRPr/>
          </a:p>
        </p:txBody>
      </p:sp>
      <p:sp>
        <p:nvSpPr>
          <p:cNvPr id="2032974590" name="Slide Image Placeholder 3"/>
          <p:cNvSpPr>
            <a:spLocks noChangeArrowheads="1"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1735546549" name="Notes Placeholder 4"/>
          <p:cNvSpPr>
            <a:spLocks noChangeArrowheads="1" noGrp="1"/>
          </p:cNvSpPr>
          <p:nvPr>
            <p:ph type="body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0756686" name="Footer Placeholder 5"/>
          <p:cNvSpPr>
            <a:spLocks noChangeArrowheads="1" noGrp="1"/>
          </p:cNvSpPr>
          <p:nvPr>
            <p:ph type="ftr" sz="quarter" idx="11"/>
          </p:nvPr>
        </p:nvSpPr>
        <p:spPr bwMode="auto"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algn="l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endParaRPr/>
          </a:p>
        </p:txBody>
      </p:sp>
      <p:sp>
        <p:nvSpPr>
          <p:cNvPr id="1999402323" name="Slide Number Placeholder 6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899" anchor="b">
            <a:prstTxWarp prst="textNoShape"/>
          </a:bodyPr>
          <a:lstStyle>
            <a:lvl1pPr algn="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1C70EB64-2AF1-251D-BFC8-DC48A586498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1" ftr="0" hdr="0" sldNum="1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defRPr sz="1200" b="0" i="0" u="none" strike="noStrike" cap="none" spc="0">
        <a:solidFill>
          <a:schemeClr val="tx1"/>
        </a:solidFill>
        <a:latin typeface="Calibri"/>
        <a:ea typeface="Calibri"/>
        <a:cs typeface="Calibri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82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0343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07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467277-24D6-82FA-7649-0A1C17DB7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982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859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629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AB7124-9BD6-05C9-954B-5D20C681B3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3176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057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083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C3134F-4194-8528-5FC6-3FE8AE60F1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3346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11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4168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49BE22-2C05-C52D-52F6-C5771D38E4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8582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453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86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E3B336-93F0-29B3-46B4-C1069C52B9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4533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9905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7197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9126F8-7E55-EDDB-3CFC-D7D2E1C06D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88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3674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92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E19B74-AE6E-E0D8-C628-124CC88CB4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4531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5795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5695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2566F-052B-F609-5F51-1D454A862E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438142" name="SlideTitle1"/>
          <p:cNvSpPr>
            <a:spLocks noChangeArrowheads="1" noGrp="1"/>
          </p:cNvSpPr>
          <p:nvPr>
            <p:ph type="ctrTitle"/>
          </p:nvPr>
        </p:nvSpPr>
        <p:spPr bwMode="auto">
          <a:xfrm>
            <a:off x="914400" y="2129790"/>
            <a:ext cx="10363200" cy="1470660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75556987" name="SlideSubtitle1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cap="none"/>
            </a:lvl1pPr>
            <a:lvl2pPr marL="457200" indent="0" algn="ctr">
              <a:buNone/>
              <a:defRPr cap="none"/>
            </a:lvl2pPr>
            <a:lvl3pPr marL="914400" indent="0" algn="ctr">
              <a:buNone/>
              <a:defRPr cap="none"/>
            </a:lvl3pPr>
            <a:lvl4pPr marL="1371600" indent="0" algn="ctr">
              <a:buNone/>
              <a:defRPr cap="none"/>
            </a:lvl4pPr>
            <a:lvl5pPr marL="1828800" indent="0" algn="ctr">
              <a:buNone/>
              <a:defRPr cap="none"/>
            </a:lvl5pPr>
            <a:lvl6pPr marL="2286000" indent="0" algn="ctr">
              <a:buNone/>
              <a:defRPr cap="none"/>
            </a:lvl6pPr>
            <a:lvl7pPr marL="2743200" indent="0" algn="ctr">
              <a:buNone/>
              <a:defRPr cap="none"/>
            </a:lvl7pPr>
            <a:lvl8pPr marL="3200400" indent="0" algn="ctr">
              <a:buNone/>
              <a:defRPr cap="none"/>
            </a:lvl8pPr>
            <a:lvl9pPr marL="3657600" indent="0" algn="ctr">
              <a:buNone/>
              <a:defRPr cap="none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337923141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AEDF-91F1-2558-BFC8-670DE0864932}" type="datetime1">
              <a:rPr/>
              <a:t>11/7/2025</a:t>
            </a:fld>
            <a:endParaRPr/>
          </a:p>
        </p:txBody>
      </p:sp>
      <p:sp>
        <p:nvSpPr>
          <p:cNvPr id="85956154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812196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A057-19F1-2556-BFC8-EF03EE8649BA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x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776705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32682212" name="SlideText1"/>
          <p:cNvSpPr>
            <a:spLocks noChangeArrowheads="1"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33658537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A691-DFF1-2550-BFC8-2905E886497C}" type="datetime1">
              <a:rPr/>
              <a:t>11/7/2025</a:t>
            </a:fld>
            <a:endParaRPr/>
          </a:p>
        </p:txBody>
      </p:sp>
      <p:sp>
        <p:nvSpPr>
          <p:cNvPr id="1293423548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82444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E41B-55F1-2512-BFC8-A347AA8649F6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38761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963295" y="4406900"/>
            <a:ext cx="10363200" cy="1362075"/>
          </a:xfrm>
        </p:spPr>
        <p:txBody>
          <a:bodyPr vert="horz" wrap="square" numCol="1" spcCol="215899" anchor="t">
            <a:prstTxWarp prst="textNoShape"/>
          </a:bodyPr>
          <a:lstStyle>
            <a:lvl1pPr algn="l">
              <a:defRPr sz="4000" b="1" cap="all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15740494" name="SlideText1"/>
          <p:cNvSpPr>
            <a:spLocks noChangeArrowheads="1" noGrp="1"/>
          </p:cNvSpPr>
          <p:nvPr>
            <p:ph idx="1"/>
          </p:nvPr>
        </p:nvSpPr>
        <p:spPr bwMode="auto">
          <a:xfrm>
            <a:off x="963295" y="2906395"/>
            <a:ext cx="10363200" cy="1500504"/>
          </a:xfrm>
        </p:spPr>
        <p:txBody>
          <a:bodyPr vert="horz" wrap="square" numCol="1" spcCol="215899" anchor="b">
            <a:prstTxWarp prst="textNoShape"/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57444896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8CB7-F9F1-257A-BFC8-0F2FC286495A}" type="datetime1">
              <a:rPr/>
              <a:t>11/7/2025</a:t>
            </a:fld>
            <a:endParaRPr/>
          </a:p>
        </p:txBody>
      </p:sp>
      <p:sp>
        <p:nvSpPr>
          <p:cNvPr id="32151704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2227063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C404-4AF1-2532-BFC8-BC678A8649E9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ColTx" userDrawn="1">
  <p:cSld name="Title and two conten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333856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75280294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609600" y="1600200"/>
            <a:ext cx="53848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95730825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197600" y="1600200"/>
            <a:ext cx="53848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96805391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8C84-CAF1-257A-BFC8-3C2FC2864969}" type="datetime1">
              <a:rPr/>
              <a:t>11/7/2025</a:t>
            </a:fld>
            <a:endParaRPr/>
          </a:p>
        </p:txBody>
      </p:sp>
      <p:sp>
        <p:nvSpPr>
          <p:cNvPr id="1327222663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1320876767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BA4F-01F1-254C-BFC8-F719F48649A2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952859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68478153" name="SlideText3"/>
          <p:cNvSpPr>
            <a:spLocks noChangeArrowheads="1" noGrp="1"/>
          </p:cNvSpPr>
          <p:nvPr>
            <p:ph idx="1"/>
          </p:nvPr>
        </p:nvSpPr>
        <p:spPr bwMode="auto">
          <a:xfrm>
            <a:off x="609600" y="1534795"/>
            <a:ext cx="5386070" cy="640080"/>
          </a:xfrm>
        </p:spPr>
        <p:txBody>
          <a:bodyPr vert="horz" wrap="square" numCol="1" spcCol="215899" anchor="b">
            <a:prstTxWarp prst="textNoShape"/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82407879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09600" y="2174875"/>
            <a:ext cx="5386070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9631463" name="SlideText2"/>
          <p:cNvSpPr>
            <a:spLocks noChangeArrowheads="1" noGrp="1"/>
          </p:cNvSpPr>
          <p:nvPr>
            <p:ph idx="3"/>
          </p:nvPr>
        </p:nvSpPr>
        <p:spPr bwMode="auto">
          <a:xfrm>
            <a:off x="6195695" y="1534795"/>
            <a:ext cx="5386705" cy="640080"/>
          </a:xfrm>
        </p:spPr>
        <p:txBody>
          <a:bodyPr vert="horz" wrap="square" numCol="1" spcCol="215899" anchor="b">
            <a:prstTxWarp prst="textNoShape"/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46986933" name="SlideText4"/>
          <p:cNvSpPr>
            <a:spLocks noChangeArrowheads="1" noGrp="1"/>
          </p:cNvSpPr>
          <p:nvPr>
            <p:ph idx="4"/>
          </p:nvPr>
        </p:nvSpPr>
        <p:spPr bwMode="auto"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39670372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E71D-53F1-2511-BFC8-A544A98649F0}" type="datetime1">
              <a:rPr/>
              <a:t>11/7/2025</a:t>
            </a:fld>
            <a:endParaRPr/>
          </a:p>
        </p:txBody>
      </p:sp>
      <p:sp>
        <p:nvSpPr>
          <p:cNvPr id="1346378867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1486149030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CBF8-B6F1-253D-BFC8-406885864915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764073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59237354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D6D8-96F1-2520-BFC8-607598864935}" type="datetime1">
              <a:rPr/>
              <a:t>11/7/2025</a:t>
            </a:fld>
            <a:endParaRPr/>
          </a:p>
        </p:txBody>
      </p:sp>
      <p:sp>
        <p:nvSpPr>
          <p:cNvPr id="403963311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248270401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9F01-4FF1-2569-BFC8-B93CD18649EC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25209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F5AB-E5F1-2503-BFC8-1356BB864946}" type="datetime1">
              <a:rPr/>
              <a:t>11/7/2025</a:t>
            </a:fld>
            <a:endParaRPr/>
          </a:p>
        </p:txBody>
      </p:sp>
      <p:sp>
        <p:nvSpPr>
          <p:cNvPr id="332061391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458112249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AA92-DCF1-255C-BFC8-2A09E486497F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610099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609600" y="273050"/>
            <a:ext cx="4011295" cy="1162050"/>
          </a:xfrm>
        </p:spPr>
        <p:txBody>
          <a:bodyPr vert="horz" wrap="square" numCol="1" spcCol="215899" anchor="b">
            <a:prstTxWarp prst="textNoShape"/>
          </a:bodyPr>
          <a:lstStyle>
            <a:lvl1pPr algn="l">
              <a:defRPr sz="2000" b="1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31246296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4766310" y="273050"/>
            <a:ext cx="6816090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88196571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28863707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B938-76F1-254F-BFC8-801AF78649D5}" type="datetime1">
              <a:rPr/>
              <a:t>11/7/2025</a:t>
            </a:fld>
            <a:endParaRPr/>
          </a:p>
        </p:txBody>
      </p:sp>
      <p:sp>
        <p:nvSpPr>
          <p:cNvPr id="1496119679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135980726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8D3C-72F1-257B-BFC8-842EC38649D1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99196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2388870" y="4800600"/>
            <a:ext cx="7315200" cy="566420"/>
          </a:xfrm>
        </p:spPr>
        <p:txBody>
          <a:bodyPr vert="horz" wrap="square" numCol="1" spcCol="215899" anchor="b">
            <a:prstTxWarp prst="textNoShape"/>
          </a:bodyPr>
          <a:lstStyle>
            <a:lvl1pPr algn="l">
              <a:defRPr sz="2000" b="1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99190370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2388870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39447819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2388870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88638235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C0A8-E6F1-2536-BFC8-10638E864945}" type="datetime1">
              <a:rPr/>
              <a:t>11/7/2025</a:t>
            </a:fld>
            <a:endParaRPr/>
          </a:p>
        </p:txBody>
      </p:sp>
      <p:sp>
        <p:nvSpPr>
          <p:cNvPr id="1651507643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462930774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FA31-7FF1-250C-BFC8-8959B48649DC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771266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52087824" name="SlideText1"/>
          <p:cNvSpPr>
            <a:spLocks noChangeArrowheads="1" noGrp="1"/>
          </p:cNvSpPr>
          <p:nvPr>
            <p:ph idx="1"/>
          </p:nvPr>
        </p:nvSpPr>
        <p:spPr bwMode="auto"/>
        <p:txBody>
          <a:bodyPr vert="vert" wrap="square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26213838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B6FA-B4F1-2540-BFC8-4215F8864917}" type="datetime1">
              <a:rPr/>
              <a:t>11/7/2025</a:t>
            </a:fld>
            <a:endParaRPr/>
          </a:p>
        </p:txBody>
      </p:sp>
      <p:sp>
        <p:nvSpPr>
          <p:cNvPr id="590575112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290608524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8F1C-52F1-2579-BFC8-A42CC18649F1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117969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8839200" y="274320"/>
            <a:ext cx="2743200" cy="5852160"/>
          </a:xfrm>
        </p:spPr>
        <p:txBody>
          <a:bodyPr vert="vert" wrap="square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4005379" name="SlideText1"/>
          <p:cNvSpPr>
            <a:spLocks noChangeArrowheads="1" noGrp="1"/>
          </p:cNvSpPr>
          <p:nvPr>
            <p:ph idx="1"/>
          </p:nvPr>
        </p:nvSpPr>
        <p:spPr bwMode="auto">
          <a:xfrm>
            <a:off x="609600" y="274320"/>
            <a:ext cx="8026400" cy="5852160"/>
          </a:xfrm>
        </p:spPr>
        <p:txBody>
          <a:bodyPr vert="vert" wrap="square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65867773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BD8A-C4F1-254B-BFC8-321EF3864967}" type="datetime1">
              <a:rPr/>
              <a:t>11/7/2025</a:t>
            </a:fld>
            <a:endParaRPr/>
          </a:p>
        </p:txBody>
      </p:sp>
      <p:sp>
        <p:nvSpPr>
          <p:cNvPr id="1414463529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{Footer}</a:t>
            </a:r>
            <a:endParaRPr/>
          </a:p>
        </p:txBody>
      </p:sp>
      <p:sp>
        <p:nvSpPr>
          <p:cNvPr id="1773552844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B72B-65F1-2541-BFC8-9314F98649C6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833146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96502024" name="SlideText1"/>
          <p:cNvSpPr>
            <a:spLocks noChangeArrowheads="1"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77377293" name="DateTimeArea1"/>
          <p:cNvSpPr>
            <a:spLocks noChangeArrowheads="1" noGrp="1"/>
          </p:cNvSpPr>
          <p:nvPr>
            <p:ph type="dt" sz="quarter" idx="10"/>
          </p:nvPr>
        </p:nvSpPr>
        <p:spPr bwMode="auto">
          <a:xfrm>
            <a:off x="609600" y="6356985"/>
            <a:ext cx="2844165" cy="364490"/>
          </a:xfrm>
        </p:spPr>
        <p:txBody>
          <a:bodyPr/>
          <a:lstStyle/>
          <a:p>
            <a:pPr>
              <a:defRPr/>
            </a:pPr>
            <a:fld id="{1C708249-07F1-2574-BFC8-F121CC8649A4}" type="datetime1">
              <a:rPr/>
              <a:t>11/7/2025</a:t>
            </a:fld>
            <a:endParaRPr/>
          </a:p>
        </p:txBody>
      </p:sp>
      <p:sp>
        <p:nvSpPr>
          <p:cNvPr id="1005692805" name="FooterArea1"/>
          <p:cNvSpPr>
            <a:spLocks noChangeArrowheads="1" noGrp="1"/>
          </p:cNvSpPr>
          <p:nvPr>
            <p:ph type="ftr" sz="quarter" idx="11"/>
          </p:nvPr>
        </p:nvSpPr>
        <p:spPr bwMode="auto">
          <a:xfrm>
            <a:off x="4166235" y="6356985"/>
            <a:ext cx="3859530" cy="364490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1262" name="SlideNumberArea1"/>
          <p:cNvSpPr>
            <a:spLocks noChangeArrowheads="1" noGrp="1"/>
          </p:cNvSpPr>
          <p:nvPr>
            <p:ph type="sldNum" sz="quarter" idx="12"/>
          </p:nvPr>
        </p:nvSpPr>
        <p:spPr bwMode="auto">
          <a:xfrm>
            <a:off x="8738235" y="6356985"/>
            <a:ext cx="2844165" cy="364490"/>
          </a:xfrm>
        </p:spPr>
        <p:txBody>
          <a:bodyPr/>
          <a:lstStyle/>
          <a:p>
            <a:pPr>
              <a:defRPr/>
            </a:pPr>
            <a:fld id="{1C70A2B6-F8F1-2554-BFC8-0E01EC86495B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bg>
      <p:bgPr shadeToTitle="0">
        <a:blipFill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353440" name="SlideTitle1"/>
          <p:cNvSpPr>
            <a:spLocks noChangeArrowheads="1" noGrp="1"/>
          </p:cNvSpPr>
          <p:nvPr>
            <p:ph type="ctrTitle"/>
          </p:nvPr>
        </p:nvSpPr>
        <p:spPr bwMode="auto">
          <a:xfrm>
            <a:off x="914400" y="2129790"/>
            <a:ext cx="10363200" cy="1470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14036525" name="SlideSubtitle1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 marL="0" marR="0" indent="0" algn="ctr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58733106" name="DateTimeArea1"/>
          <p:cNvSpPr>
            <a:spLocks noChangeArrowheads="1" noGrp="1"/>
          </p:cNvSpPr>
          <p:nvPr>
            <p:ph type="dt" sz="quarter" idx="10"/>
          </p:nvPr>
        </p:nvSpPr>
        <p:spPr bwMode="auto"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fld id="{1C70828F-C1F1-2574-BFC8-3721CC864962}" type="datetime1">
              <a:rPr/>
              <a:t>11/7/2025</a:t>
            </a:fld>
            <a:endParaRPr/>
          </a:p>
        </p:txBody>
      </p:sp>
      <p:sp>
        <p:nvSpPr>
          <p:cNvPr id="199016374" name="FooterArea1"/>
          <p:cNvSpPr>
            <a:spLocks noChangeArrowheads="1" noGrp="1"/>
          </p:cNvSpPr>
          <p:nvPr>
            <p:ph type="ftr" sz="quarter" idx="11"/>
          </p:nvPr>
        </p:nvSpPr>
        <p:spPr bwMode="auto"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endParaRPr/>
          </a:p>
        </p:txBody>
      </p:sp>
      <p:sp>
        <p:nvSpPr>
          <p:cNvPr id="41588635" name="SlideNumberArea1"/>
          <p:cNvSpPr>
            <a:spLocks noChangeArrowheads="1"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fld id="{1C70EC31-7FF1-251A-BFC8-894FA28649DC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x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287033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51533913" name="SlideText1"/>
          <p:cNvSpPr>
            <a:spLocks noChangeArrowheads="1"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46618763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A90D-43F1-255F-BFC8-B50AE78649E0}" type="datetime1">
              <a:rPr/>
              <a:t>11/7/2025</a:t>
            </a:fld>
            <a:endParaRPr/>
          </a:p>
        </p:txBody>
      </p:sp>
      <p:sp>
        <p:nvSpPr>
          <p:cNvPr id="316003345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517948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F526-68F1-2503-BFC8-9E56BB8649CB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935986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963295" y="4406900"/>
            <a:ext cx="10363200" cy="1362075"/>
          </a:xfrm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59199391" name="SlideText1"/>
          <p:cNvSpPr>
            <a:spLocks noChangeArrowheads="1" noGrp="1"/>
          </p:cNvSpPr>
          <p:nvPr>
            <p:ph idx="1"/>
          </p:nvPr>
        </p:nvSpPr>
        <p:spPr bwMode="auto">
          <a:xfrm>
            <a:off x="963295" y="2906395"/>
            <a:ext cx="10363200" cy="1500504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48650661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DB6E-20F1-252D-BFC8-D67895864983}" type="datetime1">
              <a:rPr/>
              <a:t>11/7/2025</a:t>
            </a:fld>
            <a:endParaRPr/>
          </a:p>
        </p:txBody>
      </p:sp>
      <p:sp>
        <p:nvSpPr>
          <p:cNvPr id="1783800232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46612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CA61-2FF1-253C-BFC8-D9698486498C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ColTx" userDrawn="1">
  <p:cSld name="Title and two conten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867956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76971834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609600" y="1600200"/>
            <a:ext cx="5385435" cy="452628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64018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196965" y="1600200"/>
            <a:ext cx="5385435" cy="452628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03777805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AFC4-8AF1-2559-BFC8-7C0CE1864929}" type="datetime1">
              <a:rPr/>
              <a:t>11/7/2025</a:t>
            </a:fld>
            <a:endParaRPr/>
          </a:p>
        </p:txBody>
      </p:sp>
      <p:sp>
        <p:nvSpPr>
          <p:cNvPr id="2105404916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59246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DC9B-D5F1-252A-BFC8-237F92864976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544951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96450049" name="SlideText3"/>
          <p:cNvSpPr>
            <a:spLocks noChangeArrowheads="1" noGrp="1"/>
          </p:cNvSpPr>
          <p:nvPr>
            <p:ph idx="1"/>
          </p:nvPr>
        </p:nvSpPr>
        <p:spPr bwMode="auto">
          <a:xfrm>
            <a:off x="609600" y="1534795"/>
            <a:ext cx="5386705" cy="64008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31602126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09600" y="2174875"/>
            <a:ext cx="5386705" cy="3951605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75314452" name="SlideText2"/>
          <p:cNvSpPr>
            <a:spLocks noChangeArrowheads="1" noGrp="1"/>
          </p:cNvSpPr>
          <p:nvPr>
            <p:ph idx="3"/>
          </p:nvPr>
        </p:nvSpPr>
        <p:spPr bwMode="auto">
          <a:xfrm>
            <a:off x="6195695" y="1534795"/>
            <a:ext cx="5386705" cy="64008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23190091" name="SlideText4"/>
          <p:cNvSpPr>
            <a:spLocks noChangeArrowheads="1" noGrp="1"/>
          </p:cNvSpPr>
          <p:nvPr>
            <p:ph idx="4"/>
          </p:nvPr>
        </p:nvSpPr>
        <p:spPr bwMode="auto">
          <a:xfrm>
            <a:off x="6195695" y="2174875"/>
            <a:ext cx="5386705" cy="3951605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38093020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899B-D5F1-257F-BFC8-232AC7864976}" type="datetime1">
              <a:rPr/>
              <a:t>11/7/2025</a:t>
            </a:fld>
            <a:endParaRPr/>
          </a:p>
        </p:txBody>
      </p:sp>
      <p:sp>
        <p:nvSpPr>
          <p:cNvPr id="36986758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582918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882C-62F1-257E-BFC8-942BC68649C1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092807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78607509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DB76-38F1-252D-BFC8-CE789586499B}" type="datetime1">
              <a:rPr/>
              <a:t>11/7/2025</a:t>
            </a:fld>
            <a:endParaRPr/>
          </a:p>
        </p:txBody>
      </p:sp>
      <p:sp>
        <p:nvSpPr>
          <p:cNvPr id="838915273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673399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ADD1-9FF1-255B-BFC8-690EE386493C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492798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9862-2CF1-256E-BFC8-DA3BD686498F}" type="datetime1">
              <a:rPr/>
              <a:t>11/7/2025</a:t>
            </a:fld>
            <a:endParaRPr/>
          </a:p>
        </p:txBody>
      </p:sp>
      <p:sp>
        <p:nvSpPr>
          <p:cNvPr id="239193572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347868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C452-1CF1-2532-BFC8-EA678A8649BF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09819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609600" y="273050"/>
            <a:ext cx="4011295" cy="116205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30651953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4766945" y="273050"/>
            <a:ext cx="6815455" cy="585343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70395442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609600" y="1435100"/>
            <a:ext cx="4011295" cy="469138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60725024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EF3D-73F1-2519-BFC8-854CA18649D0}" type="datetime1">
              <a:rPr/>
              <a:t>11/7/2025</a:t>
            </a:fld>
            <a:endParaRPr/>
          </a:p>
        </p:txBody>
      </p:sp>
      <p:sp>
        <p:nvSpPr>
          <p:cNvPr id="1577884727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615795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832C-62F1-2575-BFC8-9420CD8649C1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667661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2389505" y="4800600"/>
            <a:ext cx="7315200" cy="566420"/>
          </a:xfrm>
        </p:spPr>
        <p:txBody>
          <a:bodyPr vert="horz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9374086" name="SlideText2"/>
          <p:cNvSpPr>
            <a:spLocks noChangeArrowheads="1" noGrp="1"/>
          </p:cNvSpPr>
          <p:nvPr>
            <p:ph idx="1"/>
          </p:nvPr>
        </p:nvSpPr>
        <p:spPr bwMode="auto">
          <a:xfrm>
            <a:off x="2389505" y="613410"/>
            <a:ext cx="7315200" cy="411480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75056483" name="SlideText1"/>
          <p:cNvSpPr>
            <a:spLocks noChangeArrowheads="1" noGrp="1"/>
          </p:cNvSpPr>
          <p:nvPr>
            <p:ph idx="2"/>
          </p:nvPr>
        </p:nvSpPr>
        <p:spPr bwMode="auto">
          <a:xfrm>
            <a:off x="2389505" y="5367020"/>
            <a:ext cx="7315200" cy="805180"/>
          </a:xfrm>
        </p:spPr>
        <p:txBody>
          <a:bodyPr/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58339524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8B20-6EF1-257D-BFC8-9828C58649CD}" type="datetime1">
              <a:rPr/>
              <a:t>11/7/2025</a:t>
            </a:fld>
            <a:endParaRPr/>
          </a:p>
        </p:txBody>
      </p:sp>
      <p:sp>
        <p:nvSpPr>
          <p:cNvPr id="275009205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818026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8040-0EF1-2576-BFC8-F823CE8649AD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767727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14383006" name="SlideText1"/>
          <p:cNvSpPr>
            <a:spLocks noChangeArrowheads="1" noGrp="1"/>
          </p:cNvSpPr>
          <p:nvPr>
            <p:ph idx="1"/>
          </p:nvPr>
        </p:nvSpPr>
        <p:spPr bwMode="auto"/>
        <p:txBody>
          <a:bodyPr vert="vert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34872633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FFBF-F1F1-2509-BFC8-075CB1864952}" type="datetime1">
              <a:rPr/>
              <a:t>11/7/2025</a:t>
            </a:fld>
            <a:endParaRPr/>
          </a:p>
        </p:txBody>
      </p:sp>
      <p:sp>
        <p:nvSpPr>
          <p:cNvPr id="179604496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03301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B962-2CF1-254F-BFC8-DA1AF786498F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5614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8839200" y="274320"/>
            <a:ext cx="2743200" cy="5852160"/>
          </a:xfrm>
        </p:spPr>
        <p:txBody>
          <a:bodyPr vert="vert" wrap="square" lIns="91440" tIns="45720" rIns="91440" bIns="45720" numCol="1" spcCol="215899" anchor="b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92487044" name="SlideText1"/>
          <p:cNvSpPr>
            <a:spLocks noChangeArrowheads="1" noGrp="1"/>
          </p:cNvSpPr>
          <p:nvPr>
            <p:ph idx="1"/>
          </p:nvPr>
        </p:nvSpPr>
        <p:spPr bwMode="auto">
          <a:xfrm>
            <a:off x="609600" y="274320"/>
            <a:ext cx="8025765" cy="5852160"/>
          </a:xfrm>
        </p:spPr>
        <p:txBody>
          <a:bodyPr vert="vert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63051558" name="DateTimeArea1"/>
          <p:cNvSpPr>
            <a:spLocks noChangeArrowheads="1" noGrp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1C708535-7BF1-2573-BFC8-8D26CB8649D8}" type="datetime1">
              <a:rPr/>
              <a:t>11/7/2025</a:t>
            </a:fld>
            <a:endParaRPr/>
          </a:p>
        </p:txBody>
      </p:sp>
      <p:sp>
        <p:nvSpPr>
          <p:cNvPr id="1254249982" name="FooterArea1"/>
          <p:cNvSpPr>
            <a:spLocks noChangeArrowheads="1"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441308" name="SlideNumberArea1"/>
          <p:cNvSpPr>
            <a:spLocks noChangeArrowheads="1"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C70F8CE-80F1-250E-BFC8-765BB6864923}" type="slidenum">
              <a:rPr/>
              <a:t>‹#›</a:t>
            </a:fld>
            <a:endParaRPr/>
          </a:p>
        </p:txBody>
      </p:sp>
    </p:spTree>
  </p:cSld>
  <p:clrMapOvr>
    <a:masterClrMapping/>
  </p:clrMapOvr>
  <p:hf dt="1" ftr="0" hdr="0" sldNum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Blue sky">
    <p:bg>
      <p:bgPr shadeToTitle="0">
        <a:blipFill>
          <a:blip r:embed="rId14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502805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609600" y="274320"/>
            <a:ext cx="10972800" cy="1143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  <a:effectLst/>
        </p:spPr>
        <p:txBody>
          <a:bodyPr vert="horz" wrap="square" numCol="1" spcCol="215899" anchor="ctr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40700008" name="SlideText1"/>
          <p:cNvSpPr>
            <a:spLocks noChangeArrowheads="1" noGrp="1"/>
          </p:cNvSpPr>
          <p:nvPr>
            <p:ph type="body" idx="1"/>
          </p:nvPr>
        </p:nvSpPr>
        <p:spPr bwMode="auto">
          <a:xfrm>
            <a:off x="609600" y="1600200"/>
            <a:ext cx="10972800" cy="452628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  <a:effectLst/>
        </p:spPr>
        <p:txBody>
          <a:bodyPr vert="horz" wrap="square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12678689" name="DateTimeArea1"/>
          <p:cNvSpPr>
            <a:spLocks noChangeArrowheads="1" noGrp="1"/>
          </p:cNvSpPr>
          <p:nvPr>
            <p:ph type="dt" sz="quarter" idx="2"/>
          </p:nvPr>
        </p:nvSpPr>
        <p:spPr bwMode="auto">
          <a:xfrm>
            <a:off x="609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ctr">
            <a:prstTxWarp prst="textNoShape"/>
          </a:bodyPr>
          <a:lstStyle>
            <a:lvl1pPr algn="l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1C70DF1A-54F1-2529-BFC8-A27C918649F7}" type="datetime1">
              <a:rPr/>
              <a:t>11/7/2025</a:t>
            </a:fld>
            <a:endParaRPr/>
          </a:p>
        </p:txBody>
      </p:sp>
      <p:sp>
        <p:nvSpPr>
          <p:cNvPr id="1778452723" name="FooterArea1"/>
          <p:cNvSpPr>
            <a:spLocks noChangeArrowheads="1" noGrp="1"/>
          </p:cNvSpPr>
          <p:nvPr>
            <p:ph type="ftr" sz="quarter" idx="3"/>
          </p:nvPr>
        </p:nvSpPr>
        <p:spPr bwMode="auto">
          <a:xfrm>
            <a:off x="4165600" y="6356985"/>
            <a:ext cx="3860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ctr">
            <a:prstTxWarp prst="textNoShape"/>
          </a:bodyPr>
          <a:lstStyle>
            <a:lvl1pPr algn="ct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endParaRPr/>
          </a:p>
        </p:txBody>
      </p:sp>
      <p:sp>
        <p:nvSpPr>
          <p:cNvPr id="109259360" name="SlideNumberArea1"/>
          <p:cNvSpPr>
            <a:spLocks noChangeArrowheads="1" noGrp="1"/>
          </p:cNvSpPr>
          <p:nvPr>
            <p:ph type="sldNum" sz="quarter" idx="4"/>
          </p:nvPr>
        </p:nvSpPr>
        <p:spPr bwMode="auto">
          <a:xfrm>
            <a:off x="8737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ctr">
            <a:prstTxWarp prst="textNoShape"/>
          </a:bodyPr>
          <a:lstStyle>
            <a:lvl1pPr algn="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1C708A7F-31F1-257C-BFC8-C729C4864992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lvl1pPr marL="0" marR="0" indent="0" algn="ctr" defTabSz="449580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strike="noStrike" cap="none" spc="0">
          <a:solidFill>
            <a:schemeClr val="tx2"/>
          </a:solidFill>
          <a:latin typeface="Calibri"/>
          <a:ea typeface="SimSun"/>
          <a:cs typeface="Times New Roman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9pPr>
    </p:titleStyle>
    <p:bodyStyle>
      <a:lvl1pPr marL="342900" marR="0" indent="-3429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32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1pPr>
      <a:lvl2pPr marL="742950" marR="0" indent="-28575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defRPr sz="2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2pPr>
      <a:lvl3pPr marL="1143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4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3pPr>
      <a:lvl4pPr marL="1600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4pPr>
      <a:lvl5pPr marL="20574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5pPr>
      <a:lvl6pPr marL="25146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6pPr>
      <a:lvl7pPr marL="29718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7pPr>
      <a:lvl8pPr marL="3429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8pPr>
      <a:lvl9pPr marL="3886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9pPr>
    </p:bodyStyle>
    <p:other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Blue sky">
    <p:bg>
      <p:bgPr shadeToTitle="0">
        <a:blipFill>
          <a:blip r:embed="rId1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331665" name="SlideTitle1"/>
          <p:cNvSpPr>
            <a:spLocks noChangeArrowheads="1" noGrp="1"/>
          </p:cNvSpPr>
          <p:nvPr>
            <p:ph type="title"/>
          </p:nvPr>
        </p:nvSpPr>
        <p:spPr bwMode="auto">
          <a:xfrm>
            <a:off x="609600" y="274320"/>
            <a:ext cx="10972800" cy="1143000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17692487" name="SlideText1"/>
          <p:cNvSpPr>
            <a:spLocks noChangeArrowheads="1" noGrp="1"/>
          </p:cNvSpPr>
          <p:nvPr>
            <p:ph type="body" idx="1"/>
          </p:nvPr>
        </p:nvSpPr>
        <p:spPr bwMode="auto">
          <a:xfrm>
            <a:off x="609600" y="1600200"/>
            <a:ext cx="10972800" cy="4526280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26320793" name="DateTimeArea1"/>
          <p:cNvSpPr>
            <a:spLocks noChangeArrowheads="1" noGrp="1"/>
          </p:cNvSpPr>
          <p:nvPr>
            <p:ph type="dt" sz="quarter" idx="2"/>
          </p:nvPr>
        </p:nvSpPr>
        <p:spPr bwMode="auto">
          <a:xfrm>
            <a:off x="609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1C70F370-3EF1-2505-BFC8-C850BD86499D}" type="datetime1">
              <a:rPr/>
              <a:t>11/7/2025</a:t>
            </a:fld>
            <a:endParaRPr/>
          </a:p>
        </p:txBody>
      </p:sp>
      <p:sp>
        <p:nvSpPr>
          <p:cNvPr id="1130944570" name="FooterArea1"/>
          <p:cNvSpPr>
            <a:spLocks noChangeArrowheads="1" noGrp="1"/>
          </p:cNvSpPr>
          <p:nvPr>
            <p:ph type="ftr" sz="quarter" idx="3"/>
          </p:nvPr>
        </p:nvSpPr>
        <p:spPr bwMode="auto">
          <a:xfrm>
            <a:off x="4165600" y="6356985"/>
            <a:ext cx="3860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 algn="ct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endParaRPr/>
          </a:p>
        </p:txBody>
      </p:sp>
      <p:sp>
        <p:nvSpPr>
          <p:cNvPr id="1686636075" name="SlideNumberArea1"/>
          <p:cNvSpPr>
            <a:spLocks noChangeArrowheads="1" noGrp="1"/>
          </p:cNvSpPr>
          <p:nvPr>
            <p:ph type="sldNum" sz="quarter" idx="4"/>
          </p:nvPr>
        </p:nvSpPr>
        <p:spPr bwMode="auto">
          <a:xfrm>
            <a:off x="8737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>
            <a:lvl1pPr algn="r">
              <a:defRPr sz="1200" cap="none"/>
            </a:lvl1pPr>
            <a:lvl2pPr>
              <a:defRPr cap="none"/>
            </a:lvl2pPr>
            <a:lvl3pPr>
              <a:defRPr cap="none"/>
            </a:lvl3pPr>
            <a:lvl4pPr>
              <a:defRPr cap="none"/>
            </a:lvl4pPr>
            <a:lvl5pPr>
              <a:defRPr cap="none"/>
            </a:lvl5pPr>
            <a:lvl6pPr>
              <a:defRPr cap="none"/>
            </a:lvl6pPr>
            <a:lvl7pPr>
              <a:defRPr cap="none"/>
            </a:lvl7pPr>
            <a:lvl8pPr>
              <a:defRPr cap="none"/>
            </a:lvl8pPr>
            <a:lvl9pPr>
              <a:defRPr cap="none"/>
            </a:lvl9pPr>
          </a:lstStyle>
          <a:p>
            <a:pPr>
              <a:defRPr/>
            </a:pPr>
            <a:fld id="{1C70FC2D-63F1-250A-BFC8-955FB28649C0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lvl1pPr marL="0" marR="0" indent="0" algn="ctr" defTabSz="449580">
        <a:lnSpc>
          <a:spcPct val="100000"/>
        </a:lnSpc>
        <a:spcBef>
          <a:spcPts val="0"/>
        </a:spcBef>
        <a:spcAft>
          <a:spcPts val="0"/>
        </a:spcAft>
        <a:buNone/>
        <a:defRPr sz="4400" b="0" i="0" u="none" strike="noStrike" cap="none" spc="0">
          <a:solidFill>
            <a:schemeClr val="tx2"/>
          </a:solidFill>
          <a:latin typeface="Calibri"/>
          <a:ea typeface="Calibri"/>
          <a:cs typeface="Calibri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9pPr>
    </p:titleStyle>
    <p:bodyStyle>
      <a:lvl1pPr marL="342900" marR="0" indent="-3429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32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1pPr>
      <a:lvl2pPr marL="742950" marR="0" indent="-28575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defRPr sz="2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2pPr>
      <a:lvl3pPr marL="1143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4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3pPr>
      <a:lvl4pPr marL="1600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defRPr sz="20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4pPr>
      <a:lvl5pPr marL="20574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defRPr sz="20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9pPr>
    </p:bodyStyle>
    <p:other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Calibri"/>
          <a:cs typeface="Calibri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entury Gothic"/>
          <a:ea typeface="Century Gothic"/>
          <a:cs typeface="Century Gothic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013306" name="SlideTitle1"/>
          <p:cNvSpPr>
            <a:spLocks noChangeArrowheads="1" noGrp="1"/>
          </p:cNvSpPr>
          <p:nvPr>
            <p:ph type="ctrTitle"/>
          </p:nvPr>
        </p:nvSpPr>
        <p:spPr bwMode="auto">
          <a:xfrm>
            <a:off x="1435100" y="2117090"/>
            <a:ext cx="10363200" cy="14706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Stacks in Java</a:t>
            </a:r>
            <a:endParaRPr/>
          </a:p>
        </p:txBody>
      </p:sp>
      <p:sp>
        <p:nvSpPr>
          <p:cNvPr id="1824084838" name="SlideSubtitle1"/>
          <p:cNvSpPr>
            <a:spLocks noChangeArrowheads="1" noGrp="1"/>
          </p:cNvSpPr>
          <p:nvPr>
            <p:ph type="subTitle" idx="1"/>
          </p:nvPr>
        </p:nvSpPr>
        <p:spPr bwMode="auto">
          <a:xfrm>
            <a:off x="1828164" y="3886200"/>
            <a:ext cx="8594090" cy="21234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/>
          </a:bodyPr>
          <a:lstStyle/>
          <a:p>
            <a:pPr marL="0" marR="0" indent="0" algn="ctr" defTabSz="44958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COP 3330</a:t>
            </a:r>
            <a:br>
              <a:rPr/>
            </a:br>
            <a:r>
              <a:rPr/>
              <a:t>Department of Computer Science</a:t>
            </a:r>
            <a:br>
              <a:rPr/>
            </a:br>
            <a:r>
              <a:rPr/>
              <a:t>University of Central Florida</a:t>
            </a:r>
            <a:endParaRPr/>
          </a:p>
          <a:p>
            <a:pPr marL="0" marR="0" indent="0" algn="ctr" defTabSz="44958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Dr. Bacanli</a:t>
            </a:r>
            <a:endParaRPr/>
          </a:p>
        </p:txBody>
      </p:sp>
      <p:pic>
        <p:nvPicPr>
          <p:cNvPr id="1451940316" name="Picture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3825" y="123825"/>
            <a:ext cx="2026920" cy="36499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16676896" name="Picture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686925" y="163195"/>
            <a:ext cx="2172335" cy="163068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04107" name="Content Placeholder 2"/>
          <p:cNvSpPr>
            <a:spLocks noChangeArrowheads="1" noGrp="1"/>
          </p:cNvSpPr>
          <p:nvPr>
            <p:ph type="body" idx="1"/>
          </p:nvPr>
        </p:nvSpPr>
        <p:spPr bwMode="auto">
          <a:xfrm>
            <a:off x="609600" y="1600200"/>
            <a:ext cx="10972800" cy="1137285"/>
          </a:xfrm>
        </p:spPr>
        <p:txBody>
          <a:bodyPr vert="horz" wrap="square" numCol="1" spcCol="215899" anchor="t">
            <a:prstTxWarp prst="textNoShape"/>
          </a:bodyPr>
          <a:lstStyle/>
          <a:p>
            <a:pPr>
              <a:lnSpc>
                <a:spcPct val="70000"/>
              </a:lnSpc>
              <a:spcBef>
                <a:spcPts val="850"/>
              </a:spcBef>
              <a:defRPr sz="2800" cap="none"/>
            </a:pPr>
            <a:r>
              <a:rPr/>
              <a:t>A stack is a sequence of nodes in which we can only access the last item. We can either add to the top of remove from the top. </a:t>
            </a:r>
            <a:endParaRPr/>
          </a:p>
          <a:p>
            <a:pPr>
              <a:lnSpc>
                <a:spcPct val="70000"/>
              </a:lnSpc>
              <a:spcBef>
                <a:spcPts val="850"/>
              </a:spcBef>
              <a:defRPr sz="2800" cap="none"/>
            </a:pPr>
            <a:r>
              <a:rPr/>
              <a:t>Ex: Stack of dishes in the kitchen</a:t>
            </a:r>
            <a:endParaRPr/>
          </a:p>
        </p:txBody>
      </p:sp>
      <p:sp>
        <p:nvSpPr>
          <p:cNvPr id="1366793153" name="Title 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What is a Stack?</a:t>
            </a:r>
            <a:endParaRPr/>
          </a:p>
        </p:txBody>
      </p:sp>
      <p:sp>
        <p:nvSpPr>
          <p:cNvPr id="1066316533" name="TextBox 11"/>
          <p:cNvSpPr/>
          <p:nvPr/>
        </p:nvSpPr>
        <p:spPr bwMode="auto">
          <a:xfrm>
            <a:off x="2692400" y="3077210"/>
            <a:ext cx="846455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899" anchor="t"/>
          <a:lstStyle/>
          <a:p>
            <a:pPr>
              <a:defRPr sz="3600" cap="none">
                <a:latin typeface="Calibri"/>
                <a:ea typeface="Calibri"/>
                <a:cs typeface="Calibri"/>
              </a:defRPr>
            </a:pPr>
            <a:r>
              <a:rPr/>
              <a:t>Top</a:t>
            </a:r>
            <a:endParaRPr/>
          </a:p>
        </p:txBody>
      </p:sp>
      <p:sp>
        <p:nvSpPr>
          <p:cNvPr id="2045787752" name="Textbox1"/>
          <p:cNvSpPr txBox="1"/>
          <p:nvPr/>
        </p:nvSpPr>
        <p:spPr bwMode="auto">
          <a:xfrm>
            <a:off x="322579" y="5068570"/>
            <a:ext cx="4432300" cy="784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lnSpc>
                <a:spcPct val="70000"/>
              </a:lnSpc>
              <a:spcBef>
                <a:spcPts val="850"/>
              </a:spcBef>
              <a:defRPr sz="2600" cap="none">
                <a:latin typeface="Calibri"/>
                <a:ea typeface="Calibri"/>
                <a:cs typeface="Calibri"/>
              </a:defRPr>
            </a:pPr>
            <a:r>
              <a:rPr/>
              <a:t>The first node is called the top.</a:t>
            </a:r>
            <a:endParaRPr/>
          </a:p>
          <a:p>
            <a:pPr>
              <a:lnSpc>
                <a:spcPct val="70000"/>
              </a:lnSpc>
              <a:spcBef>
                <a:spcPts val="850"/>
              </a:spcBef>
              <a:defRPr sz="2600" cap="none">
                <a:latin typeface="Calibri"/>
                <a:ea typeface="Calibri"/>
                <a:cs typeface="Calibri"/>
              </a:defRPr>
            </a:pPr>
            <a:r>
              <a:rPr/>
              <a:t>Stack uses LIFO.</a:t>
            </a:r>
            <a:endParaRPr/>
          </a:p>
        </p:txBody>
      </p:sp>
      <p:sp>
        <p:nvSpPr>
          <p:cNvPr id="1118884053" name="AutoShape1"/>
          <p:cNvSpPr/>
          <p:nvPr/>
        </p:nvSpPr>
        <p:spPr bwMode="auto">
          <a:xfrm>
            <a:off x="3561715" y="3138805"/>
            <a:ext cx="1543050" cy="767079"/>
          </a:xfrm>
          <a:prstGeom prst="rightArrow">
            <a:avLst>
              <a:gd name="adj1" fmla="val 50000"/>
              <a:gd name="adj2" fmla="val 55319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9204661" name="Textbox2"/>
          <p:cNvSpPr txBox="1"/>
          <p:nvPr/>
        </p:nvSpPr>
        <p:spPr bwMode="auto">
          <a:xfrm>
            <a:off x="5234940" y="3073399"/>
            <a:ext cx="1455420" cy="88392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899" anchor="t"/>
          <a:lstStyle/>
          <a:p>
            <a:pPr algn="ctr"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34</a:t>
            </a:r>
            <a:endParaRPr/>
          </a:p>
        </p:txBody>
      </p:sp>
      <p:sp>
        <p:nvSpPr>
          <p:cNvPr id="384957764" name="Textbox3"/>
          <p:cNvSpPr txBox="1"/>
          <p:nvPr/>
        </p:nvSpPr>
        <p:spPr bwMode="auto">
          <a:xfrm>
            <a:off x="5234940" y="3957320"/>
            <a:ext cx="1455420" cy="88392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899" anchor="t"/>
          <a:lstStyle/>
          <a:p>
            <a:pPr algn="ctr"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3</a:t>
            </a:r>
            <a:endParaRPr/>
          </a:p>
        </p:txBody>
      </p:sp>
      <p:sp>
        <p:nvSpPr>
          <p:cNvPr id="265616759" name="Textbox4"/>
          <p:cNvSpPr txBox="1"/>
          <p:nvPr/>
        </p:nvSpPr>
        <p:spPr bwMode="auto">
          <a:xfrm>
            <a:off x="5238115" y="4849495"/>
            <a:ext cx="1455420" cy="883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899" anchor="t"/>
          <a:lstStyle/>
          <a:p>
            <a:pPr algn="ctr"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46</a:t>
            </a:r>
            <a:endParaRPr/>
          </a:p>
        </p:txBody>
      </p:sp>
      <p:sp>
        <p:nvSpPr>
          <p:cNvPr id="1888059976" name="Textbox5"/>
          <p:cNvSpPr txBox="1"/>
          <p:nvPr/>
        </p:nvSpPr>
        <p:spPr bwMode="auto">
          <a:xfrm>
            <a:off x="5234940" y="3077210"/>
            <a:ext cx="1455420" cy="88392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899" anchor="t"/>
          <a:lstStyle/>
          <a:p>
            <a:pPr algn="ctr"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7</a:t>
            </a:r>
            <a:endParaRPr/>
          </a:p>
        </p:txBody>
      </p:sp>
      <p:sp>
        <p:nvSpPr>
          <p:cNvPr id="1353730600" name="AutoShape2"/>
          <p:cNvSpPr/>
          <p:nvPr/>
        </p:nvSpPr>
        <p:spPr bwMode="auto">
          <a:xfrm>
            <a:off x="3555365" y="4022090"/>
            <a:ext cx="1543050" cy="767079"/>
          </a:xfrm>
          <a:prstGeom prst="rightArrow">
            <a:avLst>
              <a:gd name="adj1" fmla="val 50000"/>
              <a:gd name="adj2" fmla="val 55319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5428027" name="pop"/>
          <p:cNvSpPr txBox="1"/>
          <p:nvPr/>
        </p:nvSpPr>
        <p:spPr bwMode="auto">
          <a:xfrm>
            <a:off x="7218045" y="2900045"/>
            <a:ext cx="4307205" cy="944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Removing from stack is called pop</a:t>
            </a:r>
            <a:endParaRPr/>
          </a:p>
        </p:txBody>
      </p:sp>
      <p:sp>
        <p:nvSpPr>
          <p:cNvPr id="1117382304" name="push"/>
          <p:cNvSpPr txBox="1"/>
          <p:nvPr/>
        </p:nvSpPr>
        <p:spPr bwMode="auto">
          <a:xfrm>
            <a:off x="7218680" y="3886200"/>
            <a:ext cx="4307205" cy="944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Adding to stack is called push</a:t>
            </a:r>
            <a:endParaRPr/>
          </a:p>
        </p:txBody>
      </p:sp>
      <p:sp>
        <p:nvSpPr>
          <p:cNvPr id="1207146450" name="peek"/>
          <p:cNvSpPr txBox="1"/>
          <p:nvPr/>
        </p:nvSpPr>
        <p:spPr bwMode="auto">
          <a:xfrm>
            <a:off x="7227570" y="5024755"/>
            <a:ext cx="4307205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Getting the element without removal is called peek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129204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920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18884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18884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1118884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188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73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428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75428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05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88059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88059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8805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53730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5373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1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13537306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373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8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38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1738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14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" dur="500"/>
                                        <p:tgtEl>
                                          <p:spTgt spid="120714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8884053" grpId="0" animBg="1" advAuto="0"/>
      <p:bldP spid="1118884053" grpId="1" animBg="1" advAuto="0"/>
      <p:bldP spid="2129204661" grpId="0" animBg="1" advAuto="0"/>
      <p:bldP spid="1888059976" grpId="0" animBg="1" advAuto="0"/>
      <p:bldP spid="1353730600" grpId="0" animBg="1" advAuto="0"/>
      <p:bldP spid="1353730600" grpId="1" animBg="1" advAuto="0"/>
      <p:bldP spid="375428027" grpId="0" animBg="1" advAuto="0"/>
      <p:bldP spid="1117382304" grpId="0" animBg="1" advAuto="0"/>
      <p:bldP spid="1207146450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012817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Implementation</a:t>
            </a:r>
            <a:endParaRPr/>
          </a:p>
        </p:txBody>
      </p:sp>
      <p:sp>
        <p:nvSpPr>
          <p:cNvPr id="429070947" name="SlideText1"/>
          <p:cNvSpPr>
            <a:spLocks noChangeArrowheads="1" noGrp="1"/>
          </p:cNvSpPr>
          <p:nvPr>
            <p:ph type="body" idx="1"/>
          </p:nvPr>
        </p:nvSpPr>
        <p:spPr bwMode="auto">
          <a:xfrm>
            <a:off x="609600" y="1600200"/>
            <a:ext cx="11058525" cy="4196715"/>
          </a:xfrm>
        </p:spPr>
        <p:txBody>
          <a:bodyPr/>
          <a:lstStyle/>
          <a:p>
            <a:pPr>
              <a:defRPr/>
            </a:pPr>
            <a:r>
              <a:rPr/>
              <a:t>Push, pop and peek, all have O(1) run time complexity</a:t>
            </a:r>
            <a:endParaRPr/>
          </a:p>
          <a:p>
            <a:pPr lvl="1">
              <a:defRPr/>
            </a:pPr>
            <a:r>
              <a:rPr/>
              <a:t>There is no traversal of elements in stack, as a standard operation</a:t>
            </a:r>
            <a:endParaRPr/>
          </a:p>
          <a:p>
            <a:pPr>
              <a:defRPr/>
            </a:pPr>
            <a:r>
              <a:rPr/>
              <a:t>Stack can be implemented with arrays and Linked Lists.	</a:t>
            </a:r>
            <a:endParaRPr/>
          </a:p>
          <a:p>
            <a:pPr>
              <a:defRPr/>
            </a:pPr>
            <a:r>
              <a:rPr/>
              <a:t>What are the advantages and disadvantages of those implementations?</a:t>
            </a:r>
            <a:endParaRPr/>
          </a:p>
          <a:p>
            <a:pPr>
              <a:defRPr/>
            </a:pPr>
            <a:r>
              <a:rPr/>
              <a:t>Stack is used in </a:t>
            </a:r>
            <a:endParaRPr/>
          </a:p>
          <a:p>
            <a:pPr lvl="1">
              <a:defRPr/>
            </a:pPr>
            <a:r>
              <a:rPr/>
              <a:t>undo-redo</a:t>
            </a:r>
            <a:endParaRPr/>
          </a:p>
          <a:p>
            <a:pPr lvl="1">
              <a:defRPr/>
            </a:pPr>
            <a:r>
              <a:rPr/>
              <a:t>program memory/running</a:t>
            </a:r>
            <a:endParaRPr/>
          </a:p>
          <a:p>
            <a:pPr lvl="1">
              <a:defRPr/>
            </a:pPr>
            <a:r>
              <a:rPr/>
              <a:t>cases where last element/case has priority among others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271227" name="SlideTitle1"/>
          <p:cNvSpPr>
            <a:spLocks noChangeArrowheads="1" noGrp="1"/>
          </p:cNvSpPr>
          <p:nvPr>
            <p:ph type="title"/>
          </p:nvPr>
        </p:nvSpPr>
        <p:spPr bwMode="auto"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Stack as a linked list</a:t>
            </a:r>
            <a:endParaRPr/>
          </a:p>
        </p:txBody>
      </p:sp>
      <p:grpSp>
        <p:nvGrpSpPr>
          <p:cNvPr id="1567299928" name="Group1"/>
          <p:cNvGrpSpPr/>
          <p:nvPr/>
        </p:nvGrpSpPr>
        <p:grpSpPr bwMode="auto">
          <a:xfrm>
            <a:off x="932815" y="3903980"/>
            <a:ext cx="2009140" cy="861060"/>
            <a:chOff x="932815" y="3903980"/>
            <a:chExt cx="2009140" cy="861060"/>
          </a:xfrm>
        </p:grpSpPr>
        <p:sp>
          <p:nvSpPr>
            <p:cNvPr id="5" name="Rectangle1"/>
            <p:cNvSpPr/>
            <p:nvPr/>
          </p:nvSpPr>
          <p:spPr bwMode="auto">
            <a:xfrm>
              <a:off x="932815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" name="Line4"/>
            <p:cNvSpPr/>
            <p:nvPr/>
          </p:nvSpPr>
          <p:spPr bwMode="auto">
            <a:xfrm>
              <a:off x="1864995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112402362" name="Rectangle2"/>
          <p:cNvSpPr/>
          <p:nvPr/>
        </p:nvSpPr>
        <p:spPr bwMode="auto">
          <a:xfrm>
            <a:off x="3822065" y="3903980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6031066" name="Line2"/>
          <p:cNvSpPr/>
          <p:nvPr/>
        </p:nvSpPr>
        <p:spPr bwMode="auto">
          <a:xfrm>
            <a:off x="4754245" y="3903980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692875038" name="Group2"/>
          <p:cNvGrpSpPr/>
          <p:nvPr/>
        </p:nvGrpSpPr>
        <p:grpSpPr bwMode="auto">
          <a:xfrm>
            <a:off x="6692900" y="3903980"/>
            <a:ext cx="2009140" cy="861060"/>
            <a:chOff x="6692900" y="3903980"/>
            <a:chExt cx="2009140" cy="861060"/>
          </a:xfrm>
        </p:grpSpPr>
        <p:sp>
          <p:nvSpPr>
            <p:cNvPr id="10" name="Rectangle4"/>
            <p:cNvSpPr/>
            <p:nvPr/>
          </p:nvSpPr>
          <p:spPr bwMode="auto">
            <a:xfrm>
              <a:off x="6692900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Line1"/>
            <p:cNvSpPr/>
            <p:nvPr/>
          </p:nvSpPr>
          <p:spPr bwMode="auto">
            <a:xfrm>
              <a:off x="7625080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015840211" name="Rectangle3"/>
          <p:cNvSpPr/>
          <p:nvPr/>
        </p:nvSpPr>
        <p:spPr bwMode="auto">
          <a:xfrm>
            <a:off x="9549130" y="3927475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4765451" name="Line3"/>
          <p:cNvSpPr/>
          <p:nvPr/>
        </p:nvSpPr>
        <p:spPr bwMode="auto">
          <a:xfrm>
            <a:off x="10598785" y="3924935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0980912" name="Line5"/>
          <p:cNvSpPr/>
          <p:nvPr/>
        </p:nvSpPr>
        <p:spPr bwMode="auto">
          <a:xfrm flipH="1" flipV="1">
            <a:off x="2439670" y="4334510"/>
            <a:ext cx="1435100" cy="2286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6515180" name="Line6"/>
          <p:cNvSpPr/>
          <p:nvPr/>
        </p:nvSpPr>
        <p:spPr bwMode="auto">
          <a:xfrm flipH="1">
            <a:off x="5238115" y="4333875"/>
            <a:ext cx="1506855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113947" name="Line7"/>
          <p:cNvSpPr/>
          <p:nvPr/>
        </p:nvSpPr>
        <p:spPr bwMode="auto">
          <a:xfrm flipH="1">
            <a:off x="8036560" y="4333875"/>
            <a:ext cx="1578610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1999188" name="Textbox1"/>
          <p:cNvSpPr txBox="1"/>
          <p:nvPr/>
        </p:nvSpPr>
        <p:spPr bwMode="auto">
          <a:xfrm>
            <a:off x="1076325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863143747" name="Textbox2"/>
          <p:cNvSpPr txBox="1"/>
          <p:nvPr/>
        </p:nvSpPr>
        <p:spPr bwMode="auto">
          <a:xfrm>
            <a:off x="6816725" y="407289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1942648611" name="Textbox3"/>
          <p:cNvSpPr txBox="1"/>
          <p:nvPr/>
        </p:nvSpPr>
        <p:spPr bwMode="auto">
          <a:xfrm>
            <a:off x="4018280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1</a:t>
            </a:r>
            <a:endParaRPr/>
          </a:p>
        </p:txBody>
      </p:sp>
      <p:sp>
        <p:nvSpPr>
          <p:cNvPr id="1709194239" name="Textbox4"/>
          <p:cNvSpPr txBox="1"/>
          <p:nvPr/>
        </p:nvSpPr>
        <p:spPr bwMode="auto">
          <a:xfrm>
            <a:off x="9758680" y="4144645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5</a:t>
            </a:r>
            <a:endParaRPr/>
          </a:p>
        </p:txBody>
      </p:sp>
      <p:sp>
        <p:nvSpPr>
          <p:cNvPr id="1440140445" name="Line8"/>
          <p:cNvSpPr/>
          <p:nvPr/>
        </p:nvSpPr>
        <p:spPr bwMode="auto">
          <a:xfrm>
            <a:off x="10579735" y="3935730"/>
            <a:ext cx="1004570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5250106" name="Line9"/>
          <p:cNvSpPr/>
          <p:nvPr/>
        </p:nvSpPr>
        <p:spPr bwMode="auto">
          <a:xfrm>
            <a:off x="1506220" y="4765040"/>
            <a:ext cx="1270" cy="932815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5792648" name="Textbox5"/>
          <p:cNvSpPr txBox="1"/>
          <p:nvPr/>
        </p:nvSpPr>
        <p:spPr bwMode="auto">
          <a:xfrm>
            <a:off x="967105" y="5631179"/>
            <a:ext cx="1079500" cy="5353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top</a:t>
            </a:r>
            <a:endParaRPr/>
          </a:p>
        </p:txBody>
      </p:sp>
      <p:sp>
        <p:nvSpPr>
          <p:cNvPr id="1345839178" name="Rectangle6"/>
          <p:cNvSpPr/>
          <p:nvPr/>
        </p:nvSpPr>
        <p:spPr bwMode="auto">
          <a:xfrm>
            <a:off x="631190" y="1571625"/>
            <a:ext cx="10868660" cy="1990090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/>
              <a:t>We push/pop the head of the linked list. What happens if we wanted to push/pop from the tail? If the arrows were reverse?</a:t>
            </a:r>
            <a:endParaRPr/>
          </a:p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/>
              <a:t>	- Can you push? </a:t>
            </a:r>
            <a:endParaRPr/>
          </a:p>
          <a:p>
            <a:pPr defTabSz="449579">
              <a:defRPr sz="3200" cap="none">
                <a:latin typeface="Calibri"/>
                <a:ea typeface="Calibri"/>
                <a:cs typeface="Calibri"/>
              </a:defRPr>
            </a:pPr>
            <a:r>
              <a:rPr/>
              <a:t>	- Can you pop?</a:t>
            </a:r>
            <a:endParaRPr/>
          </a:p>
        </p:txBody>
      </p:sp>
      <p:sp>
        <p:nvSpPr>
          <p:cNvPr id="601762314" name="Textbox6"/>
          <p:cNvSpPr txBox="1"/>
          <p:nvPr/>
        </p:nvSpPr>
        <p:spPr bwMode="auto">
          <a:xfrm flipH="0" flipV="0">
            <a:off x="2931226" y="5239384"/>
            <a:ext cx="7745801" cy="94487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Push is possible, pop becomes tough. </a:t>
            </a:r>
            <a:endParaRPr/>
          </a:p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Not possible to keep O(1) criteria.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83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4583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76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1762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601762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839178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994329" name="SlideTitle1"/>
          <p:cNvSpPr>
            <a:spLocks noChangeArrowheads="1" noGrp="1"/>
          </p:cNvSpPr>
          <p:nvPr>
            <p:ph type="title"/>
          </p:nvPr>
        </p:nvSpPr>
        <p:spPr bwMode="auto"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Push to Stack</a:t>
            </a:r>
            <a:endParaRPr/>
          </a:p>
        </p:txBody>
      </p:sp>
      <p:grpSp>
        <p:nvGrpSpPr>
          <p:cNvPr id="1852292339" name="Group1"/>
          <p:cNvGrpSpPr/>
          <p:nvPr/>
        </p:nvGrpSpPr>
        <p:grpSpPr bwMode="auto">
          <a:xfrm>
            <a:off x="932815" y="3903980"/>
            <a:ext cx="2009140" cy="861060"/>
            <a:chOff x="932815" y="3903980"/>
            <a:chExt cx="2009140" cy="861060"/>
          </a:xfrm>
        </p:grpSpPr>
        <p:sp>
          <p:nvSpPr>
            <p:cNvPr id="5" name="Rectangle1"/>
            <p:cNvSpPr/>
            <p:nvPr/>
          </p:nvSpPr>
          <p:spPr bwMode="auto">
            <a:xfrm>
              <a:off x="932815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" name="Line4"/>
            <p:cNvSpPr/>
            <p:nvPr/>
          </p:nvSpPr>
          <p:spPr bwMode="auto">
            <a:xfrm>
              <a:off x="1864995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621146455" name="Rectangle2"/>
          <p:cNvSpPr/>
          <p:nvPr/>
        </p:nvSpPr>
        <p:spPr bwMode="auto">
          <a:xfrm>
            <a:off x="3822065" y="3903980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6752058" name="Line2"/>
          <p:cNvSpPr/>
          <p:nvPr/>
        </p:nvSpPr>
        <p:spPr bwMode="auto">
          <a:xfrm>
            <a:off x="4754245" y="3903980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465551130" name="Group2"/>
          <p:cNvGrpSpPr/>
          <p:nvPr/>
        </p:nvGrpSpPr>
        <p:grpSpPr bwMode="auto">
          <a:xfrm>
            <a:off x="6692900" y="3903980"/>
            <a:ext cx="2009140" cy="861060"/>
            <a:chOff x="6692900" y="3903980"/>
            <a:chExt cx="2009140" cy="861060"/>
          </a:xfrm>
        </p:grpSpPr>
        <p:sp>
          <p:nvSpPr>
            <p:cNvPr id="10" name="Rectangle4"/>
            <p:cNvSpPr/>
            <p:nvPr/>
          </p:nvSpPr>
          <p:spPr bwMode="auto">
            <a:xfrm>
              <a:off x="6692900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Line1"/>
            <p:cNvSpPr/>
            <p:nvPr/>
          </p:nvSpPr>
          <p:spPr bwMode="auto">
            <a:xfrm>
              <a:off x="7625080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08830138" name="Rectangle3"/>
          <p:cNvSpPr/>
          <p:nvPr/>
        </p:nvSpPr>
        <p:spPr bwMode="auto">
          <a:xfrm>
            <a:off x="9549130" y="3927475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0757763" name="Line3"/>
          <p:cNvSpPr/>
          <p:nvPr/>
        </p:nvSpPr>
        <p:spPr bwMode="auto">
          <a:xfrm>
            <a:off x="10598785" y="3924935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2361449" name="Line5"/>
          <p:cNvSpPr/>
          <p:nvPr/>
        </p:nvSpPr>
        <p:spPr bwMode="auto">
          <a:xfrm flipH="1" flipV="1">
            <a:off x="2439670" y="4334510"/>
            <a:ext cx="1435100" cy="2286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1164433" name="Line6"/>
          <p:cNvSpPr/>
          <p:nvPr/>
        </p:nvSpPr>
        <p:spPr bwMode="auto">
          <a:xfrm flipH="1">
            <a:off x="5238115" y="4333875"/>
            <a:ext cx="1506855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4237824" name="Line7"/>
          <p:cNvSpPr/>
          <p:nvPr/>
        </p:nvSpPr>
        <p:spPr bwMode="auto">
          <a:xfrm flipH="1">
            <a:off x="8036560" y="4333875"/>
            <a:ext cx="1578610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2522568" name="Textbox1"/>
          <p:cNvSpPr txBox="1"/>
          <p:nvPr/>
        </p:nvSpPr>
        <p:spPr bwMode="auto">
          <a:xfrm>
            <a:off x="1076325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850967681" name="Textbox2"/>
          <p:cNvSpPr txBox="1"/>
          <p:nvPr/>
        </p:nvSpPr>
        <p:spPr bwMode="auto">
          <a:xfrm>
            <a:off x="6816725" y="407289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1915488667" name="Textbox3"/>
          <p:cNvSpPr txBox="1"/>
          <p:nvPr/>
        </p:nvSpPr>
        <p:spPr bwMode="auto">
          <a:xfrm>
            <a:off x="4018280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1</a:t>
            </a:r>
            <a:endParaRPr/>
          </a:p>
        </p:txBody>
      </p:sp>
      <p:sp>
        <p:nvSpPr>
          <p:cNvPr id="725718005" name="Textbox4"/>
          <p:cNvSpPr txBox="1"/>
          <p:nvPr/>
        </p:nvSpPr>
        <p:spPr bwMode="auto">
          <a:xfrm>
            <a:off x="9758680" y="4144645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5</a:t>
            </a:r>
            <a:endParaRPr/>
          </a:p>
        </p:txBody>
      </p:sp>
      <p:sp>
        <p:nvSpPr>
          <p:cNvPr id="1207954483" name="Line8"/>
          <p:cNvSpPr/>
          <p:nvPr/>
        </p:nvSpPr>
        <p:spPr bwMode="auto">
          <a:xfrm>
            <a:off x="10579735" y="3935730"/>
            <a:ext cx="1004570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3659186" name="Line9"/>
          <p:cNvSpPr/>
          <p:nvPr/>
        </p:nvSpPr>
        <p:spPr bwMode="auto">
          <a:xfrm>
            <a:off x="1506220" y="4765040"/>
            <a:ext cx="1270" cy="932815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706200" name="Textbox5"/>
          <p:cNvSpPr txBox="1"/>
          <p:nvPr/>
        </p:nvSpPr>
        <p:spPr bwMode="auto">
          <a:xfrm>
            <a:off x="493395" y="5669280"/>
            <a:ext cx="21971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newNode</a:t>
            </a:r>
            <a:endParaRPr/>
          </a:p>
        </p:txBody>
      </p:sp>
      <p:sp>
        <p:nvSpPr>
          <p:cNvPr id="1582761156" name="Line10"/>
          <p:cNvSpPr/>
          <p:nvPr/>
        </p:nvSpPr>
        <p:spPr bwMode="auto">
          <a:xfrm>
            <a:off x="2529839" y="4773929"/>
            <a:ext cx="1761490" cy="9283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60220" name="Line11"/>
          <p:cNvSpPr/>
          <p:nvPr/>
        </p:nvSpPr>
        <p:spPr bwMode="auto">
          <a:xfrm>
            <a:off x="4305300" y="4765040"/>
            <a:ext cx="1270" cy="932815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1524604" name="Textbox7"/>
          <p:cNvSpPr txBox="1"/>
          <p:nvPr/>
        </p:nvSpPr>
        <p:spPr bwMode="auto">
          <a:xfrm>
            <a:off x="3721735" y="5612765"/>
            <a:ext cx="1071245" cy="5975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top</a:t>
            </a:r>
            <a:endParaRPr/>
          </a:p>
        </p:txBody>
      </p:sp>
      <p:sp>
        <p:nvSpPr>
          <p:cNvPr id="407447330" name="SlideText2"/>
          <p:cNvSpPr/>
          <p:nvPr/>
        </p:nvSpPr>
        <p:spPr bwMode="auto">
          <a:xfrm flipH="0" flipV="0">
            <a:off x="606424" y="2047874"/>
            <a:ext cx="7177159" cy="568324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>
                <a:latin typeface="Verdana"/>
                <a:ea typeface="Verdana"/>
                <a:cs typeface="Verdana"/>
              </a:rPr>
              <a:t>newNode.setNext(top);</a:t>
            </a:r>
            <a:endParaRPr/>
          </a:p>
        </p:txBody>
      </p:sp>
      <p:sp>
        <p:nvSpPr>
          <p:cNvPr id="1528549036" name="Rectangle5"/>
          <p:cNvSpPr/>
          <p:nvPr/>
        </p:nvSpPr>
        <p:spPr bwMode="auto">
          <a:xfrm flipH="0" flipV="0">
            <a:off x="606424" y="2709233"/>
            <a:ext cx="7177159" cy="568324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>
                <a:latin typeface="Verdana"/>
                <a:ea typeface="Verdana"/>
                <a:cs typeface="Verdana"/>
              </a:rPr>
              <a:t>top = newNode;</a:t>
            </a:r>
            <a:endParaRPr/>
          </a:p>
        </p:txBody>
      </p:sp>
      <p:sp>
        <p:nvSpPr>
          <p:cNvPr id="1118953482" name="Textbox6"/>
          <p:cNvSpPr txBox="1"/>
          <p:nvPr/>
        </p:nvSpPr>
        <p:spPr bwMode="auto">
          <a:xfrm flipH="0" flipV="0">
            <a:off x="5285518" y="5087619"/>
            <a:ext cx="6334980" cy="9508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400" cap="none">
                <a:latin typeface="Calibri"/>
                <a:ea typeface="Calibri"/>
                <a:cs typeface="Calibri"/>
              </a:defRPr>
            </a:pPr>
            <a:r>
              <a:rPr/>
              <a:t>What does this operation look like, remembering the Linked List operations we have done?</a:t>
            </a:r>
            <a:endParaRPr/>
          </a:p>
        </p:txBody>
      </p:sp>
      <p:sp>
        <p:nvSpPr>
          <p:cNvPr id="1908703728" name="Rectangle6"/>
          <p:cNvSpPr/>
          <p:nvPr/>
        </p:nvSpPr>
        <p:spPr bwMode="auto">
          <a:xfrm flipH="0" flipV="0">
            <a:off x="603249" y="1504949"/>
            <a:ext cx="7180334" cy="577849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>
                <a:latin typeface="Verdana"/>
                <a:ea typeface="Verdana"/>
                <a:cs typeface="Verdana"/>
              </a:rPr>
              <a:t>Node newNode = new Node(3);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70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0870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3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223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44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744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42460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6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76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8276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54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2854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95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1895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2361449" grpId="0" animBg="1" advAuto="0"/>
      <p:bldP spid="1582761156" grpId="0" animBg="1" advAuto="0"/>
      <p:bldP spid="142460220" grpId="0" animBg="1" advAuto="0"/>
      <p:bldP spid="407447330" grpId="0" animBg="1" advAuto="0"/>
      <p:bldP spid="1528549036" grpId="0" animBg="1" advAuto="0"/>
      <p:bldP spid="1118953482" grpId="0" animBg="1" advAuto="0"/>
      <p:bldP spid="1908703728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917073" name="SlideTitle1"/>
          <p:cNvSpPr>
            <a:spLocks noChangeArrowheads="1" noGrp="1"/>
          </p:cNvSpPr>
          <p:nvPr>
            <p:ph type="title"/>
          </p:nvPr>
        </p:nvSpPr>
        <p:spPr bwMode="auto">
          <a:xfrm flipH="0" flipV="0">
            <a:off x="609599" y="274320"/>
            <a:ext cx="10972800" cy="678179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/>
          </a:bodyPr>
          <a:lstStyle/>
          <a:p>
            <a:pPr>
              <a:defRPr/>
            </a:pPr>
            <a:r>
              <a:rPr/>
              <a:t>Pop from Stack</a:t>
            </a:r>
            <a:endParaRPr/>
          </a:p>
        </p:txBody>
      </p:sp>
      <p:grpSp>
        <p:nvGrpSpPr>
          <p:cNvPr id="720991156" name="Group1"/>
          <p:cNvGrpSpPr/>
          <p:nvPr/>
        </p:nvGrpSpPr>
        <p:grpSpPr bwMode="auto">
          <a:xfrm>
            <a:off x="932815" y="3903980"/>
            <a:ext cx="2009140" cy="861060"/>
            <a:chOff x="932815" y="3903980"/>
            <a:chExt cx="2009140" cy="861060"/>
          </a:xfrm>
        </p:grpSpPr>
        <p:sp>
          <p:nvSpPr>
            <p:cNvPr id="5" name="Rectangle1"/>
            <p:cNvSpPr/>
            <p:nvPr/>
          </p:nvSpPr>
          <p:spPr bwMode="auto">
            <a:xfrm>
              <a:off x="932815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" name="Line4"/>
            <p:cNvSpPr/>
            <p:nvPr/>
          </p:nvSpPr>
          <p:spPr bwMode="auto">
            <a:xfrm>
              <a:off x="1864995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924824815" name="Rectangle2"/>
          <p:cNvSpPr/>
          <p:nvPr/>
        </p:nvSpPr>
        <p:spPr bwMode="auto">
          <a:xfrm>
            <a:off x="3822065" y="3903980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221467" name="Line2"/>
          <p:cNvSpPr/>
          <p:nvPr/>
        </p:nvSpPr>
        <p:spPr bwMode="auto">
          <a:xfrm>
            <a:off x="4754245" y="3903980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918613593" name="Group2"/>
          <p:cNvGrpSpPr/>
          <p:nvPr/>
        </p:nvGrpSpPr>
        <p:grpSpPr bwMode="auto">
          <a:xfrm>
            <a:off x="6692900" y="3903980"/>
            <a:ext cx="2009140" cy="861060"/>
            <a:chOff x="6692900" y="3903980"/>
            <a:chExt cx="2009140" cy="861060"/>
          </a:xfrm>
        </p:grpSpPr>
        <p:sp>
          <p:nvSpPr>
            <p:cNvPr id="10" name="Rectangle4"/>
            <p:cNvSpPr/>
            <p:nvPr/>
          </p:nvSpPr>
          <p:spPr bwMode="auto">
            <a:xfrm>
              <a:off x="6692900" y="3903980"/>
              <a:ext cx="2009140" cy="8610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Line1"/>
            <p:cNvSpPr/>
            <p:nvPr/>
          </p:nvSpPr>
          <p:spPr bwMode="auto">
            <a:xfrm>
              <a:off x="7625080" y="3903980"/>
              <a:ext cx="635" cy="86106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headEnd type="none"/>
              <a:tailEnd type="none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850972159" name="Rectangle3"/>
          <p:cNvSpPr/>
          <p:nvPr/>
        </p:nvSpPr>
        <p:spPr bwMode="auto">
          <a:xfrm>
            <a:off x="9549130" y="3927475"/>
            <a:ext cx="2009140" cy="8610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8965147" name="Line3"/>
          <p:cNvSpPr/>
          <p:nvPr/>
        </p:nvSpPr>
        <p:spPr bwMode="auto">
          <a:xfrm>
            <a:off x="10598785" y="3924935"/>
            <a:ext cx="635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3931614" name="Line5"/>
          <p:cNvSpPr/>
          <p:nvPr/>
        </p:nvSpPr>
        <p:spPr bwMode="auto">
          <a:xfrm flipH="1" flipV="1">
            <a:off x="2439670" y="4334510"/>
            <a:ext cx="1435100" cy="2286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9847931" name="Line6"/>
          <p:cNvSpPr/>
          <p:nvPr/>
        </p:nvSpPr>
        <p:spPr bwMode="auto">
          <a:xfrm flipH="1">
            <a:off x="5238115" y="4333875"/>
            <a:ext cx="1506855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3027517" name="Line7"/>
          <p:cNvSpPr/>
          <p:nvPr/>
        </p:nvSpPr>
        <p:spPr bwMode="auto">
          <a:xfrm flipH="1">
            <a:off x="8036560" y="4333875"/>
            <a:ext cx="1578610" cy="127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2259224" name="Textbox1"/>
          <p:cNvSpPr txBox="1"/>
          <p:nvPr/>
        </p:nvSpPr>
        <p:spPr bwMode="auto">
          <a:xfrm>
            <a:off x="1076325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13109566" name="Textbox2"/>
          <p:cNvSpPr txBox="1"/>
          <p:nvPr/>
        </p:nvSpPr>
        <p:spPr bwMode="auto">
          <a:xfrm>
            <a:off x="6816725" y="407289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1005850340" name="Textbox3"/>
          <p:cNvSpPr txBox="1"/>
          <p:nvPr/>
        </p:nvSpPr>
        <p:spPr bwMode="auto">
          <a:xfrm>
            <a:off x="4018280" y="4032250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1</a:t>
            </a:r>
            <a:endParaRPr/>
          </a:p>
        </p:txBody>
      </p:sp>
      <p:sp>
        <p:nvSpPr>
          <p:cNvPr id="582059045" name="Textbox4"/>
          <p:cNvSpPr txBox="1"/>
          <p:nvPr/>
        </p:nvSpPr>
        <p:spPr bwMode="auto">
          <a:xfrm>
            <a:off x="9758680" y="4144645"/>
            <a:ext cx="57404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5</a:t>
            </a:r>
            <a:endParaRPr/>
          </a:p>
        </p:txBody>
      </p:sp>
      <p:sp>
        <p:nvSpPr>
          <p:cNvPr id="338164299" name="Line8"/>
          <p:cNvSpPr/>
          <p:nvPr/>
        </p:nvSpPr>
        <p:spPr bwMode="auto">
          <a:xfrm>
            <a:off x="10579735" y="3935730"/>
            <a:ext cx="1004570" cy="86106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744237" name="Line9"/>
          <p:cNvSpPr/>
          <p:nvPr/>
        </p:nvSpPr>
        <p:spPr bwMode="auto">
          <a:xfrm flipH="0" flipV="0">
            <a:off x="1901824" y="4765039"/>
            <a:ext cx="462914" cy="932814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252075" name="Textbox5"/>
          <p:cNvSpPr txBox="1"/>
          <p:nvPr/>
        </p:nvSpPr>
        <p:spPr bwMode="auto">
          <a:xfrm flipH="0" flipV="0">
            <a:off x="250824" y="5633701"/>
            <a:ext cx="1650999" cy="61590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3000" cap="none"/>
            </a:pPr>
            <a:r>
              <a:rPr/>
              <a:t>topNode</a:t>
            </a:r>
            <a:endParaRPr/>
          </a:p>
        </p:txBody>
      </p:sp>
      <p:sp>
        <p:nvSpPr>
          <p:cNvPr id="2963715" name="Line10"/>
          <p:cNvSpPr/>
          <p:nvPr/>
        </p:nvSpPr>
        <p:spPr bwMode="auto">
          <a:xfrm flipH="1" flipV="0">
            <a:off x="2638499" y="4783455"/>
            <a:ext cx="1564564" cy="956944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6163085" name="SlideText2"/>
          <p:cNvSpPr/>
          <p:nvPr/>
        </p:nvSpPr>
        <p:spPr bwMode="auto">
          <a:xfrm flipH="0" flipV="0">
            <a:off x="923924" y="2365374"/>
            <a:ext cx="9737254" cy="568324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>
                <a:latin typeface="Verdana"/>
                <a:ea typeface="Verdana"/>
                <a:cs typeface="Verdana"/>
              </a:rPr>
              <a:t>top = top.getNext(); // UPDATE</a:t>
            </a:r>
            <a:endParaRPr/>
          </a:p>
        </p:txBody>
      </p:sp>
      <p:sp>
        <p:nvSpPr>
          <p:cNvPr id="482266265" name="Rectangle5"/>
          <p:cNvSpPr/>
          <p:nvPr/>
        </p:nvSpPr>
        <p:spPr bwMode="auto">
          <a:xfrm flipH="0" flipV="0">
            <a:off x="845570" y="2958153"/>
            <a:ext cx="9753848" cy="575944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>
                <a:latin typeface="Verdana"/>
                <a:ea typeface="Verdana"/>
                <a:cs typeface="Verdana"/>
              </a:rPr>
              <a:t>topNode.setNext(null); //optional</a:t>
            </a:r>
            <a:endParaRPr/>
          </a:p>
        </p:txBody>
      </p:sp>
      <p:sp>
        <p:nvSpPr>
          <p:cNvPr id="2046896686" name="Textbox6"/>
          <p:cNvSpPr txBox="1"/>
          <p:nvPr/>
        </p:nvSpPr>
        <p:spPr bwMode="auto">
          <a:xfrm>
            <a:off x="7221855" y="5117465"/>
            <a:ext cx="4469130" cy="1188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400" cap="none">
                <a:latin typeface="Calibri"/>
                <a:ea typeface="Calibri"/>
                <a:cs typeface="Calibri"/>
              </a:defRPr>
            </a:pPr>
            <a:r>
              <a:rPr/>
              <a:t>What does this operation look like, remembering the Linked List operations we have done?</a:t>
            </a:r>
            <a:endParaRPr/>
          </a:p>
        </p:txBody>
      </p:sp>
      <p:sp>
        <p:nvSpPr>
          <p:cNvPr id="1150518855" name="Rectangle6"/>
          <p:cNvSpPr/>
          <p:nvPr/>
        </p:nvSpPr>
        <p:spPr bwMode="auto">
          <a:xfrm flipH="0" flipV="0">
            <a:off x="920749" y="1732591"/>
            <a:ext cx="9740428" cy="542924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 defTabSz="449580">
              <a:defRPr sz="3200" cap="none">
                <a:latin typeface="Calibri"/>
                <a:ea typeface="Calibri"/>
                <a:cs typeface="Calibri"/>
              </a:defRPr>
            </a:pPr>
            <a:r>
              <a:rPr>
                <a:latin typeface="Verdana"/>
                <a:ea typeface="Verdana"/>
                <a:cs typeface="Verdana"/>
              </a:rPr>
              <a:t>returnVal = top.getItem; // record the data </a:t>
            </a:r>
            <a:endParaRPr/>
          </a:p>
        </p:txBody>
      </p:sp>
      <p:sp>
        <p:nvSpPr>
          <p:cNvPr id="1771356639" name="Textbox5"/>
          <p:cNvSpPr txBox="1"/>
          <p:nvPr/>
        </p:nvSpPr>
        <p:spPr bwMode="auto">
          <a:xfrm flipH="0" flipV="0">
            <a:off x="4592319" y="5958516"/>
            <a:ext cx="1947544" cy="5499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8" anchor="t"/>
          <a:lstStyle/>
          <a:p>
            <a:pPr>
              <a:defRPr sz="3000" cap="none"/>
            </a:pPr>
            <a:r>
              <a:rPr/>
              <a:t>returnVal</a:t>
            </a:r>
            <a:r>
              <a:rPr/>
              <a:t>:</a:t>
            </a:r>
            <a:endParaRPr/>
          </a:p>
        </p:txBody>
      </p:sp>
      <p:sp>
        <p:nvSpPr>
          <p:cNvPr id="1478840775" name="Textbox5"/>
          <p:cNvSpPr txBox="1"/>
          <p:nvPr/>
        </p:nvSpPr>
        <p:spPr bwMode="auto">
          <a:xfrm flipH="0" flipV="0">
            <a:off x="6424246" y="5969275"/>
            <a:ext cx="406837" cy="5499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8" anchor="t"/>
          <a:lstStyle/>
          <a:p>
            <a:pPr>
              <a:defRPr sz="3000" cap="none"/>
            </a:pPr>
            <a:r>
              <a:rPr/>
              <a:t>3</a:t>
            </a:r>
            <a:endParaRPr/>
          </a:p>
        </p:txBody>
      </p:sp>
      <p:sp>
        <p:nvSpPr>
          <p:cNvPr id="1640991715" name="Textbox5"/>
          <p:cNvSpPr txBox="1"/>
          <p:nvPr/>
        </p:nvSpPr>
        <p:spPr bwMode="auto">
          <a:xfrm>
            <a:off x="1968182" y="5633701"/>
            <a:ext cx="942975" cy="5499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8" anchor="t"/>
          <a:lstStyle/>
          <a:p>
            <a:pPr>
              <a:defRPr sz="3000" cap="none"/>
            </a:pPr>
            <a:r>
              <a:rPr/>
              <a:t>top</a:t>
            </a:r>
            <a:endParaRPr/>
          </a:p>
        </p:txBody>
      </p:sp>
      <p:sp>
        <p:nvSpPr>
          <p:cNvPr id="1937663795" name="Line9"/>
          <p:cNvSpPr/>
          <p:nvPr/>
        </p:nvSpPr>
        <p:spPr bwMode="auto">
          <a:xfrm flipH="1" flipV="0">
            <a:off x="1183639" y="4796789"/>
            <a:ext cx="718184" cy="915034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headEnd type="triangle" w="lg" len="lg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4237950" name="Rectangle6"/>
          <p:cNvSpPr/>
          <p:nvPr/>
        </p:nvSpPr>
        <p:spPr bwMode="auto">
          <a:xfrm flipH="0" flipV="0">
            <a:off x="914400" y="1181099"/>
            <a:ext cx="9685019" cy="469899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spcCol="215898" anchor="t"/>
          <a:lstStyle/>
          <a:p>
            <a:pPr defTabSz="449579">
              <a:defRPr sz="3200" cap="none">
                <a:latin typeface="Calibri"/>
                <a:ea typeface="Calibri"/>
                <a:cs typeface="Calibri"/>
              </a:defRPr>
            </a:pPr>
            <a:r>
              <a:rPr>
                <a:latin typeface="Verdana"/>
                <a:ea typeface="Verdana"/>
                <a:cs typeface="Verdana"/>
              </a:rPr>
              <a:t>topNode = top; // topnode is what top shows</a:t>
            </a:r>
            <a:endParaRPr/>
          </a:p>
        </p:txBody>
      </p:sp>
      <p:sp>
        <p:nvSpPr>
          <p:cNvPr id="1445550906" name="Line8"/>
          <p:cNvSpPr/>
          <p:nvPr/>
        </p:nvSpPr>
        <p:spPr bwMode="auto">
          <a:xfrm flipH="0" flipV="0">
            <a:off x="1862454" y="3904614"/>
            <a:ext cx="1048702" cy="861059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23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423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84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7884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51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5051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09744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974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96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16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7616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6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8226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539316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93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55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4555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89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" dur="500"/>
                                        <p:tgtEl>
                                          <p:spTgt spid="204689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3715" grpId="0" animBg="1" advAuto="0"/>
      <p:bldP spid="1276163085" grpId="0" animBg="1" advAuto="0"/>
      <p:bldP spid="482266265" grpId="0" animBg="1" advAuto="0"/>
      <p:bldP spid="2046896686" grpId="0" animBg="1" advAuto="0"/>
      <p:bldP spid="1150518855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968633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Push to Stack</a:t>
            </a:r>
            <a:endParaRPr/>
          </a:p>
        </p:txBody>
      </p:sp>
      <p:graphicFrame>
        <p:nvGraphicFramePr>
          <p:cNvPr id="1621117687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2740660" y="3846830"/>
          <a:ext cx="4949190" cy="802640"/>
        </p:xfrm>
        <a:graphic>
          <a:graphicData uri="http://schemas.openxmlformats.org/drawingml/2006/table">
            <a:tbl>
              <a:tblPr firstRow="0" firstCol="0" lastRow="0" lastCol="0" bandRow="0" bandCol="0">
                <a:solidFill>
                  <a:schemeClr val="bg1"/>
                </a:solidFill>
              </a:tblPr>
              <a:tblGrid>
                <a:gridCol w="824865"/>
                <a:gridCol w="824865"/>
                <a:gridCol w="824865"/>
                <a:gridCol w="824865"/>
                <a:gridCol w="824865"/>
                <a:gridCol w="824865"/>
              </a:tblGrid>
              <a:tr h="802640"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4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7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2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4185097" name="Textbox1"/>
          <p:cNvSpPr txBox="1"/>
          <p:nvPr/>
        </p:nvSpPr>
        <p:spPr bwMode="auto">
          <a:xfrm flipH="0" flipV="0">
            <a:off x="637539" y="1635759"/>
            <a:ext cx="5458458" cy="5181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top = 5;//size of the stack</a:t>
            </a:r>
            <a:endParaRPr/>
          </a:p>
        </p:txBody>
      </p:sp>
      <p:sp>
        <p:nvSpPr>
          <p:cNvPr id="13113190" name="Textbox2"/>
          <p:cNvSpPr txBox="1"/>
          <p:nvPr/>
        </p:nvSpPr>
        <p:spPr bwMode="auto">
          <a:xfrm flipH="0" flipV="0">
            <a:off x="618489" y="2270124"/>
            <a:ext cx="4599939" cy="6064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stackArr[top+1] = 9;</a:t>
            </a:r>
            <a:endParaRPr/>
          </a:p>
        </p:txBody>
      </p:sp>
      <p:sp>
        <p:nvSpPr>
          <p:cNvPr id="1328454028" name="Textbox3"/>
          <p:cNvSpPr txBox="1"/>
          <p:nvPr/>
        </p:nvSpPr>
        <p:spPr bwMode="auto">
          <a:xfrm flipH="0" flipV="0">
            <a:off x="637539" y="2876549"/>
            <a:ext cx="4342459" cy="5181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top = top+1;</a:t>
            </a:r>
            <a:endParaRPr/>
          </a:p>
        </p:txBody>
      </p:sp>
      <p:sp>
        <p:nvSpPr>
          <p:cNvPr id="951459684" name="Textbox5"/>
          <p:cNvSpPr txBox="1"/>
          <p:nvPr/>
        </p:nvSpPr>
        <p:spPr bwMode="auto">
          <a:xfrm>
            <a:off x="7189470" y="1768475"/>
            <a:ext cx="4488180" cy="1371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What happens if we filled all the positions of our starting array (stackArr)?</a:t>
            </a:r>
            <a:endParaRPr/>
          </a:p>
        </p:txBody>
      </p:sp>
      <p:sp>
        <p:nvSpPr>
          <p:cNvPr id="755768857" name="Textbox4"/>
          <p:cNvSpPr txBox="1"/>
          <p:nvPr/>
        </p:nvSpPr>
        <p:spPr bwMode="auto">
          <a:xfrm>
            <a:off x="6999605" y="3821430"/>
            <a:ext cx="455295" cy="6832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9</a:t>
            </a:r>
            <a:endParaRPr/>
          </a:p>
        </p:txBody>
      </p:sp>
      <p:sp>
        <p:nvSpPr>
          <p:cNvPr id="867868334" name="Textbox6"/>
          <p:cNvSpPr txBox="1"/>
          <p:nvPr/>
        </p:nvSpPr>
        <p:spPr bwMode="auto">
          <a:xfrm>
            <a:off x="6790689" y="5603874"/>
            <a:ext cx="4886960" cy="9448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How can we get away from this problem? Will runtime change?</a:t>
            </a:r>
            <a:endParaRPr/>
          </a:p>
        </p:txBody>
      </p:sp>
      <p:sp>
        <p:nvSpPr>
          <p:cNvPr id="1611996916" name=""/>
          <p:cNvSpPr txBox="1"/>
          <p:nvPr/>
        </p:nvSpPr>
        <p:spPr bwMode="auto">
          <a:xfrm rot="0" flipH="0" flipV="0">
            <a:off x="1673207" y="4655818"/>
            <a:ext cx="6328196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>
                <a:latin typeface="Calibri"/>
                <a:ea typeface="Calibri"/>
                <a:cs typeface="Calibri"/>
              </a:rPr>
              <a:t>index:        0         1         2        3        4         5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6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576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11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45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2845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86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6786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13190" grpId="0" animBg="1" advAuto="0"/>
      <p:bldP spid="1328454028" grpId="0" animBg="1" advAuto="0"/>
      <p:bldP spid="755768857" grpId="0" animBg="1" advAuto="0"/>
      <p:bldP spid="867868334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464786" name="SlideTitle1"/>
          <p:cNvSpPr>
            <a:spLocks noChangeArrowheads="1"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Pop from Stack</a:t>
            </a:r>
            <a:endParaRPr/>
          </a:p>
        </p:txBody>
      </p:sp>
      <p:graphicFrame>
        <p:nvGraphicFramePr>
          <p:cNvPr id="772660324" name="Table 2"/>
          <p:cNvGraphicFramePr>
            <a:graphicFrameLocks xmlns:a="http://schemas.openxmlformats.org/drawingml/2006/main" noGrp="1"/>
          </p:cNvGraphicFramePr>
          <p:nvPr/>
        </p:nvGraphicFramePr>
        <p:xfrm rot="0">
          <a:off x="2672080" y="3698875"/>
          <a:ext cx="4949190" cy="802640"/>
        </p:xfrm>
        <a:graphic>
          <a:graphicData uri="http://schemas.openxmlformats.org/drawingml/2006/table">
            <a:tbl>
              <a:tblPr firstRow="0" firstCol="0" lastRow="0" lastCol="0" bandRow="0" bandCol="0">
                <a:solidFill>
                  <a:schemeClr val="bg1"/>
                </a:solidFill>
              </a:tblPr>
              <a:tblGrid>
                <a:gridCol w="824865"/>
                <a:gridCol w="824865"/>
                <a:gridCol w="824865"/>
                <a:gridCol w="824865"/>
                <a:gridCol w="824865"/>
                <a:gridCol w="824865"/>
              </a:tblGrid>
              <a:tr h="802640"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4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7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3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r>
                        <a:rPr/>
                        <a:t>2</a:t>
                      </a: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>
                        <a:buNone/>
                        <a:defRPr sz="4800" cap="none"/>
                      </a:pPr>
                      <a:endParaRPr/>
                    </a:p>
                  </a:txBody>
                  <a:tcPr marL="35560" marR="35560" marT="35560" marB="35560">
                    <a:lnL w="6350" algn="ctr">
                      <a:solidFill>
                        <a:schemeClr val="tx1"/>
                      </a:solidFill>
                    </a:lnL>
                    <a:lnR w="6350" algn="ctr">
                      <a:solidFill>
                        <a:schemeClr val="tx1"/>
                      </a:solidFill>
                    </a:lnR>
                    <a:lnT w="6350" algn="ctr">
                      <a:solidFill>
                        <a:schemeClr val="tx1"/>
                      </a:solidFill>
                    </a:lnT>
                    <a:lnB w="635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65858459" name="Textbox1"/>
          <p:cNvSpPr txBox="1"/>
          <p:nvPr/>
        </p:nvSpPr>
        <p:spPr bwMode="auto">
          <a:xfrm flipH="0" flipV="0">
            <a:off x="637539" y="1635759"/>
            <a:ext cx="4254724" cy="5181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top = 6; // size is 6</a:t>
            </a:r>
            <a:endParaRPr/>
          </a:p>
        </p:txBody>
      </p:sp>
      <p:sp>
        <p:nvSpPr>
          <p:cNvPr id="809860386" name="Textbox2"/>
          <p:cNvSpPr txBox="1"/>
          <p:nvPr/>
        </p:nvSpPr>
        <p:spPr bwMode="auto">
          <a:xfrm>
            <a:off x="637540" y="2764790"/>
            <a:ext cx="5905500" cy="518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top = top - 1;</a:t>
            </a:r>
            <a:endParaRPr/>
          </a:p>
        </p:txBody>
      </p:sp>
      <p:sp>
        <p:nvSpPr>
          <p:cNvPr id="616677717" name="Textbox3"/>
          <p:cNvSpPr txBox="1"/>
          <p:nvPr/>
        </p:nvSpPr>
        <p:spPr bwMode="auto">
          <a:xfrm flipH="0" flipV="0">
            <a:off x="637539" y="2200275"/>
            <a:ext cx="6213639" cy="5181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Verdana"/>
                <a:ea typeface="Verdana"/>
                <a:cs typeface="Verdana"/>
              </a:defRPr>
            </a:pPr>
            <a:r>
              <a:rPr/>
              <a:t>returnedElem</a:t>
            </a:r>
            <a:r>
              <a:rPr/>
              <a:t> = </a:t>
            </a:r>
            <a:r>
              <a:rPr/>
              <a:t>stackArr</a:t>
            </a:r>
            <a:r>
              <a:rPr/>
              <a:t>[top-1];</a:t>
            </a:r>
            <a:endParaRPr/>
          </a:p>
        </p:txBody>
      </p:sp>
      <p:sp>
        <p:nvSpPr>
          <p:cNvPr id="1495750145" name="Textbox4"/>
          <p:cNvSpPr txBox="1"/>
          <p:nvPr/>
        </p:nvSpPr>
        <p:spPr bwMode="auto">
          <a:xfrm>
            <a:off x="6961505" y="3692525"/>
            <a:ext cx="455295" cy="6832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4800" cap="none">
                <a:latin typeface="Calibri"/>
                <a:ea typeface="Calibri"/>
                <a:cs typeface="Calibri"/>
              </a:defRPr>
            </a:pPr>
            <a:r>
              <a:rPr/>
              <a:t>9</a:t>
            </a:r>
            <a:endParaRPr/>
          </a:p>
        </p:txBody>
      </p:sp>
      <p:sp>
        <p:nvSpPr>
          <p:cNvPr id="1506344175" name="Textbox5"/>
          <p:cNvSpPr txBox="1"/>
          <p:nvPr/>
        </p:nvSpPr>
        <p:spPr bwMode="auto">
          <a:xfrm flipH="0" flipV="0">
            <a:off x="7300471" y="1616074"/>
            <a:ext cx="4739128" cy="104373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9" anchor="t"/>
          <a:lstStyle/>
          <a:p>
            <a:pPr>
              <a:defRPr sz="2800" cap="none">
                <a:latin typeface="Calibri"/>
                <a:ea typeface="Calibri"/>
                <a:cs typeface="Calibri"/>
              </a:defRPr>
            </a:pPr>
            <a:r>
              <a:rPr/>
              <a:t>We need to check if the stack is empty!</a:t>
            </a:r>
            <a:endParaRPr/>
          </a:p>
        </p:txBody>
      </p:sp>
      <p:sp>
        <p:nvSpPr>
          <p:cNvPr id="903343175" name="Textbox6"/>
          <p:cNvSpPr txBox="1"/>
          <p:nvPr/>
        </p:nvSpPr>
        <p:spPr bwMode="auto">
          <a:xfrm flipH="0" flipV="0">
            <a:off x="6593708" y="5068281"/>
            <a:ext cx="5350509" cy="15265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898" anchor="t"/>
          <a:lstStyle/>
          <a:p>
            <a:pPr>
              <a:defRPr sz="3000" cap="none">
                <a:latin typeface="Verdana"/>
                <a:ea typeface="Verdana"/>
                <a:cs typeface="Verdana"/>
              </a:defRPr>
            </a:pPr>
            <a:r>
              <a:rPr/>
              <a:t>public int peek(){</a:t>
            </a:r>
            <a:endParaRPr/>
          </a:p>
          <a:p>
            <a:pPr>
              <a:defRPr sz="3000" cap="none">
                <a:latin typeface="Verdana"/>
                <a:ea typeface="Verdana"/>
                <a:cs typeface="Verdana"/>
              </a:defRPr>
            </a:pPr>
            <a:r>
              <a:rPr/>
              <a:t>	return stackArr[top];</a:t>
            </a:r>
            <a:endParaRPr/>
          </a:p>
          <a:p>
            <a:pPr>
              <a:defRPr sz="3000" cap="none">
                <a:latin typeface="Verdana"/>
                <a:ea typeface="Verdana"/>
                <a:cs typeface="Verdana"/>
              </a:defRPr>
            </a:pPr>
            <a:r>
              <a:rPr/>
              <a:t>}</a:t>
            </a:r>
            <a:endParaRPr/>
          </a:p>
        </p:txBody>
      </p:sp>
      <p:sp>
        <p:nvSpPr>
          <p:cNvPr id="979728172" name=""/>
          <p:cNvSpPr/>
          <p:nvPr/>
        </p:nvSpPr>
        <p:spPr bwMode="auto">
          <a:xfrm rot="0" flipH="0" flipV="0">
            <a:off x="902547" y="5032075"/>
            <a:ext cx="2893443" cy="1383820"/>
          </a:xfrm>
          <a:prstGeom prst="cloudCallout">
            <a:avLst>
              <a:gd name="adj1" fmla="val -20833"/>
              <a:gd name="adj2" fmla="val 62500"/>
            </a:avLst>
          </a:prstGeom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3786640" name="Legend1"/>
          <p:cNvSpPr/>
          <p:nvPr/>
        </p:nvSpPr>
        <p:spPr bwMode="auto">
          <a:xfrm flipH="0" flipV="0">
            <a:off x="1082263" y="5068281"/>
            <a:ext cx="4121500" cy="1401528"/>
          </a:xfrm>
          <a:prstGeom prst="wedgeEllipseCallout">
            <a:avLst>
              <a:gd name="adj1" fmla="val -69186"/>
              <a:gd name="adj2" fmla="val 50000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/>
            <a:tailEnd type="none"/>
          </a:ln>
          <a:effectLst/>
        </p:spPr>
        <p:txBody>
          <a:bodyPr vert="horz" wrap="square" numCol="1" spcCol="215898" anchor="t"/>
          <a:lstStyle/>
          <a:p>
            <a:pPr algn="ctr">
              <a:defRPr sz="2800" cap="none"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entury Gothic"/>
                <a:ea typeface="Century Gothic"/>
                <a:cs typeface="Century Gothic"/>
              </a:rPr>
              <a:t>What happens to 9 when we pop?</a:t>
            </a:r>
            <a:endParaRPr/>
          </a:p>
        </p:txBody>
      </p:sp>
      <p:sp>
        <p:nvSpPr>
          <p:cNvPr id="257084876" name=""/>
          <p:cNvSpPr txBox="1"/>
          <p:nvPr/>
        </p:nvSpPr>
        <p:spPr bwMode="auto">
          <a:xfrm rot="0" flipH="0" flipV="0">
            <a:off x="1583348" y="4476101"/>
            <a:ext cx="6328196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>
                <a:latin typeface="Calibri"/>
                <a:ea typeface="Calibri"/>
                <a:cs typeface="Calibri"/>
              </a:rPr>
              <a:t>index:        0         1         2        3        4         5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86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0986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7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1667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34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0334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78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" dur="2000"/>
                                        <p:tgtEl>
                                          <p:spTgt spid="112378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860386" grpId="0" animBg="1" advAuto="0"/>
      <p:bldP spid="616677717" grpId="0" animBg="1" advAuto="0"/>
      <p:bldP spid="903343175" grpId="0" animBg="1" advAuto="0"/>
    </p:bld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">
  <a:themeElements>
    <a:clrScheme name="Presentation 1">
      <a:dk1>
        <a:srgbClr val="06498C"/>
      </a:dk1>
      <a:lt1>
        <a:srgbClr val="FFFFFF"/>
      </a:lt1>
      <a:dk2>
        <a:srgbClr val="06498C"/>
      </a:dk2>
      <a:lt2>
        <a:srgbClr val="969696"/>
      </a:lt2>
      <a:accent1>
        <a:srgbClr val="FFFFFF"/>
      </a:accent1>
      <a:accent2>
        <a:srgbClr val="8DC6FF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66CC"/>
      </a:hlink>
      <a:folHlink>
        <a:srgbClr val="00A8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4B3523"/>
        </a:dk1>
        <a:lt1>
          <a:srgbClr val="FFFFD9"/>
        </a:lt1>
        <a:dk2>
          <a:srgbClr val="4B3523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569CA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6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">
  <a:themeElements>
    <a:clrScheme name="Presentation 1">
      <a:dk1>
        <a:srgbClr val="06498C"/>
      </a:dk1>
      <a:lt1>
        <a:srgbClr val="FFFFFF"/>
      </a:lt1>
      <a:dk2>
        <a:srgbClr val="06498C"/>
      </a:dk2>
      <a:lt2>
        <a:srgbClr val="969696"/>
      </a:lt2>
      <a:accent1>
        <a:srgbClr val="FFFFFF"/>
      </a:accent1>
      <a:accent2>
        <a:srgbClr val="8DC6FF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66CC"/>
      </a:hlink>
      <a:folHlink>
        <a:srgbClr val="00A800"/>
      </a:folHlink>
    </a:clrScheme>
    <a:fontScheme name="Presentation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4B3523"/>
        </a:dk1>
        <a:lt1>
          <a:srgbClr val="FFFFD9"/>
        </a:lt1>
        <a:dk2>
          <a:srgbClr val="4B3523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569CA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6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7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8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9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0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1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2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3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4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5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6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7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8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9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0">
        <a:dk1>
          <a:srgbClr val="06498C"/>
        </a:dk1>
        <a:lt1>
          <a:srgbClr val="FFFFFF"/>
        </a:lt1>
        <a:dk2>
          <a:srgbClr val="06498C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subject/>
  <dc:creator>Salih Safa Bacanli</dc:creator>
  <cp:keywords/>
  <dc:description/>
  <cp:lastModifiedBy/>
  <cp:revision>3</cp:revision>
  <dcterms:created xsi:type="dcterms:W3CDTF">2019-09-04T15:21:20Z</dcterms:created>
  <dcterms:modified xsi:type="dcterms:W3CDTF">2026-06-09T20:45:29Z</dcterms:modified>
</cp:coreProperties>
</file>