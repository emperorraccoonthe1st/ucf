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551879" name="Header Placeholder 1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l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1682921091" name="Date Placeholder 2"/>
          <p:cNvSpPr>
            <a:spLocks noChangeArrowheads="1" noGrp="1"/>
          </p:cNvSpPr>
          <p:nvPr>
            <p:ph type="dt" idx="10"/>
          </p:nvPr>
        </p:nvSpPr>
        <p:spPr bwMode="auto">
          <a:xfrm>
            <a:off x="388493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3C3DEED5-9BD1-6818-9F85-6D4DA0CB6938}" type="datetime1">
              <a:rPr/>
              <a:t>11/10/2025</a:t>
            </a:fld>
            <a:endParaRPr/>
          </a:p>
        </p:txBody>
      </p:sp>
      <p:sp>
        <p:nvSpPr>
          <p:cNvPr id="26027709" name="Slide Image Placeholder 3"/>
          <p:cNvSpPr>
            <a:spLocks noChangeArrowheads="1"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841584882" name="Notes Placeholder 4"/>
          <p:cNvSpPr>
            <a:spLocks noChangeArrowheads="1" noGrp="1"/>
          </p:cNvSpPr>
          <p:nvPr>
            <p:ph type="body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8284158" name="Footer Placeholder 5"/>
          <p:cNvSpPr>
            <a:spLocks noChangeArrowheads="1" noGrp="1"/>
          </p:cNvSpPr>
          <p:nvPr>
            <p:ph type="ftr" sz="quarter" idx="11"/>
          </p:nvPr>
        </p:nvSpPr>
        <p:spPr bwMode="auto"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l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172628690" name="Slide Number Placeholder 6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3C3D880E-40D1-687E-9F85-B62BC6CB69E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0" hdr="0" sldNum="1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E32C15-C189-5191-036B-25F958D8AE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E5749-1DF2-AFF4-45D5-BD6A3AB371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EFC83-1BBA-6A03-D7AF-E9442B492A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397550-BC53-A50F-8596-599224A316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614073-267C-007C-95A4-C52178356C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CE217-A0FE-404C-03BB-91C542DD30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7CB8EB-D22E-D11E-36BE-69796FDF85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5C5A14-902B-D494-979A-2E323115F5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919648" name="SlideTitle1"/>
          <p:cNvSpPr>
            <a:spLocks noChangeArrowheads="1" noGrp="1"/>
          </p:cNvSpPr>
          <p:nvPr>
            <p:ph type="ctrTitle"/>
          </p:nvPr>
        </p:nvSpPr>
        <p:spPr bwMode="auto">
          <a:xfrm>
            <a:off x="914400" y="2129790"/>
            <a:ext cx="10363200" cy="147066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38255634" name="SlideSubtitle1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cap="none"/>
            </a:lvl1pPr>
            <a:lvl2pPr marL="457200" indent="0" algn="ctr">
              <a:buNone/>
              <a:defRPr cap="none"/>
            </a:lvl2pPr>
            <a:lvl3pPr marL="914400" indent="0" algn="ctr">
              <a:buNone/>
              <a:defRPr cap="none"/>
            </a:lvl3pPr>
            <a:lvl4pPr marL="1371600" indent="0" algn="ctr">
              <a:buNone/>
              <a:defRPr cap="none"/>
            </a:lvl4pPr>
            <a:lvl5pPr marL="1828800" indent="0" algn="ctr">
              <a:buNone/>
              <a:defRPr cap="none"/>
            </a:lvl5pPr>
            <a:lvl6pPr marL="2286000" indent="0" algn="ctr">
              <a:buNone/>
              <a:defRPr cap="none"/>
            </a:lvl6pPr>
            <a:lvl7pPr marL="2743200" indent="0" algn="ctr">
              <a:buNone/>
              <a:defRPr cap="none"/>
            </a:lvl7pPr>
            <a:lvl8pPr marL="3200400" indent="0" algn="ctr">
              <a:buNone/>
              <a:defRPr cap="none"/>
            </a:lvl8pPr>
            <a:lvl9pPr marL="3657600" indent="0" algn="ctr">
              <a:buNone/>
              <a:defRPr cap="none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307149560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9192-DCD1-6867-9F85-2A32DFCB697F}" type="datetime1">
              <a:rPr/>
              <a:t>11/10/2025</a:t>
            </a:fld>
            <a:endParaRPr/>
          </a:p>
        </p:txBody>
      </p:sp>
      <p:sp>
        <p:nvSpPr>
          <p:cNvPr id="460173831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37637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B3F9-B7D1-6845-9F85-4110FDCB6914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x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154266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48177069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30492962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C20D-43D1-6834-9F85-B5618CCB69E0}" type="datetime1">
              <a:rPr/>
              <a:t>11/10/2025</a:t>
            </a:fld>
            <a:endParaRPr/>
          </a:p>
        </p:txBody>
      </p:sp>
      <p:sp>
        <p:nvSpPr>
          <p:cNvPr id="1606289897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351550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B879-37D1-684E-9F85-C11BF6CB6994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528813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963295" y="4406900"/>
            <a:ext cx="10363200" cy="1362075"/>
          </a:xfrm>
        </p:spPr>
        <p:txBody>
          <a:bodyPr vert="horz" wrap="square" numCol="1" spcCol="215899" anchor="t">
            <a:prstTxWarp prst="textNoShape"/>
          </a:bodyPr>
          <a:lstStyle>
            <a:lvl1pPr algn="l">
              <a:defRPr sz="4000" b="1" cap="all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76171492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963295" y="2906395"/>
            <a:ext cx="10363200" cy="1500504"/>
          </a:xfrm>
        </p:spPr>
        <p:txBody>
          <a:bodyPr vert="horz" wrap="square" numCol="1" spcCol="215899" anchor="b">
            <a:prstTxWarp prst="textNoShape"/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57258280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860E-40D1-6870-9F85-B625C8CB69E3}" type="datetime1">
              <a:rPr/>
              <a:t>11/10/2025</a:t>
            </a:fld>
            <a:endParaRPr/>
          </a:p>
        </p:txBody>
      </p:sp>
      <p:sp>
        <p:nvSpPr>
          <p:cNvPr id="1455763948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020205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8A59-17D1-687C-9F85-E129C4CB69B4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ColTx" userDrawn="1">
  <p:cSld name="Title and two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479355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5244808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609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32910714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197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9880113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99B5-FBD1-686F-9F85-0D3AD7CB6958}" type="datetime1">
              <a:rPr/>
              <a:t>11/10/2025</a:t>
            </a:fld>
            <a:endParaRPr/>
          </a:p>
        </p:txBody>
      </p:sp>
      <p:sp>
        <p:nvSpPr>
          <p:cNvPr id="574916373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254877106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B8B4-FAD1-684E-9F85-0C1BF6CB6959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52921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5203626" name="SlideText3"/>
          <p:cNvSpPr>
            <a:spLocks noChangeArrowheads="1" noGrp="1"/>
          </p:cNvSpPr>
          <p:nvPr>
            <p:ph idx="1"/>
          </p:nvPr>
        </p:nvSpPr>
        <p:spPr bwMode="auto">
          <a:xfrm>
            <a:off x="609600" y="1534795"/>
            <a:ext cx="5386070" cy="640080"/>
          </a:xfrm>
        </p:spPr>
        <p:txBody>
          <a:bodyPr vert="horz" wrap="square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75030479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2174875"/>
            <a:ext cx="5386070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9086612" name="SlideText2"/>
          <p:cNvSpPr>
            <a:spLocks noChangeArrowheads="1" noGrp="1"/>
          </p:cNvSpPr>
          <p:nvPr>
            <p:ph idx="3"/>
          </p:nvPr>
        </p:nvSpPr>
        <p:spPr bwMode="auto">
          <a:xfrm>
            <a:off x="6195695" y="1534795"/>
            <a:ext cx="5386705" cy="640080"/>
          </a:xfrm>
        </p:spPr>
        <p:txBody>
          <a:bodyPr vert="horz" wrap="square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99843218" name="SlideText4"/>
          <p:cNvSpPr>
            <a:spLocks noChangeArrowheads="1" noGrp="1"/>
          </p:cNvSpPr>
          <p:nvPr>
            <p:ph idx="4"/>
          </p:nvPr>
        </p:nvSpPr>
        <p:spPr bwMode="auto"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716738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C3AF-E1D1-6835-9F85-17608DCB6942}" type="datetime1">
              <a:rPr/>
              <a:t>11/10/2025</a:t>
            </a:fld>
            <a:endParaRPr/>
          </a:p>
        </p:txBody>
      </p:sp>
      <p:sp>
        <p:nvSpPr>
          <p:cNvPr id="373267844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780395171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DC97-D9D1-682A-9F85-2F7F92CB697A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543067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1878125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D56A-24D1-6823-9F85-D2769BCB6987}" type="datetime1">
              <a:rPr/>
              <a:t>11/10/2025</a:t>
            </a:fld>
            <a:endParaRPr/>
          </a:p>
        </p:txBody>
      </p:sp>
      <p:sp>
        <p:nvSpPr>
          <p:cNvPr id="1066113644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791605271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E880-CED1-681E-9F85-384BA6CB696D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10190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E89C-D2D1-681E-9F85-244BA6CB6971}" type="datetime1">
              <a:rPr/>
              <a:t>11/10/2025</a:t>
            </a:fld>
            <a:endParaRPr/>
          </a:p>
        </p:txBody>
      </p:sp>
      <p:sp>
        <p:nvSpPr>
          <p:cNvPr id="1193796516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214968385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872F-61D1-6871-9F85-9724C9CB69C2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919566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3050"/>
            <a:ext cx="4011295" cy="1162050"/>
          </a:xfrm>
        </p:spPr>
        <p:txBody>
          <a:bodyPr vert="horz" wrap="square" numCol="1" spcCol="215899" anchor="b">
            <a:prstTxWarp prst="textNoShape"/>
          </a:bodyPr>
          <a:lstStyle>
            <a:lvl1pPr algn="l">
              <a:defRPr sz="2000" b="1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01211182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4766310" y="273050"/>
            <a:ext cx="6816090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7573391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42605345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9592-DCD1-6863-9F85-2A36DBCB697F}" type="datetime1">
              <a:rPr/>
              <a:t>11/10/2025</a:t>
            </a:fld>
            <a:endParaRPr/>
          </a:p>
        </p:txBody>
      </p:sp>
      <p:sp>
        <p:nvSpPr>
          <p:cNvPr id="740775721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2040670360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F37B-35D1-6805-9F85-C350BDCB6996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808649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2388870" y="4800600"/>
            <a:ext cx="7315200" cy="566420"/>
          </a:xfrm>
        </p:spPr>
        <p:txBody>
          <a:bodyPr vert="horz" wrap="square" numCol="1" spcCol="215899" anchor="b">
            <a:prstTxWarp prst="textNoShape"/>
          </a:bodyPr>
          <a:lstStyle>
            <a:lvl1pPr algn="l">
              <a:defRPr sz="2000" b="1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7972729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2388870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3707946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2388870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47272514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8636-78D1-6870-9F85-8E25C8CB69DB}" type="datetime1">
              <a:rPr/>
              <a:t>11/10/2025</a:t>
            </a:fld>
            <a:endParaRPr/>
          </a:p>
        </p:txBody>
      </p:sp>
      <p:sp>
        <p:nvSpPr>
          <p:cNvPr id="1054514996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915769683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9D33-7DD1-686B-9F85-8B3ED3CB69DE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883287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71043022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 vert="vert" wrap="square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2239215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BA68-26D1-684C-9F85-D019F4CB6985}" type="datetime1">
              <a:rPr/>
              <a:t>11/10/2025</a:t>
            </a:fld>
            <a:endParaRPr/>
          </a:p>
        </p:txBody>
      </p:sp>
      <p:sp>
        <p:nvSpPr>
          <p:cNvPr id="849423800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803293456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C97E-30D1-683F-9F85-C66A87CB6993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24769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8839200" y="274320"/>
            <a:ext cx="2743200" cy="5852160"/>
          </a:xfrm>
        </p:spPr>
        <p:txBody>
          <a:bodyPr vert="vert" wrap="square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93136500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609600" y="274320"/>
            <a:ext cx="8026400" cy="5852160"/>
          </a:xfrm>
        </p:spPr>
        <p:txBody>
          <a:bodyPr vert="vert" wrap="square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2193690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B6E1-AFD1-6840-9F85-5915F8CB690C}" type="datetime1">
              <a:rPr/>
              <a:t>11/10/2025</a:t>
            </a:fld>
            <a:endParaRPr/>
          </a:p>
        </p:txBody>
      </p:sp>
      <p:sp>
        <p:nvSpPr>
          <p:cNvPr id="1912790396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407376218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8343-0DD1-6875-9F85-FB20CDCB69AE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488396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96170028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59751002" name="DateTimeArea1"/>
          <p:cNvSpPr>
            <a:spLocks noChangeArrowheads="1" noGrp="1"/>
          </p:cNvSpPr>
          <p:nvPr>
            <p:ph type="dt" sz="quarter" idx="10"/>
          </p:nvPr>
        </p:nvSpPr>
        <p:spPr bwMode="auto">
          <a:xfrm>
            <a:off x="609600" y="6356985"/>
            <a:ext cx="2844165" cy="364490"/>
          </a:xfrm>
        </p:spPr>
        <p:txBody>
          <a:bodyPr/>
          <a:lstStyle/>
          <a:p>
            <a:pPr>
              <a:defRPr/>
            </a:pPr>
            <a:fld id="{3C3DE151-1FD1-6817-9F85-E942AFCB69BC}" type="datetime1">
              <a:rPr/>
              <a:t>11/10/2025</a:t>
            </a:fld>
            <a:endParaRPr/>
          </a:p>
        </p:txBody>
      </p:sp>
      <p:sp>
        <p:nvSpPr>
          <p:cNvPr id="39983129" name="FooterArea1"/>
          <p:cNvSpPr>
            <a:spLocks noChangeArrowheads="1" noGrp="1"/>
          </p:cNvSpPr>
          <p:nvPr>
            <p:ph type="ftr" sz="quarter" idx="11"/>
          </p:nvPr>
        </p:nvSpPr>
        <p:spPr bwMode="auto">
          <a:xfrm>
            <a:off x="4166235" y="6356985"/>
            <a:ext cx="3859530" cy="36449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797447" name="SlideNumberArea1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738235" y="6356985"/>
            <a:ext cx="2844165" cy="364490"/>
          </a:xfrm>
        </p:spPr>
        <p:txBody>
          <a:bodyPr/>
          <a:lstStyle/>
          <a:p>
            <a:pPr>
              <a:defRPr/>
            </a:pPr>
            <a:fld id="{3C3DD328-66D1-6825-9F85-90709DCB69C5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334096" name="SlideTitle1"/>
          <p:cNvSpPr>
            <a:spLocks noChangeArrowheads="1" noGrp="1"/>
          </p:cNvSpPr>
          <p:nvPr>
            <p:ph type="ctrTitle"/>
          </p:nvPr>
        </p:nvSpPr>
        <p:spPr bwMode="auto">
          <a:xfrm>
            <a:off x="914400" y="2129790"/>
            <a:ext cx="10363200" cy="1470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30206496" name="SlideSubtitle1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 marL="0" marR="0" indent="0" algn="ctr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43403068" name="DateTimeArea1"/>
          <p:cNvSpPr>
            <a:spLocks noChangeArrowheads="1" noGrp="1"/>
          </p:cNvSpPr>
          <p:nvPr>
            <p:ph type="dt" sz="quarter" idx="10"/>
          </p:nvPr>
        </p:nvSpPr>
        <p:spPr bwMode="auto"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fld id="{3C3D9CF9-B7D1-686A-9F85-413FD2CB6914}" type="datetime1">
              <a:rPr/>
              <a:t>11/10/2025</a:t>
            </a:fld>
            <a:endParaRPr/>
          </a:p>
        </p:txBody>
      </p:sp>
      <p:sp>
        <p:nvSpPr>
          <p:cNvPr id="1331203370" name="FooterArea1"/>
          <p:cNvSpPr>
            <a:spLocks noChangeArrowheads="1" noGrp="1"/>
          </p:cNvSpPr>
          <p:nvPr>
            <p:ph type="ftr" sz="quarter" idx="11"/>
          </p:nvPr>
        </p:nvSpPr>
        <p:spPr bwMode="auto"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967727579" name="SlideNumberArea1"/>
          <p:cNvSpPr>
            <a:spLocks noChangeArrowheads="1"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fld id="{3C3DD219-57D1-6824-9F85-A1719CCB69F4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x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364594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46783301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0663324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9003-4DD1-6866-9F85-BB33DECB69EE}" type="datetime1">
              <a:rPr/>
              <a:t>11/10/2025</a:t>
            </a:fld>
            <a:endParaRPr/>
          </a:p>
        </p:txBody>
      </p:sp>
      <p:sp>
        <p:nvSpPr>
          <p:cNvPr id="1977157516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00074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D2D5-9BD1-6824-9F85-6D719CCB6938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94668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963295" y="4406900"/>
            <a:ext cx="10363200" cy="1362075"/>
          </a:xfrm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83486522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963295" y="2906395"/>
            <a:ext cx="10363200" cy="1500504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47135898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913C-72D1-6867-9F85-8432DFCB69D1}" type="datetime1">
              <a:rPr/>
              <a:t>11/10/2025</a:t>
            </a:fld>
            <a:endParaRPr/>
          </a:p>
        </p:txBody>
      </p:sp>
      <p:sp>
        <p:nvSpPr>
          <p:cNvPr id="1235473075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537489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9C87-C9D1-686A-9F85-3F3FD2CB696A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ColTx" userDrawn="1">
  <p:cSld name="Title and two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277278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31363845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609600" y="1600200"/>
            <a:ext cx="5385435" cy="45262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66852426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196965" y="1600200"/>
            <a:ext cx="5385435" cy="45262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46581594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E1AF-E1D1-6817-9F85-1742AFCB6942}" type="datetime1">
              <a:rPr/>
              <a:t>11/10/2025</a:t>
            </a:fld>
            <a:endParaRPr/>
          </a:p>
        </p:txBody>
      </p:sp>
      <p:sp>
        <p:nvSpPr>
          <p:cNvPr id="356758181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1478597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E00D-43D1-6816-9F85-B543AECB69E0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797295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37701517" name="SlideText3"/>
          <p:cNvSpPr>
            <a:spLocks noChangeArrowheads="1" noGrp="1"/>
          </p:cNvSpPr>
          <p:nvPr>
            <p:ph idx="1"/>
          </p:nvPr>
        </p:nvSpPr>
        <p:spPr bwMode="auto">
          <a:xfrm>
            <a:off x="609600" y="1534795"/>
            <a:ext cx="5386705" cy="64008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22518750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2174875"/>
            <a:ext cx="5386705" cy="395160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31440724" name="SlideText2"/>
          <p:cNvSpPr>
            <a:spLocks noChangeArrowheads="1" noGrp="1"/>
          </p:cNvSpPr>
          <p:nvPr>
            <p:ph idx="3"/>
          </p:nvPr>
        </p:nvSpPr>
        <p:spPr bwMode="auto">
          <a:xfrm>
            <a:off x="6195695" y="1534795"/>
            <a:ext cx="5386705" cy="64008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4566744" name="SlideText4"/>
          <p:cNvSpPr>
            <a:spLocks noChangeArrowheads="1" noGrp="1"/>
          </p:cNvSpPr>
          <p:nvPr>
            <p:ph idx="4"/>
          </p:nvPr>
        </p:nvSpPr>
        <p:spPr bwMode="auto">
          <a:xfrm>
            <a:off x="6195695" y="2174875"/>
            <a:ext cx="5386705" cy="395160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32351335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DE82-CCD1-6828-9F85-3A7D90CB696F}" type="datetime1">
              <a:rPr/>
              <a:t>11/10/2025</a:t>
            </a:fld>
            <a:endParaRPr/>
          </a:p>
        </p:txBody>
      </p:sp>
      <p:sp>
        <p:nvSpPr>
          <p:cNvPr id="1198045621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940558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AEA9-E7D1-6858-9F85-110DE0CB6944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11489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22958420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993B-75D1-686F-9F85-833AD7CB69D6}" type="datetime1">
              <a:rPr/>
              <a:t>11/10/2025</a:t>
            </a:fld>
            <a:endParaRPr/>
          </a:p>
        </p:txBody>
      </p:sp>
      <p:sp>
        <p:nvSpPr>
          <p:cNvPr id="43282080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970025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E613-5DD1-6810-9F85-AB45A8CB69FE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813868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CAD3-9DD1-683C-9F85-6B6984CB693E}" type="datetime1">
              <a:rPr/>
              <a:t>11/10/2025</a:t>
            </a:fld>
            <a:endParaRPr/>
          </a:p>
        </p:txBody>
      </p:sp>
      <p:sp>
        <p:nvSpPr>
          <p:cNvPr id="929426159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10828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A1B7-F9D1-6857-9F85-0F02EFCB695A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415987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3050"/>
            <a:ext cx="4011295" cy="116205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1462298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4766945" y="273050"/>
            <a:ext cx="6815455" cy="585343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58090571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1435100"/>
            <a:ext cx="4011295" cy="46913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25844550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8C7D-33D1-687A-9F85-C52FC2CB6990}" type="datetime1">
              <a:rPr/>
              <a:t>11/10/2025</a:t>
            </a:fld>
            <a:endParaRPr/>
          </a:p>
        </p:txBody>
      </p:sp>
      <p:sp>
        <p:nvSpPr>
          <p:cNvPr id="511568834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909381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EC75-3BD1-681A-9F85-CD4FA2CB6998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993298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2389505" y="4800600"/>
            <a:ext cx="7315200" cy="56642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16028589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2389505" y="613410"/>
            <a:ext cx="7315200" cy="411480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80733697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2389505" y="5367020"/>
            <a:ext cx="7315200" cy="8051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41716163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E9B3-FDD1-681F-9F85-0B4AA7CB695E}" type="datetime1">
              <a:rPr/>
              <a:t>11/10/2025</a:t>
            </a:fld>
            <a:endParaRPr/>
          </a:p>
        </p:txBody>
      </p:sp>
      <p:sp>
        <p:nvSpPr>
          <p:cNvPr id="558301627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50433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DA5B-15D1-682C-9F85-E37994CB69B6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006967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3180527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78105261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90A8-E6D1-6866-9F85-1033DECB6945}" type="datetime1">
              <a:rPr/>
              <a:t>11/10/2025</a:t>
            </a:fld>
            <a:endParaRPr/>
          </a:p>
        </p:txBody>
      </p:sp>
      <p:sp>
        <p:nvSpPr>
          <p:cNvPr id="1794686633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95492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8FB4-FAD1-6879-9F85-0C2CC1CB6959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08854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8839200" y="274320"/>
            <a:ext cx="2743200" cy="5852160"/>
          </a:xfrm>
        </p:spPr>
        <p:txBody>
          <a:bodyPr vert="vert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5317361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609600" y="274320"/>
            <a:ext cx="8025765" cy="5852160"/>
          </a:xfrm>
        </p:spPr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02120003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C3DF917-59D1-680F-9F85-AF5AB7CB69FA}" type="datetime1">
              <a:rPr/>
              <a:t>11/10/2025</a:t>
            </a:fld>
            <a:endParaRPr/>
          </a:p>
        </p:txBody>
      </p:sp>
      <p:sp>
        <p:nvSpPr>
          <p:cNvPr id="1042505182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00584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C3DDD38-76D1-682B-9F85-807E93CB69D5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Blue sky">
    <p:bg>
      <p:bgPr shadeToTitle="0">
        <a:blipFill>
          <a:blip r:embed="rId14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7812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45988039" name="SlideText1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  <a:effectLst/>
        </p:spPr>
        <p:txBody>
          <a:bodyPr vert="horz" wrap="square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42877273" name="DateTimeArea1"/>
          <p:cNvSpPr>
            <a:spLocks noChangeArrowheads="1" noGrp="1"/>
          </p:cNvSpPr>
          <p:nvPr>
            <p:ph type="dt" sz="quarter" idx="2"/>
          </p:nvPr>
        </p:nvSpPr>
        <p:spPr bwMode="auto">
          <a:xfrm>
            <a:off x="609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>
            <a:lvl1pPr algn="l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3C3DDDD9-97D1-682B-9F85-617E93CB6934}" type="datetime1">
              <a:rPr/>
              <a:t>11/10/2025</a:t>
            </a:fld>
            <a:endParaRPr/>
          </a:p>
        </p:txBody>
      </p:sp>
      <p:sp>
        <p:nvSpPr>
          <p:cNvPr id="1705279593" name="FooterArea1"/>
          <p:cNvSpPr>
            <a:spLocks noChangeArrowheads="1" noGrp="1"/>
          </p:cNvSpPr>
          <p:nvPr>
            <p:ph type="ftr" sz="quarter" idx="3"/>
          </p:nvPr>
        </p:nvSpPr>
        <p:spPr bwMode="auto">
          <a:xfrm>
            <a:off x="4165600" y="6356985"/>
            <a:ext cx="3860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>
            <a:lvl1pPr algn="ct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1254293538" name="SlideNumberArea1"/>
          <p:cNvSpPr>
            <a:spLocks noChangeArrowheads="1" noGrp="1"/>
          </p:cNvSpPr>
          <p:nvPr>
            <p:ph type="sldNum" sz="quarter" idx="4"/>
          </p:nvPr>
        </p:nvSpPr>
        <p:spPr bwMode="auto">
          <a:xfrm>
            <a:off x="8737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3C3DBA59-17D1-684C-9F85-E119F4CB69B4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cap="none" spc="0">
          <a:solidFill>
            <a:schemeClr val="tx2"/>
          </a:solidFill>
          <a:latin typeface="Calibri"/>
          <a:ea typeface="SimSun"/>
          <a:cs typeface="Times New Roman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32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4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Blue sky">
    <p:bg>
      <p:bgPr shadeToTitle="0">
        <a:blipFill>
          <a:blip r:embed="rId1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570089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87861642" name="SlideText1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28407240" name="DateTimeArea1"/>
          <p:cNvSpPr>
            <a:spLocks noChangeArrowheads="1" noGrp="1"/>
          </p:cNvSpPr>
          <p:nvPr>
            <p:ph type="dt" sz="quarter" idx="2"/>
          </p:nvPr>
        </p:nvSpPr>
        <p:spPr bwMode="auto">
          <a:xfrm>
            <a:off x="609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3C3DE8B3-FDD1-681E-9F85-0B4BA6CB695E}" type="datetime1">
              <a:rPr/>
              <a:t>11/10/2025</a:t>
            </a:fld>
            <a:endParaRPr/>
          </a:p>
        </p:txBody>
      </p:sp>
      <p:sp>
        <p:nvSpPr>
          <p:cNvPr id="1174013533" name="FooterArea1"/>
          <p:cNvSpPr>
            <a:spLocks noChangeArrowheads="1" noGrp="1"/>
          </p:cNvSpPr>
          <p:nvPr>
            <p:ph type="ftr" sz="quarter" idx="3"/>
          </p:nvPr>
        </p:nvSpPr>
        <p:spPr bwMode="auto">
          <a:xfrm>
            <a:off x="4165600" y="6356985"/>
            <a:ext cx="3860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ct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1727451479" name="SlideNumberArea1"/>
          <p:cNvSpPr>
            <a:spLocks noChangeArrowheads="1" noGrp="1"/>
          </p:cNvSpPr>
          <p:nvPr>
            <p:ph type="sldNum" sz="quarter" idx="4"/>
          </p:nvPr>
        </p:nvSpPr>
        <p:spPr bwMode="auto">
          <a:xfrm>
            <a:off x="8737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3C3DD116-58D1-6827-9F85-AE729FCB69F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cap="none" spc="0">
          <a:solidFill>
            <a:schemeClr val="tx2"/>
          </a:solidFill>
          <a:latin typeface="Calibri"/>
          <a:ea typeface="Calibri"/>
          <a:cs typeface="Calibri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9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32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4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0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defRPr sz="20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520356" name="SlideTitle1"/>
          <p:cNvSpPr>
            <a:spLocks noChangeArrowheads="1" noGrp="1"/>
          </p:cNvSpPr>
          <p:nvPr>
            <p:ph type="ctrTitle"/>
          </p:nvPr>
        </p:nvSpPr>
        <p:spPr bwMode="auto">
          <a:xfrm>
            <a:off x="1435100" y="2117090"/>
            <a:ext cx="10363200" cy="1470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Queues in Java</a:t>
            </a:r>
            <a:endParaRPr/>
          </a:p>
        </p:txBody>
      </p:sp>
      <p:sp>
        <p:nvSpPr>
          <p:cNvPr id="1243043347" name="SlideSubtitle1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828164" y="3886200"/>
            <a:ext cx="8594090" cy="2123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 marL="0" marR="0" indent="0" algn="ctr" defTabSz="44958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COP 3330</a:t>
            </a:r>
            <a:br>
              <a:rPr/>
            </a:br>
            <a:r>
              <a:rPr/>
              <a:t>Department of Computer Science</a:t>
            </a:r>
            <a:br>
              <a:rPr/>
            </a:br>
            <a:r>
              <a:rPr/>
              <a:t>University of Central Florida</a:t>
            </a:r>
            <a:endParaRPr/>
          </a:p>
          <a:p>
            <a:pPr marL="0" marR="0" indent="0" algn="ctr" defTabSz="44958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Dr. Bacanli</a:t>
            </a:r>
            <a:endParaRPr/>
          </a:p>
        </p:txBody>
      </p:sp>
      <p:pic>
        <p:nvPicPr>
          <p:cNvPr id="1044729562" name="Picture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825" y="123825"/>
            <a:ext cx="2026920" cy="36499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6827106" name="Picture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686925" y="163195"/>
            <a:ext cx="2172335" cy="16306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767555" name="Content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0972800" cy="1137285"/>
          </a:xfrm>
        </p:spPr>
        <p:txBody>
          <a:bodyPr vert="horz" wrap="square" numCol="1" spcCol="215899" anchor="t">
            <a:prstTxWarp prst="textNoShape"/>
          </a:bodyPr>
          <a:lstStyle/>
          <a:p>
            <a:pPr>
              <a:lnSpc>
                <a:spcPct val="70000"/>
              </a:lnSpc>
              <a:spcBef>
                <a:spcPts val="850"/>
              </a:spcBef>
              <a:defRPr sz="2800" cap="none"/>
            </a:pPr>
            <a:r>
              <a:rPr/>
              <a:t>A queue is a sequence of nodes in which we can only access the first item. We add to the last item</a:t>
            </a:r>
            <a:endParaRPr/>
          </a:p>
          <a:p>
            <a:pPr>
              <a:lnSpc>
                <a:spcPct val="70000"/>
              </a:lnSpc>
              <a:spcBef>
                <a:spcPts val="850"/>
              </a:spcBef>
              <a:defRPr sz="2800" cap="none"/>
            </a:pPr>
            <a:r>
              <a:rPr/>
              <a:t>Ex: People in the free pizza line</a:t>
            </a:r>
            <a:endParaRPr/>
          </a:p>
        </p:txBody>
      </p:sp>
      <p:sp>
        <p:nvSpPr>
          <p:cNvPr id="2053292976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is a Queue?</a:t>
            </a:r>
            <a:endParaRPr/>
          </a:p>
        </p:txBody>
      </p:sp>
      <p:sp>
        <p:nvSpPr>
          <p:cNvPr id="425978535" name="Textbox1"/>
          <p:cNvSpPr txBox="1"/>
          <p:nvPr/>
        </p:nvSpPr>
        <p:spPr bwMode="auto">
          <a:xfrm>
            <a:off x="670560" y="5079365"/>
            <a:ext cx="4432300" cy="3987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lnSpc>
                <a:spcPct val="70000"/>
              </a:lnSpc>
              <a:spcBef>
                <a:spcPts val="850"/>
              </a:spcBef>
              <a:defRPr sz="2600" cap="none">
                <a:latin typeface="Calibri"/>
                <a:ea typeface="Calibri"/>
                <a:cs typeface="Calibri"/>
              </a:defRPr>
            </a:pPr>
            <a:r>
              <a:rPr/>
              <a:t>Queue uses FIFO.</a:t>
            </a:r>
            <a:endParaRPr/>
          </a:p>
        </p:txBody>
      </p:sp>
      <p:sp>
        <p:nvSpPr>
          <p:cNvPr id="1565260155" name="Textbox2"/>
          <p:cNvSpPr txBox="1"/>
          <p:nvPr/>
        </p:nvSpPr>
        <p:spPr bwMode="auto">
          <a:xfrm>
            <a:off x="615950" y="3331845"/>
            <a:ext cx="1455420" cy="88392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34</a:t>
            </a:r>
            <a:endParaRPr/>
          </a:p>
        </p:txBody>
      </p:sp>
      <p:sp>
        <p:nvSpPr>
          <p:cNvPr id="95283418" name="Textbox3"/>
          <p:cNvSpPr txBox="1"/>
          <p:nvPr/>
        </p:nvSpPr>
        <p:spPr bwMode="auto">
          <a:xfrm>
            <a:off x="2081530" y="3337560"/>
            <a:ext cx="1455420" cy="88392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3</a:t>
            </a:r>
            <a:endParaRPr/>
          </a:p>
        </p:txBody>
      </p:sp>
      <p:sp>
        <p:nvSpPr>
          <p:cNvPr id="1193833641" name="Textbox4"/>
          <p:cNvSpPr txBox="1"/>
          <p:nvPr/>
        </p:nvSpPr>
        <p:spPr bwMode="auto">
          <a:xfrm>
            <a:off x="3530600" y="3337560"/>
            <a:ext cx="1455420" cy="883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46</a:t>
            </a:r>
            <a:endParaRPr/>
          </a:p>
        </p:txBody>
      </p:sp>
      <p:sp>
        <p:nvSpPr>
          <p:cNvPr id="29922991" name="pop"/>
          <p:cNvSpPr txBox="1"/>
          <p:nvPr/>
        </p:nvSpPr>
        <p:spPr bwMode="auto">
          <a:xfrm>
            <a:off x="7218045" y="2900045"/>
            <a:ext cx="4307205" cy="944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Removing from queue is called dequeue</a:t>
            </a:r>
            <a:endParaRPr/>
          </a:p>
        </p:txBody>
      </p:sp>
      <p:sp>
        <p:nvSpPr>
          <p:cNvPr id="185320511" name="push"/>
          <p:cNvSpPr txBox="1"/>
          <p:nvPr/>
        </p:nvSpPr>
        <p:spPr bwMode="auto">
          <a:xfrm>
            <a:off x="7218680" y="3886200"/>
            <a:ext cx="4307205" cy="944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Adding to queue is called enqueue</a:t>
            </a:r>
            <a:endParaRPr/>
          </a:p>
        </p:txBody>
      </p:sp>
      <p:sp>
        <p:nvSpPr>
          <p:cNvPr id="148512015" name="peek"/>
          <p:cNvSpPr txBox="1"/>
          <p:nvPr/>
        </p:nvSpPr>
        <p:spPr bwMode="auto">
          <a:xfrm>
            <a:off x="7227570" y="5024755"/>
            <a:ext cx="4307205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Getting the first element without removal is called peek</a:t>
            </a:r>
            <a:endParaRPr/>
          </a:p>
        </p:txBody>
      </p:sp>
      <p:sp>
        <p:nvSpPr>
          <p:cNvPr id="950361824" name="Textbox5"/>
          <p:cNvSpPr txBox="1"/>
          <p:nvPr/>
        </p:nvSpPr>
        <p:spPr bwMode="auto">
          <a:xfrm>
            <a:off x="4976495" y="3338830"/>
            <a:ext cx="1455420" cy="883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1000"/>
                                        <p:tgtEl>
                                          <p:spTgt spid="1565260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6526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92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36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5036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53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851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5260155" grpId="0" animBg="1" advAuto="0"/>
      <p:bldP spid="29922991" grpId="0" animBg="1" advAuto="0"/>
      <p:bldP spid="185320511" grpId="0" animBg="1" advAuto="0"/>
      <p:bldP spid="148512015" grpId="0" animBg="1" advAuto="0"/>
      <p:bldP spid="950361824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645198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Implementation</a:t>
            </a:r>
            <a:endParaRPr/>
          </a:p>
        </p:txBody>
      </p:sp>
      <p:sp>
        <p:nvSpPr>
          <p:cNvPr id="197023461" name="SlideText1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0972800" cy="4286250"/>
          </a:xfrm>
        </p:spPr>
        <p:txBody>
          <a:bodyPr/>
          <a:lstStyle/>
          <a:p>
            <a:pPr>
              <a:defRPr/>
            </a:pPr>
            <a:r>
              <a:rPr/>
              <a:t>Enqueue, dequeue and peek, all have O(1) run time complexity</a:t>
            </a:r>
            <a:endParaRPr/>
          </a:p>
          <a:p>
            <a:pPr lvl="1">
              <a:defRPr/>
            </a:pPr>
            <a:r>
              <a:rPr/>
              <a:t>There is no traversal of elements in queue, as a standard operation</a:t>
            </a:r>
            <a:endParaRPr/>
          </a:p>
          <a:p>
            <a:pPr>
              <a:defRPr/>
            </a:pPr>
            <a:r>
              <a:rPr/>
              <a:t>Queue can be implemented with arrays and Linked Lists.	</a:t>
            </a:r>
            <a:endParaRPr/>
          </a:p>
          <a:p>
            <a:pPr>
              <a:defRPr/>
            </a:pPr>
            <a:r>
              <a:rPr/>
              <a:t>What are the advantages and disadvantages of those implementations?</a:t>
            </a:r>
            <a:endParaRPr/>
          </a:p>
          <a:p>
            <a:pPr>
              <a:defRPr/>
            </a:pPr>
            <a:r>
              <a:rPr/>
              <a:t>Queue is used in </a:t>
            </a:r>
            <a:endParaRPr/>
          </a:p>
          <a:p>
            <a:pPr lvl="1">
              <a:defRPr/>
            </a:pPr>
            <a:r>
              <a:rPr/>
              <a:t>Networking (serving packets)</a:t>
            </a:r>
            <a:endParaRPr/>
          </a:p>
          <a:p>
            <a:pPr lvl="1">
              <a:defRPr/>
            </a:pPr>
            <a:r>
              <a:rPr/>
              <a:t>Printers getting print orders</a:t>
            </a:r>
            <a:endParaRPr/>
          </a:p>
          <a:p>
            <a:pPr lvl="1">
              <a:defRPr/>
            </a:pPr>
            <a:r>
              <a:rPr/>
              <a:t>cases where first element/case has priority among others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304" name="SlideTitle1"/>
          <p:cNvSpPr>
            <a:spLocks noChangeArrowheads="1"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Queue as a linked list</a:t>
            </a:r>
            <a:endParaRPr/>
          </a:p>
        </p:txBody>
      </p:sp>
      <p:grpSp>
        <p:nvGrpSpPr>
          <p:cNvPr id="387949998" name="Group1"/>
          <p:cNvGrpSpPr/>
          <p:nvPr/>
        </p:nvGrpSpPr>
        <p:grpSpPr bwMode="auto">
          <a:xfrm>
            <a:off x="932815" y="3903980"/>
            <a:ext cx="2009140" cy="861060"/>
            <a:chOff x="932815" y="3903980"/>
            <a:chExt cx="2009140" cy="861060"/>
          </a:xfrm>
        </p:grpSpPr>
        <p:sp>
          <p:nvSpPr>
            <p:cNvPr id="5" name="Rectangle1"/>
            <p:cNvSpPr/>
            <p:nvPr/>
          </p:nvSpPr>
          <p:spPr bwMode="auto">
            <a:xfrm>
              <a:off x="932815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" name="Line4"/>
            <p:cNvSpPr/>
            <p:nvPr/>
          </p:nvSpPr>
          <p:spPr bwMode="auto">
            <a:xfrm>
              <a:off x="1864995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629794889" name="Rectangle2"/>
          <p:cNvSpPr/>
          <p:nvPr/>
        </p:nvSpPr>
        <p:spPr bwMode="auto">
          <a:xfrm>
            <a:off x="3822065" y="3903980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9186084" name="Line2"/>
          <p:cNvSpPr/>
          <p:nvPr/>
        </p:nvSpPr>
        <p:spPr bwMode="auto">
          <a:xfrm>
            <a:off x="4754245" y="3903980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757225985" name="Group2"/>
          <p:cNvGrpSpPr/>
          <p:nvPr/>
        </p:nvGrpSpPr>
        <p:grpSpPr bwMode="auto">
          <a:xfrm>
            <a:off x="6692900" y="3903980"/>
            <a:ext cx="2009140" cy="861060"/>
            <a:chOff x="6692900" y="3903980"/>
            <a:chExt cx="2009140" cy="861060"/>
          </a:xfrm>
        </p:grpSpPr>
        <p:sp>
          <p:nvSpPr>
            <p:cNvPr id="10" name="Rectangle4"/>
            <p:cNvSpPr/>
            <p:nvPr/>
          </p:nvSpPr>
          <p:spPr bwMode="auto">
            <a:xfrm>
              <a:off x="6692900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1"/>
            <p:cNvSpPr/>
            <p:nvPr/>
          </p:nvSpPr>
          <p:spPr bwMode="auto">
            <a:xfrm>
              <a:off x="7625080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567302018" name="Rectangle3"/>
          <p:cNvSpPr/>
          <p:nvPr/>
        </p:nvSpPr>
        <p:spPr bwMode="auto">
          <a:xfrm>
            <a:off x="9549130" y="3927475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8844946" name="Line3"/>
          <p:cNvSpPr/>
          <p:nvPr/>
        </p:nvSpPr>
        <p:spPr bwMode="auto">
          <a:xfrm>
            <a:off x="10598785" y="3924935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197468" name="Line5"/>
          <p:cNvSpPr/>
          <p:nvPr/>
        </p:nvSpPr>
        <p:spPr bwMode="auto">
          <a:xfrm flipH="1" flipV="1">
            <a:off x="2439670" y="4334510"/>
            <a:ext cx="1435100" cy="2286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5849229" name="Line6"/>
          <p:cNvSpPr/>
          <p:nvPr/>
        </p:nvSpPr>
        <p:spPr bwMode="auto">
          <a:xfrm flipH="1">
            <a:off x="5238115" y="4333875"/>
            <a:ext cx="1506855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2139987" name="Line7"/>
          <p:cNvSpPr/>
          <p:nvPr/>
        </p:nvSpPr>
        <p:spPr bwMode="auto">
          <a:xfrm flipH="1">
            <a:off x="8036560" y="4333875"/>
            <a:ext cx="1578610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0289393" name="Textbox1"/>
          <p:cNvSpPr txBox="1"/>
          <p:nvPr/>
        </p:nvSpPr>
        <p:spPr bwMode="auto">
          <a:xfrm>
            <a:off x="1076325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469119933" name="Textbox2"/>
          <p:cNvSpPr txBox="1"/>
          <p:nvPr/>
        </p:nvSpPr>
        <p:spPr bwMode="auto">
          <a:xfrm>
            <a:off x="6816725" y="407289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1124633621" name="Textbox3"/>
          <p:cNvSpPr txBox="1"/>
          <p:nvPr/>
        </p:nvSpPr>
        <p:spPr bwMode="auto">
          <a:xfrm>
            <a:off x="4018280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1</a:t>
            </a:r>
            <a:endParaRPr/>
          </a:p>
        </p:txBody>
      </p:sp>
      <p:sp>
        <p:nvSpPr>
          <p:cNvPr id="1798646308" name="Textbox4"/>
          <p:cNvSpPr txBox="1"/>
          <p:nvPr/>
        </p:nvSpPr>
        <p:spPr bwMode="auto">
          <a:xfrm>
            <a:off x="9758680" y="4144645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5</a:t>
            </a:r>
            <a:endParaRPr/>
          </a:p>
        </p:txBody>
      </p:sp>
      <p:sp>
        <p:nvSpPr>
          <p:cNvPr id="1936440395" name="Line8"/>
          <p:cNvSpPr/>
          <p:nvPr/>
        </p:nvSpPr>
        <p:spPr bwMode="auto">
          <a:xfrm>
            <a:off x="10579735" y="3935730"/>
            <a:ext cx="1004570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443409" name="Line9"/>
          <p:cNvSpPr/>
          <p:nvPr/>
        </p:nvSpPr>
        <p:spPr bwMode="auto">
          <a:xfrm>
            <a:off x="1506220" y="4765040"/>
            <a:ext cx="1270" cy="93281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8737314" name="Textbox5"/>
          <p:cNvSpPr txBox="1"/>
          <p:nvPr/>
        </p:nvSpPr>
        <p:spPr bwMode="auto">
          <a:xfrm>
            <a:off x="967105" y="5631179"/>
            <a:ext cx="1610360" cy="545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head</a:t>
            </a:r>
            <a:endParaRPr/>
          </a:p>
        </p:txBody>
      </p:sp>
      <p:sp>
        <p:nvSpPr>
          <p:cNvPr id="954147457" name="Rectangle6"/>
          <p:cNvSpPr/>
          <p:nvPr/>
        </p:nvSpPr>
        <p:spPr bwMode="auto">
          <a:xfrm>
            <a:off x="631190" y="1571625"/>
            <a:ext cx="10868660" cy="1990090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In a singly linked list we store the elements as shown below in a queue. We need to store the tail and head. We remove from head. Add to the tail. What if we don’t store the tail?</a:t>
            </a:r>
            <a:endParaRPr/>
          </a:p>
        </p:txBody>
      </p:sp>
      <p:sp>
        <p:nvSpPr>
          <p:cNvPr id="1764831964" name="Textbox6"/>
          <p:cNvSpPr txBox="1"/>
          <p:nvPr/>
        </p:nvSpPr>
        <p:spPr bwMode="auto">
          <a:xfrm>
            <a:off x="9765030" y="5576570"/>
            <a:ext cx="1588135" cy="5454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tail</a:t>
            </a:r>
            <a:endParaRPr/>
          </a:p>
        </p:txBody>
      </p:sp>
      <p:sp>
        <p:nvSpPr>
          <p:cNvPr id="375137354" name="Line10"/>
          <p:cNvSpPr/>
          <p:nvPr/>
        </p:nvSpPr>
        <p:spPr bwMode="auto">
          <a:xfrm flipH="1">
            <a:off x="10471150" y="4763135"/>
            <a:ext cx="1270" cy="83756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4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414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147457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333355" name="SlideTitle1"/>
          <p:cNvSpPr>
            <a:spLocks noChangeArrowheads="1"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Enqueue to Queue</a:t>
            </a:r>
            <a:endParaRPr/>
          </a:p>
        </p:txBody>
      </p:sp>
      <p:grpSp>
        <p:nvGrpSpPr>
          <p:cNvPr id="1832372084" name="Group1"/>
          <p:cNvGrpSpPr/>
          <p:nvPr/>
        </p:nvGrpSpPr>
        <p:grpSpPr bwMode="auto">
          <a:xfrm>
            <a:off x="932815" y="3903980"/>
            <a:ext cx="2009140" cy="861060"/>
            <a:chOff x="932815" y="3903980"/>
            <a:chExt cx="2009140" cy="861060"/>
          </a:xfrm>
        </p:grpSpPr>
        <p:sp>
          <p:nvSpPr>
            <p:cNvPr id="5" name="Rectangle1"/>
            <p:cNvSpPr/>
            <p:nvPr/>
          </p:nvSpPr>
          <p:spPr bwMode="auto">
            <a:xfrm>
              <a:off x="932815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" name="Line4"/>
            <p:cNvSpPr/>
            <p:nvPr/>
          </p:nvSpPr>
          <p:spPr bwMode="auto">
            <a:xfrm>
              <a:off x="1864995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771342660" name="Rectangle2"/>
          <p:cNvSpPr/>
          <p:nvPr/>
        </p:nvSpPr>
        <p:spPr bwMode="auto">
          <a:xfrm>
            <a:off x="3822065" y="3903980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3872710" name="Line2"/>
          <p:cNvSpPr/>
          <p:nvPr/>
        </p:nvSpPr>
        <p:spPr bwMode="auto">
          <a:xfrm>
            <a:off x="4754245" y="3903980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820711280" name="Group2"/>
          <p:cNvGrpSpPr/>
          <p:nvPr/>
        </p:nvGrpSpPr>
        <p:grpSpPr bwMode="auto">
          <a:xfrm>
            <a:off x="6692900" y="3903980"/>
            <a:ext cx="2009140" cy="861060"/>
            <a:chOff x="6692900" y="3903980"/>
            <a:chExt cx="2009140" cy="861060"/>
          </a:xfrm>
        </p:grpSpPr>
        <p:sp>
          <p:nvSpPr>
            <p:cNvPr id="10" name="Rectangle4"/>
            <p:cNvSpPr/>
            <p:nvPr/>
          </p:nvSpPr>
          <p:spPr bwMode="auto">
            <a:xfrm>
              <a:off x="6692900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1"/>
            <p:cNvSpPr/>
            <p:nvPr/>
          </p:nvSpPr>
          <p:spPr bwMode="auto">
            <a:xfrm>
              <a:off x="7625080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237941287" name="Rectangle3"/>
          <p:cNvSpPr/>
          <p:nvPr/>
        </p:nvSpPr>
        <p:spPr bwMode="auto">
          <a:xfrm>
            <a:off x="9549130" y="3927475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41625" name="Line3"/>
          <p:cNvSpPr/>
          <p:nvPr/>
        </p:nvSpPr>
        <p:spPr bwMode="auto">
          <a:xfrm>
            <a:off x="10598785" y="3924935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2171366" name="Line5"/>
          <p:cNvSpPr/>
          <p:nvPr/>
        </p:nvSpPr>
        <p:spPr bwMode="auto">
          <a:xfrm flipH="1" flipV="1">
            <a:off x="2439670" y="4334510"/>
            <a:ext cx="1435100" cy="2286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306723" name="Line6"/>
          <p:cNvSpPr/>
          <p:nvPr/>
        </p:nvSpPr>
        <p:spPr bwMode="auto">
          <a:xfrm flipH="1">
            <a:off x="5238115" y="4333875"/>
            <a:ext cx="1506855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140779" name="Line7"/>
          <p:cNvSpPr/>
          <p:nvPr/>
        </p:nvSpPr>
        <p:spPr bwMode="auto">
          <a:xfrm flipH="1">
            <a:off x="8036560" y="4333875"/>
            <a:ext cx="1578610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776190" name="Textbox1"/>
          <p:cNvSpPr txBox="1"/>
          <p:nvPr/>
        </p:nvSpPr>
        <p:spPr bwMode="auto">
          <a:xfrm>
            <a:off x="1076325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1416013133" name="Textbox2"/>
          <p:cNvSpPr txBox="1"/>
          <p:nvPr/>
        </p:nvSpPr>
        <p:spPr bwMode="auto">
          <a:xfrm>
            <a:off x="6816725" y="407289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2128091652" name="Textbox3"/>
          <p:cNvSpPr txBox="1"/>
          <p:nvPr/>
        </p:nvSpPr>
        <p:spPr bwMode="auto">
          <a:xfrm>
            <a:off x="4018280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1</a:t>
            </a:r>
            <a:endParaRPr/>
          </a:p>
        </p:txBody>
      </p:sp>
      <p:sp>
        <p:nvSpPr>
          <p:cNvPr id="2009576733" name="Textbox4"/>
          <p:cNvSpPr txBox="1"/>
          <p:nvPr/>
        </p:nvSpPr>
        <p:spPr bwMode="auto">
          <a:xfrm>
            <a:off x="9758680" y="4144645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5</a:t>
            </a:r>
            <a:endParaRPr/>
          </a:p>
        </p:txBody>
      </p:sp>
      <p:sp>
        <p:nvSpPr>
          <p:cNvPr id="1706586366" name="Line8"/>
          <p:cNvSpPr/>
          <p:nvPr/>
        </p:nvSpPr>
        <p:spPr bwMode="auto">
          <a:xfrm>
            <a:off x="10579735" y="3935730"/>
            <a:ext cx="1004570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2623177" name="Line9"/>
          <p:cNvSpPr/>
          <p:nvPr/>
        </p:nvSpPr>
        <p:spPr bwMode="auto">
          <a:xfrm flipH="1">
            <a:off x="10591165" y="4773929"/>
            <a:ext cx="1270" cy="71755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5322487" name="Textbox5"/>
          <p:cNvSpPr txBox="1"/>
          <p:nvPr/>
        </p:nvSpPr>
        <p:spPr bwMode="auto">
          <a:xfrm>
            <a:off x="9508490" y="5419090"/>
            <a:ext cx="21971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newNode</a:t>
            </a:r>
            <a:endParaRPr/>
          </a:p>
        </p:txBody>
      </p:sp>
      <p:sp>
        <p:nvSpPr>
          <p:cNvPr id="1888209371" name="Line10"/>
          <p:cNvSpPr/>
          <p:nvPr/>
        </p:nvSpPr>
        <p:spPr bwMode="auto">
          <a:xfrm flipH="1">
            <a:off x="8003540" y="4795520"/>
            <a:ext cx="2077085" cy="81597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0025418" name="Line11"/>
          <p:cNvSpPr/>
          <p:nvPr/>
        </p:nvSpPr>
        <p:spPr bwMode="auto">
          <a:xfrm flipH="1">
            <a:off x="7752715" y="4773929"/>
            <a:ext cx="1270" cy="84836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2616155" name="Textbox7"/>
          <p:cNvSpPr txBox="1"/>
          <p:nvPr/>
        </p:nvSpPr>
        <p:spPr bwMode="auto">
          <a:xfrm>
            <a:off x="7266940" y="5547360"/>
            <a:ext cx="1071245" cy="5975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tail</a:t>
            </a:r>
            <a:endParaRPr/>
          </a:p>
        </p:txBody>
      </p:sp>
      <p:sp>
        <p:nvSpPr>
          <p:cNvPr id="748997268" name="SlideText2"/>
          <p:cNvSpPr/>
          <p:nvPr/>
        </p:nvSpPr>
        <p:spPr bwMode="auto">
          <a:xfrm flipH="0" flipV="0">
            <a:off x="606424" y="2212974"/>
            <a:ext cx="5584189" cy="594359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tail.setNext(newNode);</a:t>
            </a:r>
            <a:endParaRPr/>
          </a:p>
        </p:txBody>
      </p:sp>
      <p:sp>
        <p:nvSpPr>
          <p:cNvPr id="1122158684" name="Rectangle5"/>
          <p:cNvSpPr/>
          <p:nvPr/>
        </p:nvSpPr>
        <p:spPr bwMode="auto">
          <a:xfrm flipH="0" flipV="0">
            <a:off x="603249" y="2960836"/>
            <a:ext cx="5587364" cy="568324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tail = newNode;</a:t>
            </a:r>
            <a:endParaRPr/>
          </a:p>
        </p:txBody>
      </p:sp>
      <p:sp>
        <p:nvSpPr>
          <p:cNvPr id="1418457921" name="Textbox6"/>
          <p:cNvSpPr txBox="1"/>
          <p:nvPr/>
        </p:nvSpPr>
        <p:spPr bwMode="auto">
          <a:xfrm>
            <a:off x="7313930" y="1618615"/>
            <a:ext cx="4469130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400" cap="none">
                <a:latin typeface="Calibri"/>
                <a:ea typeface="Calibri"/>
                <a:cs typeface="Calibri"/>
              </a:defRPr>
            </a:pPr>
            <a:r>
              <a:rPr/>
              <a:t>What does this operation look like, remembering the Linked List operations we have done?</a:t>
            </a:r>
            <a:endParaRPr/>
          </a:p>
        </p:txBody>
      </p:sp>
      <p:sp>
        <p:nvSpPr>
          <p:cNvPr id="1127949295" name="Rectangle6"/>
          <p:cNvSpPr/>
          <p:nvPr/>
        </p:nvSpPr>
        <p:spPr bwMode="auto">
          <a:xfrm>
            <a:off x="603250" y="1504950"/>
            <a:ext cx="5587365" cy="577849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Node newNode=new Node(3);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4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94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14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5314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99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4899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210025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02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20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88209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15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2215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45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1845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3140779" grpId="0" animBg="1" advAuto="0"/>
      <p:bldP spid="1888209371" grpId="0" animBg="1" advAuto="0"/>
      <p:bldP spid="1210025418" grpId="0" animBg="1" advAuto="0"/>
      <p:bldP spid="748997268" grpId="0" animBg="1" advAuto="0"/>
      <p:bldP spid="1122158684" grpId="0" animBg="1" advAuto="0"/>
      <p:bldP spid="1418457921" grpId="0" animBg="1" advAuto="0"/>
      <p:bldP spid="1127949295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697510" name="SlideTitle1"/>
          <p:cNvSpPr>
            <a:spLocks noChangeArrowheads="1"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Dequeue from Queue</a:t>
            </a:r>
            <a:endParaRPr/>
          </a:p>
        </p:txBody>
      </p:sp>
      <p:grpSp>
        <p:nvGrpSpPr>
          <p:cNvPr id="1916408654" name="Group1"/>
          <p:cNvGrpSpPr/>
          <p:nvPr/>
        </p:nvGrpSpPr>
        <p:grpSpPr bwMode="auto">
          <a:xfrm>
            <a:off x="932815" y="3903980"/>
            <a:ext cx="2009140" cy="861060"/>
            <a:chOff x="932815" y="3903980"/>
            <a:chExt cx="2009140" cy="861060"/>
          </a:xfrm>
        </p:grpSpPr>
        <p:sp>
          <p:nvSpPr>
            <p:cNvPr id="5" name="Rectangle1"/>
            <p:cNvSpPr/>
            <p:nvPr/>
          </p:nvSpPr>
          <p:spPr bwMode="auto">
            <a:xfrm>
              <a:off x="932815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" name="Line4"/>
            <p:cNvSpPr/>
            <p:nvPr/>
          </p:nvSpPr>
          <p:spPr bwMode="auto">
            <a:xfrm>
              <a:off x="1864995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617919533" name="Rectangle2"/>
          <p:cNvSpPr/>
          <p:nvPr/>
        </p:nvSpPr>
        <p:spPr bwMode="auto">
          <a:xfrm>
            <a:off x="3822065" y="3903980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8714170" name="Line2"/>
          <p:cNvSpPr/>
          <p:nvPr/>
        </p:nvSpPr>
        <p:spPr bwMode="auto">
          <a:xfrm>
            <a:off x="4754245" y="3903980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608449976" name="Group2"/>
          <p:cNvGrpSpPr/>
          <p:nvPr/>
        </p:nvGrpSpPr>
        <p:grpSpPr bwMode="auto">
          <a:xfrm>
            <a:off x="6692900" y="3903980"/>
            <a:ext cx="2009140" cy="861060"/>
            <a:chOff x="6692900" y="3903980"/>
            <a:chExt cx="2009140" cy="861060"/>
          </a:xfrm>
        </p:grpSpPr>
        <p:sp>
          <p:nvSpPr>
            <p:cNvPr id="10" name="Rectangle4"/>
            <p:cNvSpPr/>
            <p:nvPr/>
          </p:nvSpPr>
          <p:spPr bwMode="auto">
            <a:xfrm>
              <a:off x="6692900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1"/>
            <p:cNvSpPr/>
            <p:nvPr/>
          </p:nvSpPr>
          <p:spPr bwMode="auto">
            <a:xfrm>
              <a:off x="7625080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887689706" name="Rectangle3"/>
          <p:cNvSpPr/>
          <p:nvPr/>
        </p:nvSpPr>
        <p:spPr bwMode="auto">
          <a:xfrm>
            <a:off x="9549130" y="3927475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1781935" name="Line3"/>
          <p:cNvSpPr/>
          <p:nvPr/>
        </p:nvSpPr>
        <p:spPr bwMode="auto">
          <a:xfrm>
            <a:off x="10598785" y="3924935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702024" name="Line5"/>
          <p:cNvSpPr/>
          <p:nvPr/>
        </p:nvSpPr>
        <p:spPr bwMode="auto">
          <a:xfrm flipH="1" flipV="1">
            <a:off x="2439670" y="4334510"/>
            <a:ext cx="1435100" cy="2286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0929459" name="Line6"/>
          <p:cNvSpPr/>
          <p:nvPr/>
        </p:nvSpPr>
        <p:spPr bwMode="auto">
          <a:xfrm flipH="1">
            <a:off x="5238115" y="4333875"/>
            <a:ext cx="1506855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1772701" name="Line7"/>
          <p:cNvSpPr/>
          <p:nvPr/>
        </p:nvSpPr>
        <p:spPr bwMode="auto">
          <a:xfrm flipH="1">
            <a:off x="8036560" y="4333875"/>
            <a:ext cx="1578610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4966783" name="Textbox1"/>
          <p:cNvSpPr txBox="1"/>
          <p:nvPr/>
        </p:nvSpPr>
        <p:spPr bwMode="auto">
          <a:xfrm>
            <a:off x="1076325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296571564" name="Textbox2"/>
          <p:cNvSpPr txBox="1"/>
          <p:nvPr/>
        </p:nvSpPr>
        <p:spPr bwMode="auto">
          <a:xfrm>
            <a:off x="6816725" y="407289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49233948" name="Textbox3"/>
          <p:cNvSpPr txBox="1"/>
          <p:nvPr/>
        </p:nvSpPr>
        <p:spPr bwMode="auto">
          <a:xfrm>
            <a:off x="4018280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1</a:t>
            </a:r>
            <a:endParaRPr/>
          </a:p>
        </p:txBody>
      </p:sp>
      <p:sp>
        <p:nvSpPr>
          <p:cNvPr id="409942388" name="Textbox4"/>
          <p:cNvSpPr txBox="1"/>
          <p:nvPr/>
        </p:nvSpPr>
        <p:spPr bwMode="auto">
          <a:xfrm>
            <a:off x="9758680" y="4144645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5</a:t>
            </a:r>
            <a:endParaRPr/>
          </a:p>
        </p:txBody>
      </p:sp>
      <p:sp>
        <p:nvSpPr>
          <p:cNvPr id="1526139748" name="Line8"/>
          <p:cNvSpPr/>
          <p:nvPr/>
        </p:nvSpPr>
        <p:spPr bwMode="auto">
          <a:xfrm>
            <a:off x="10579735" y="3935730"/>
            <a:ext cx="1004570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726987" name="Line9"/>
          <p:cNvSpPr/>
          <p:nvPr/>
        </p:nvSpPr>
        <p:spPr bwMode="auto">
          <a:xfrm>
            <a:off x="1506220" y="4765040"/>
            <a:ext cx="1270" cy="93281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4761112" name="Textbox5"/>
          <p:cNvSpPr txBox="1"/>
          <p:nvPr/>
        </p:nvSpPr>
        <p:spPr bwMode="auto">
          <a:xfrm>
            <a:off x="1118235" y="5688330"/>
            <a:ext cx="1263015" cy="5321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head</a:t>
            </a:r>
            <a:endParaRPr/>
          </a:p>
        </p:txBody>
      </p:sp>
      <p:sp>
        <p:nvSpPr>
          <p:cNvPr id="408923243" name="Line10"/>
          <p:cNvSpPr/>
          <p:nvPr/>
        </p:nvSpPr>
        <p:spPr bwMode="auto">
          <a:xfrm flipH="1">
            <a:off x="1828800" y="4783455"/>
            <a:ext cx="2374265" cy="95694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4166952" name="SlideText2"/>
          <p:cNvSpPr/>
          <p:nvPr/>
        </p:nvSpPr>
        <p:spPr bwMode="auto">
          <a:xfrm flipH="0" flipV="0">
            <a:off x="547766" y="2332037"/>
            <a:ext cx="10884072" cy="669236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head = head.getNext(); // make head node unreachable</a:t>
            </a:r>
            <a:endParaRPr/>
          </a:p>
        </p:txBody>
      </p:sp>
      <p:sp>
        <p:nvSpPr>
          <p:cNvPr id="127360387" name="Textbox6"/>
          <p:cNvSpPr txBox="1"/>
          <p:nvPr/>
        </p:nvSpPr>
        <p:spPr bwMode="auto">
          <a:xfrm>
            <a:off x="7221855" y="5117465"/>
            <a:ext cx="4469130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400" cap="none">
                <a:latin typeface="Calibri"/>
                <a:ea typeface="Calibri"/>
                <a:cs typeface="Calibri"/>
              </a:defRPr>
            </a:pPr>
            <a:r>
              <a:rPr/>
              <a:t>What does this operation look like, remembering the Linked List operations we have done?</a:t>
            </a:r>
            <a:endParaRPr/>
          </a:p>
        </p:txBody>
      </p:sp>
      <p:sp>
        <p:nvSpPr>
          <p:cNvPr id="195898947" name="Rectangle6"/>
          <p:cNvSpPr/>
          <p:nvPr/>
        </p:nvSpPr>
        <p:spPr bwMode="auto">
          <a:xfrm flipH="0" flipV="0">
            <a:off x="603249" y="1504949"/>
            <a:ext cx="10828589" cy="678259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returnedElem</a:t>
            </a:r>
            <a:r>
              <a:rPr/>
              <a:t> = </a:t>
            </a:r>
            <a:r>
              <a:rPr/>
              <a:t>head.getItem</a:t>
            </a:r>
            <a:r>
              <a:rPr/>
              <a:t>(); // store the item somewhere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977269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772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9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89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16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34166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6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" dur="500"/>
                                        <p:tgtEl>
                                          <p:spTgt spid="12736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923243" grpId="0" animBg="1" advAuto="0"/>
      <p:bldP spid="1834166952" grpId="0" animBg="1" advAuto="0"/>
      <p:bldP spid="127360387" grpId="0" animBg="1" advAuto="0"/>
      <p:bldP spid="195898947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50055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Enqueue to Queue</a:t>
            </a:r>
            <a:endParaRPr/>
          </a:p>
        </p:txBody>
      </p:sp>
      <p:graphicFrame>
        <p:nvGraphicFramePr>
          <p:cNvPr id="1832388687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1320895" y="3827971"/>
          <a:ext cx="4955539" cy="808989"/>
        </p:xfrm>
        <a:graphic>
          <a:graphicData uri="http://schemas.openxmlformats.org/drawingml/2006/table">
            <a:tbl>
              <a:tblPr firstRow="0" firstCol="0" lastRow="0" lastCol="0" bandRow="0" bandCol="0">
                <a:solidFill>
                  <a:schemeClr val="bg1"/>
                </a:solidFill>
              </a:tblPr>
              <a:tblGrid>
                <a:gridCol w="824865"/>
                <a:gridCol w="824865"/>
                <a:gridCol w="824865"/>
                <a:gridCol w="824865"/>
                <a:gridCol w="824865"/>
                <a:gridCol w="824865"/>
              </a:tblGrid>
              <a:tr h="802640"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7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2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43715797" name="Textbox1"/>
          <p:cNvSpPr txBox="1"/>
          <p:nvPr/>
        </p:nvSpPr>
        <p:spPr bwMode="auto">
          <a:xfrm>
            <a:off x="637540" y="1635760"/>
            <a:ext cx="224409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tail = 4;</a:t>
            </a:r>
            <a:endParaRPr/>
          </a:p>
        </p:txBody>
      </p:sp>
      <p:sp>
        <p:nvSpPr>
          <p:cNvPr id="604852673" name="Textbox2"/>
          <p:cNvSpPr txBox="1"/>
          <p:nvPr/>
        </p:nvSpPr>
        <p:spPr bwMode="auto">
          <a:xfrm>
            <a:off x="618490" y="2270125"/>
            <a:ext cx="4773295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queueArr</a:t>
            </a:r>
            <a:r>
              <a:rPr/>
              <a:t>[tail+1] = 9;</a:t>
            </a:r>
            <a:endParaRPr/>
          </a:p>
        </p:txBody>
      </p:sp>
      <p:sp>
        <p:nvSpPr>
          <p:cNvPr id="810766703" name="Textbox3"/>
          <p:cNvSpPr txBox="1"/>
          <p:nvPr/>
        </p:nvSpPr>
        <p:spPr bwMode="auto">
          <a:xfrm>
            <a:off x="637540" y="2876550"/>
            <a:ext cx="2719705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tail = tail+1;</a:t>
            </a:r>
            <a:endParaRPr/>
          </a:p>
        </p:txBody>
      </p:sp>
      <p:sp>
        <p:nvSpPr>
          <p:cNvPr id="1038137908" name="Textbox5"/>
          <p:cNvSpPr txBox="1"/>
          <p:nvPr/>
        </p:nvSpPr>
        <p:spPr bwMode="auto">
          <a:xfrm>
            <a:off x="7189470" y="1768475"/>
            <a:ext cx="448818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What happens if we filled all the positions of our starting array (queueArr)?</a:t>
            </a:r>
            <a:endParaRPr/>
          </a:p>
        </p:txBody>
      </p:sp>
      <p:sp>
        <p:nvSpPr>
          <p:cNvPr id="1128963573" name="Textbox4"/>
          <p:cNvSpPr txBox="1"/>
          <p:nvPr/>
        </p:nvSpPr>
        <p:spPr bwMode="auto">
          <a:xfrm flipH="0" flipV="0">
            <a:off x="5581595" y="3827971"/>
            <a:ext cx="514404" cy="58526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9</a:t>
            </a:r>
            <a:endParaRPr/>
          </a:p>
        </p:txBody>
      </p:sp>
      <p:sp>
        <p:nvSpPr>
          <p:cNvPr id="391055684" name="Textbox6"/>
          <p:cNvSpPr txBox="1"/>
          <p:nvPr/>
        </p:nvSpPr>
        <p:spPr bwMode="auto">
          <a:xfrm>
            <a:off x="6829425" y="5131435"/>
            <a:ext cx="4886960" cy="944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How can we get away from this problem? Will runtime change?</a:t>
            </a:r>
            <a:endParaRPr/>
          </a:p>
        </p:txBody>
      </p:sp>
      <p:sp>
        <p:nvSpPr>
          <p:cNvPr id="1766461697" name=""/>
          <p:cNvSpPr txBox="1"/>
          <p:nvPr/>
        </p:nvSpPr>
        <p:spPr bwMode="auto">
          <a:xfrm rot="0" flipH="0" flipV="0">
            <a:off x="145613" y="4655819"/>
            <a:ext cx="6328557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libri"/>
                <a:ea typeface="Calibri"/>
                <a:cs typeface="Calibri"/>
              </a:rPr>
              <a:t>index:        0         1         2        3          4         5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6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896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5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485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76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076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0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10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852673" grpId="0" animBg="1" advAuto="0"/>
      <p:bldP spid="810766703" grpId="0" animBg="1" advAuto="0"/>
      <p:bldP spid="1128963573" grpId="0" animBg="1" advAuto="0"/>
      <p:bldP spid="391055684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986289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Dequeue from Queue</a:t>
            </a:r>
            <a:endParaRPr/>
          </a:p>
        </p:txBody>
      </p:sp>
      <p:graphicFrame>
        <p:nvGraphicFramePr>
          <p:cNvPr id="1037576873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2672080" y="3698875"/>
          <a:ext cx="4949190" cy="802640"/>
        </p:xfrm>
        <a:graphic>
          <a:graphicData uri="http://schemas.openxmlformats.org/drawingml/2006/table">
            <a:tbl>
              <a:tblPr firstRow="0" firstCol="0" lastRow="0" lastCol="0" bandRow="0" bandCol="0">
                <a:solidFill>
                  <a:schemeClr val="bg1"/>
                </a:solidFill>
              </a:tblPr>
              <a:tblGrid>
                <a:gridCol w="824865"/>
                <a:gridCol w="824865"/>
                <a:gridCol w="824865"/>
                <a:gridCol w="824865"/>
                <a:gridCol w="824865"/>
                <a:gridCol w="824865"/>
              </a:tblGrid>
              <a:tr h="802640"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7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2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16914513" name="Textbox1"/>
          <p:cNvSpPr txBox="1"/>
          <p:nvPr/>
        </p:nvSpPr>
        <p:spPr bwMode="auto">
          <a:xfrm>
            <a:off x="637540" y="1635760"/>
            <a:ext cx="224409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head = 0;</a:t>
            </a:r>
            <a:endParaRPr/>
          </a:p>
        </p:txBody>
      </p:sp>
      <p:sp>
        <p:nvSpPr>
          <p:cNvPr id="1564072185" name="Textbox2"/>
          <p:cNvSpPr txBox="1"/>
          <p:nvPr/>
        </p:nvSpPr>
        <p:spPr bwMode="auto">
          <a:xfrm>
            <a:off x="617855" y="2270125"/>
            <a:ext cx="637413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returnedElem = queueArr[head];</a:t>
            </a:r>
            <a:endParaRPr/>
          </a:p>
        </p:txBody>
      </p:sp>
      <p:sp>
        <p:nvSpPr>
          <p:cNvPr id="1488183028" name="Textbox3"/>
          <p:cNvSpPr txBox="1"/>
          <p:nvPr/>
        </p:nvSpPr>
        <p:spPr bwMode="auto">
          <a:xfrm>
            <a:off x="637540" y="2876550"/>
            <a:ext cx="355981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head = head + 1;</a:t>
            </a:r>
            <a:endParaRPr/>
          </a:p>
        </p:txBody>
      </p:sp>
      <p:sp>
        <p:nvSpPr>
          <p:cNvPr id="1636497270" name="Textbox4"/>
          <p:cNvSpPr txBox="1"/>
          <p:nvPr/>
        </p:nvSpPr>
        <p:spPr bwMode="auto">
          <a:xfrm>
            <a:off x="6961505" y="3692525"/>
            <a:ext cx="455295" cy="6832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9</a:t>
            </a:r>
            <a:endParaRPr/>
          </a:p>
        </p:txBody>
      </p:sp>
      <p:sp>
        <p:nvSpPr>
          <p:cNvPr id="1450138035" name="Textbox5"/>
          <p:cNvSpPr txBox="1"/>
          <p:nvPr/>
        </p:nvSpPr>
        <p:spPr bwMode="auto">
          <a:xfrm flipH="0" flipV="0">
            <a:off x="6867028" y="1616074"/>
            <a:ext cx="5103961" cy="13672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We need to check if the queue is empty!</a:t>
            </a:r>
            <a:endParaRPr/>
          </a:p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head and tail always increase!</a:t>
            </a:r>
            <a:endParaRPr/>
          </a:p>
        </p:txBody>
      </p:sp>
      <p:sp>
        <p:nvSpPr>
          <p:cNvPr id="219438737" name="Textbox6"/>
          <p:cNvSpPr txBox="1"/>
          <p:nvPr/>
        </p:nvSpPr>
        <p:spPr bwMode="auto">
          <a:xfrm flipH="0" flipV="0">
            <a:off x="5959127" y="5220107"/>
            <a:ext cx="5868089" cy="157319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>
                <a:latin typeface="Verdana"/>
                <a:ea typeface="Verdana"/>
                <a:cs typeface="Verdana"/>
              </a:defRPr>
            </a:pPr>
            <a:r>
              <a:rPr/>
              <a:t>public int peek(){</a:t>
            </a:r>
            <a:endParaRPr/>
          </a:p>
          <a:p>
            <a:pPr>
              <a:defRPr sz="3000" cap="none">
                <a:latin typeface="Verdana"/>
                <a:ea typeface="Verdana"/>
                <a:cs typeface="Verdana"/>
              </a:defRPr>
            </a:pPr>
            <a:r>
              <a:rPr/>
              <a:t>	return queueArr[head];</a:t>
            </a:r>
            <a:endParaRPr/>
          </a:p>
          <a:p>
            <a:pPr>
              <a:defRPr sz="3000" cap="none">
                <a:latin typeface="Verdana"/>
                <a:ea typeface="Verdana"/>
                <a:cs typeface="Verdana"/>
              </a:defRPr>
            </a:pPr>
            <a:r>
              <a:rPr/>
              <a:t>}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104384373" name="Ellipse1"/>
          <p:cNvSpPr/>
          <p:nvPr/>
        </p:nvSpPr>
        <p:spPr bwMode="auto">
          <a:xfrm>
            <a:off x="2403475" y="3653790"/>
            <a:ext cx="1087120" cy="1022350"/>
          </a:xfrm>
          <a:prstGeom prst="ellipse">
            <a:avLst/>
          </a:prstGeom>
          <a:noFill/>
          <a:ln w="63500" cap="flat" cmpd="sng" algn="ctr">
            <a:solidFill>
              <a:schemeClr val="accent6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554684" name="Legend1"/>
          <p:cNvSpPr/>
          <p:nvPr/>
        </p:nvSpPr>
        <p:spPr bwMode="auto">
          <a:xfrm flipH="0" flipV="0">
            <a:off x="1136179" y="5125432"/>
            <a:ext cx="4185282" cy="1613954"/>
          </a:xfrm>
          <a:prstGeom prst="wedgeEllipseCallout">
            <a:avLst>
              <a:gd name="adj1" fmla="val -69186"/>
              <a:gd name="adj2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7" anchor="t"/>
          <a:lstStyle/>
          <a:p>
            <a:pPr algn="ctr">
              <a:defRPr sz="2800" cap="none"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What happens to 1 when we dequeue?</a:t>
            </a:r>
            <a:endParaRPr/>
          </a:p>
        </p:txBody>
      </p:sp>
      <p:sp>
        <p:nvSpPr>
          <p:cNvPr id="707589300" name=""/>
          <p:cNvSpPr txBox="1"/>
          <p:nvPr/>
        </p:nvSpPr>
        <p:spPr bwMode="auto">
          <a:xfrm rot="0" flipH="0" flipV="0">
            <a:off x="1493490" y="4476101"/>
            <a:ext cx="6328196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libri"/>
                <a:ea typeface="Calibri"/>
                <a:cs typeface="Calibri"/>
              </a:rPr>
              <a:t>index:        0         1         2        3        4         5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07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6407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18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8818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3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943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5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4072185" grpId="0" animBg="1" advAuto="0"/>
      <p:bldP spid="1488183028" grpId="0" animBg="1" advAuto="0"/>
      <p:bldP spid="219438737" grpId="0" animBg="1" advAuto="0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6498C"/>
      </a:dk1>
      <a:lt1>
        <a:srgbClr val="FFFFFF"/>
      </a:lt1>
      <a:dk2>
        <a:srgbClr val="06498C"/>
      </a:dk2>
      <a:lt2>
        <a:srgbClr val="969696"/>
      </a:lt2>
      <a:accent1>
        <a:srgbClr val="FFFFFF"/>
      </a:accent1>
      <a:accent2>
        <a:srgbClr val="8DC6FF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66CC"/>
      </a:hlink>
      <a:folHlink>
        <a:srgbClr val="00A8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4B3523"/>
        </a:dk1>
        <a:lt1>
          <a:srgbClr val="FFFFD9"/>
        </a:lt1>
        <a:dk2>
          <a:srgbClr val="4B3523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569CA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6498C"/>
      </a:dk1>
      <a:lt1>
        <a:srgbClr val="FFFFFF"/>
      </a:lt1>
      <a:dk2>
        <a:srgbClr val="06498C"/>
      </a:dk2>
      <a:lt2>
        <a:srgbClr val="969696"/>
      </a:lt2>
      <a:accent1>
        <a:srgbClr val="FFFFFF"/>
      </a:accent1>
      <a:accent2>
        <a:srgbClr val="8DC6FF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66CC"/>
      </a:hlink>
      <a:folHlink>
        <a:srgbClr val="00A80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4B3523"/>
        </a:dk1>
        <a:lt1>
          <a:srgbClr val="FFFFD9"/>
        </a:lt1>
        <a:dk2>
          <a:srgbClr val="4B3523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569CA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9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0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2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</dc:title>
  <dc:subject/>
  <dc:creator>Salih Safa Bacanli</dc:creator>
  <cp:keywords/>
  <dc:description/>
  <cp:lastModifiedBy/>
  <cp:revision>2</cp:revision>
  <dcterms:created xsi:type="dcterms:W3CDTF">2019-09-04T15:21:20Z</dcterms:created>
  <dcterms:modified xsi:type="dcterms:W3CDTF">2026-06-09T20:48:20Z</dcterms:modified>
</cp:coreProperties>
</file>